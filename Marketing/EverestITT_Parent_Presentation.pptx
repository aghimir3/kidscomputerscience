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4552" cy="73152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Segoe UI Semibold"/>
              </a:defRPr>
            </a:pPr>
            <a:r>
              <a:t>Kids Computer Science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C8DCF0"/>
                </a:solidFill>
                <a:latin typeface="Segoe UI"/>
              </a:defRPr>
            </a:pPr>
            <a:r>
              <a:t>Empowering Future Innovators Through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017520"/>
            <a:ext cx="3959352" cy="45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3108960" cy="146304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 w="127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8DCF0"/>
                </a:solidFill>
                <a:latin typeface="Segoe UI"/>
              </a:defRPr>
            </a:pPr>
            <a:r>
              <a:t>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Every Saturday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9:00 AM - 1:00 PM Pacific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3657600"/>
            <a:ext cx="3108960" cy="146304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 w="127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8DCF0"/>
                </a:solidFill>
                <a:latin typeface="Segoe UI"/>
              </a:defRPr>
            </a:pPr>
            <a:r>
              <a:t>WHO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Ages 10 - 18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All experience levels welcome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3657600"/>
            <a:ext cx="3108960" cy="146304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 w="127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840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8DCF0"/>
                </a:solidFill>
                <a:latin typeface="Segoe UI"/>
              </a:defRPr>
            </a:pPr>
            <a:r>
              <a:t>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Live &amp; Interactive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72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Real teachers, not recorded videos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09360"/>
            <a:ext cx="11274552" cy="45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E9E9E"/>
                </a:solidFill>
                <a:latin typeface="Segoe UI"/>
              </a:defRPr>
            </a:pPr>
            <a:r>
              <a:t>EverestITT  |  everestitt.com  |  626-419-6649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Segoe UI Semibold"/>
              </a:defRPr>
            </a:pPr>
            <a:r>
              <a:t>Why Your Child Needs AI Skills —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E3A5F"/>
                </a:solidFill>
                <a:latin typeface="Segoe UI"/>
              </a:defRPr>
            </a:pPr>
            <a:r>
              <a:t>Every top university and employer is looking for students who understand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3291840" cy="2560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77439" y="2926079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E3A5F"/>
                </a:solidFill>
                <a:latin typeface="Segoe UI"/>
              </a:defRPr>
            </a:pPr>
            <a:r>
              <a:t>College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297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Stanford, MIT, and Harvard value students who can build with AI — not just use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651760"/>
            <a:ext cx="3291840" cy="2560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72200" y="2926079"/>
            <a:ext cx="731520" cy="7315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9933"/>
                </a:solidFill>
                <a:latin typeface="Segoe UI"/>
              </a:defRPr>
            </a:pPr>
            <a:r>
              <a:t>Future Careers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4297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AI skills are becoming required across every industry — tech, medicine, law, business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651760"/>
            <a:ext cx="3291840" cy="25603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60" y="2926079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E7D32"/>
                </a:solidFill>
                <a:latin typeface="Segoe UI"/>
              </a:defRPr>
            </a:pPr>
            <a:r>
              <a:t>Head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297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The students who learn AI now will have a massive advantage over those who don't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725912" cy="6400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9933"/>
                </a:solidFill>
                <a:latin typeface="Segoe UI"/>
              </a:defRPr>
            </a:pPr>
            <a:r>
              <a:t>The question isn't IF your child needs AI skills — it's whether they'll be 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Segoe UI Semibold"/>
              </a:defRPr>
            </a:pPr>
            <a:r>
              <a:t>Learn From Industry Professionals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5912" cy="1828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8288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C8DCF0"/>
                </a:solidFill>
                <a:latin typeface="Segoe UI"/>
              </a:defRPr>
            </a:pPr>
            <a:r>
              <a:t>FOUNDER &amp; LEAD INSTRUCTOR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745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9933"/>
                </a:solidFill>
                <a:latin typeface="Segoe UI"/>
              </a:defRPr>
            </a:pPr>
            <a:r>
              <a:t>Samir Thapa (Bijay)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Principal Technology Specialist</a:t>
            </a:r>
            <a:br/>
            <a:r>
              <a:t>at Microsoft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30+ years of experience</a:t>
            </a:r>
            <a:br/>
            <a:r>
              <a:t>in the IT industry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4231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FFFFFF"/>
                </a:solidFill>
                <a:latin typeface="Segoe UI"/>
              </a:defRPr>
            </a:pPr>
            <a:r>
              <a:t>Multiple Master's degrees</a:t>
            </a:r>
            <a:br/>
            <a:r>
              <a:t>Electronics &amp; Communication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846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467A6"/>
                </a:solidFill>
                <a:latin typeface="Segoe UI"/>
              </a:defRPr>
            </a:pPr>
            <a:r>
              <a:t>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4636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E3A5F"/>
                </a:solidFill>
                <a:latin typeface="Segoe UI"/>
              </a:defRPr>
            </a:pPr>
            <a:r>
              <a:t>Abhigya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4636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73737"/>
                </a:solidFill>
                <a:latin typeface="Segoe UI"/>
              </a:defRPr>
            </a:pPr>
            <a:r>
              <a:t>  •  Lead Software Engineer at Car Capital Technologies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73737"/>
                </a:solidFill>
                <a:latin typeface="Segoe UI"/>
              </a:defRPr>
            </a:pPr>
            <a:r>
              <a:t>  •  Master's in Software Engineering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73737"/>
                </a:solidFill>
                <a:latin typeface="Segoe UI"/>
              </a:defRPr>
            </a:pPr>
            <a:r>
              <a:t>  •  Open Source (FOSS) Contributor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3657600"/>
            <a:ext cx="5184648" cy="1828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9688"/>
                </a:solidFill>
                <a:latin typeface="Segoe UI"/>
              </a:defRPr>
            </a:pPr>
            <a:r>
              <a:t>TEACHER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069080"/>
            <a:ext cx="46360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E3A5F"/>
                </a:solidFill>
                <a:latin typeface="Segoe UI"/>
              </a:defRPr>
            </a:pPr>
            <a:r>
              <a:t>Sanskar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4480560"/>
            <a:ext cx="4636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73737"/>
                </a:solidFill>
                <a:latin typeface="Segoe UI"/>
              </a:defRPr>
            </a:pPr>
            <a:r>
              <a:t>  •  CS Engineering 2025 — Cal State University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73737"/>
                </a:solidFill>
                <a:latin typeface="Segoe UI"/>
              </a:defRPr>
            </a:pPr>
            <a:r>
              <a:t>  •  World's youngest Microsoft Cloud Certified</a:t>
            </a:r>
          </a:p>
          <a:p>
            <a:pPr algn="l">
              <a:lnSpc>
                <a:spcPts val="182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73737"/>
                </a:solidFill>
                <a:latin typeface="Segoe UI"/>
              </a:defRPr>
            </a:pPr>
            <a:r>
              <a:t>  •  Software Engineer at Google, Northrop Grumman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E9E9E"/>
                </a:solidFill>
                <a:latin typeface="Segoe UI"/>
              </a:defRPr>
            </a:pPr>
            <a:r>
              <a:t>Support Team:   Sachin sir (Assistant Teacher)   •   Ishwari maam (Assistant Teacher)   •   Pratikshya maam (Program Manager — Parent Contact)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Segoe UI Semibold"/>
              </a:defRPr>
            </a:pPr>
            <a:r>
              <a:t>A Complete Year of Computer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13258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JAN — 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E3A5F"/>
                </a:solidFill>
                <a:latin typeface="Segoe UI"/>
              </a:defRPr>
            </a:pPr>
            <a:r>
              <a:t>PC Hardware, Networking &amp;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Computer components  •  How the internet works  •  Cloud computing  •  Linux &amp; Command Line  •  Cloud collaboration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79"/>
            <a:ext cx="10725912" cy="1600200"/>
          </a:xfrm>
          <a:prstGeom prst="roundRect">
            <a:avLst>
              <a:gd name="adj" fmla="val 8000"/>
            </a:avLst>
          </a:prstGeom>
          <a:solidFill>
            <a:srgbClr val="673AB7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383279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673AB7"/>
                </a:solidFill>
                <a:latin typeface="Segoe UI"/>
              </a:defRPr>
            </a:pPr>
            <a:r>
              <a:t>APR — JUN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73AB7"/>
                </a:solidFill>
                <a:latin typeface="Segoe UI"/>
              </a:defRPr>
            </a:pPr>
            <a:r>
              <a:t>AI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918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Artificial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03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Prompt Engineering  •  ChatGPT  •  Claude Code  •  OpenClaw  •  AI Agents  •  Ethics &amp; Safety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069079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087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212529"/>
                </a:solidFill>
                <a:latin typeface="Segoe UI"/>
              </a:defRPr>
            </a:pPr>
            <a:r>
              <a:t>★  STARTS APRIL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199"/>
            <a:ext cx="10725912" cy="13258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212079"/>
            <a:ext cx="2011680" cy="9601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035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Segoe UI"/>
              </a:defRPr>
            </a:pPr>
            <a:r>
              <a:t>JUL — DEC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E8F5E9"/>
                </a:solidFill>
                <a:latin typeface="Segoe UI"/>
              </a:defRPr>
            </a:pPr>
            <a:r>
              <a:t>Programming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120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E3A5F"/>
                </a:solidFill>
                <a:latin typeface="Segoe UI"/>
              </a:defRPr>
            </a:pPr>
            <a:r>
              <a:t>Python Programming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6692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Python fundamentals  •  VS Code &amp; GitHub  •  Logic &amp; problem-solving  •  Data structures  •  Capstone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264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1">
                <a:solidFill>
                  <a:srgbClr val="9E9E9E"/>
                </a:solidFill>
                <a:latin typeface="Segoe UI"/>
              </a:defRPr>
            </a:pPr>
            <a:r>
              <a:t>Each phase builds on the last — by December, your child has a complete tech foundation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Segoe UI Semibold"/>
              </a:defRPr>
            </a:pPr>
            <a:r>
              <a:t>STARTING APRIL: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 i="1">
                <a:solidFill>
                  <a:srgbClr val="C8DCF0"/>
                </a:solidFill>
                <a:latin typeface="Segoe UI"/>
              </a:defRPr>
            </a:pPr>
            <a:r>
              <a:t>Your child won't just use AI — they'll understand how it works and build with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Segoe UI"/>
              </a:defRPr>
            </a:pPr>
            <a:r>
              <a:t>How AI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651760"/>
            <a:ext cx="28346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Understand what's behind the</a:t>
            </a:r>
            <a:br/>
            <a:r>
              <a:t>buzz — LLMs, training data,</a:t>
            </a:r>
            <a:br/>
            <a:r>
              <a:t>and neural networks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10312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Segoe UI"/>
              </a:defRPr>
            </a:pPr>
            <a:r>
              <a:t>Prompt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651760"/>
            <a:ext cx="28346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788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The #1 skill for getting</a:t>
            </a:r>
            <a:br/>
            <a:r>
              <a:t>professional results from</a:t>
            </a:r>
            <a:br/>
            <a:r>
              <a:t>any AI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19" y="210312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79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Segoe UI"/>
              </a:defRPr>
            </a:pPr>
            <a:r>
              <a:t>ChatGPT &amp; Claude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799" y="2651760"/>
            <a:ext cx="28346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799" y="27889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Hands-on with the same</a:t>
            </a:r>
            <a:br/>
            <a:r>
              <a:t>tools professionals use</a:t>
            </a:r>
            <a:br/>
            <a:r>
              <a:t>at work every 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02336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Segoe UI"/>
              </a:defRPr>
            </a:pPr>
            <a:r>
              <a:t>OpenClaw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4572000"/>
            <a:ext cx="28346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709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Build and customize AI</a:t>
            </a:r>
            <a:br/>
            <a:r>
              <a:t>agents that can work</a:t>
            </a:r>
            <a:br/>
            <a:r>
              <a:t>autonomously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02336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Segoe UI"/>
              </a:defRPr>
            </a:pPr>
            <a:r>
              <a:t>AI Agents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4572000"/>
            <a:ext cx="28346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709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How autonomous AI systems</a:t>
            </a:r>
            <a:br/>
            <a:r>
              <a:t>work — and how to create</a:t>
            </a:r>
            <a:br/>
            <a:r>
              <a:t>your own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19" y="4023360"/>
            <a:ext cx="3200400" cy="1691640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Segoe UI"/>
              </a:defRPr>
            </a:pPr>
            <a:r>
              <a:t>Ethics &amp; Safety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799" y="4572000"/>
            <a:ext cx="283464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799" y="47091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Use AI responsibly —</a:t>
            </a:r>
            <a:br/>
            <a:r>
              <a:t>understand limitations,</a:t>
            </a:r>
            <a:br/>
            <a:r>
              <a:t>bias, and best practices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09360"/>
            <a:ext cx="11274552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521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C107"/>
                </a:solidFill>
                <a:latin typeface="Segoe UI"/>
              </a:defRPr>
            </a:pPr>
            <a:r>
              <a:t>These are skills most adults don't have yet. Your child will.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Segoe UI Semibold"/>
              </a:defRPr>
            </a:pPr>
            <a:r>
              <a:t>What Your Child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5912" cy="9601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691639"/>
            <a:ext cx="685800" cy="685800"/>
          </a:xfrm>
          <a:prstGeom prst="ellipse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73737"/>
                </a:solidFill>
                <a:latin typeface="Segoe UI"/>
              </a:defRPr>
            </a:pPr>
            <a:r>
              <a:t>Write effective prompts that get professional-quality results from any AI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725912" cy="9601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788920"/>
            <a:ext cx="685800" cy="6858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346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73737"/>
                </a:solidFill>
                <a:latin typeface="Segoe UI"/>
              </a:defRPr>
            </a:pPr>
            <a:r>
              <a:t>Use ChatGPT, Claude Code, and OpenClaw the way real professionals do at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725912" cy="9601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886200"/>
            <a:ext cx="685800" cy="685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93192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73737"/>
                </a:solidFill>
                <a:latin typeface="Segoe UI"/>
              </a:defRPr>
            </a:pPr>
            <a:r>
              <a:t>Understand how Large Language Models actually work — not just what buttons to 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10725912" cy="9601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983480"/>
            <a:ext cx="685800" cy="6858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0292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73737"/>
                </a:solidFill>
                <a:latin typeface="Segoe UI"/>
              </a:defRPr>
            </a:pPr>
            <a:r>
              <a:t>Build their own AI-powered projects they can show off on college applications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6217920"/>
            <a:ext cx="9445752" cy="777240"/>
          </a:xfrm>
          <a:prstGeom prst="roundRect">
            <a:avLst>
              <a:gd name="adj" fmla="val 8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635508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12529"/>
                </a:solidFill>
                <a:latin typeface="Segoe UI"/>
              </a:defRPr>
            </a:pPr>
            <a:r>
              <a:t>Most adults don't have these skills yet — your child will be years ahead.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9E9E9E"/>
                </a:solidFill>
                <a:latin typeface="Segoe UI"/>
              </a:defRPr>
            </a:pPr>
            <a:r>
              <a:t>All skills are taught hands-on with real projects — not just theory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Segoe UI Semibold"/>
              </a:defRPr>
            </a:pPr>
            <a:r>
              <a:t>This Isn't Your Average Computer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6F61"/>
                </a:solidFill>
                <a:latin typeface="Segoe UI"/>
              </a:defRPr>
            </a:pPr>
            <a:r>
              <a:t>Other Programs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48840"/>
            <a:ext cx="4480560" cy="2743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✗   Watch pre-recorded videos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✗   No real teacher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✗   Generic, one-size-fits-all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✗   No homework or accountability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✗   No feedback on 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8231" y="155448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1" y="1737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E7D32"/>
                </a:solidFill>
                <a:latin typeface="Segoe UI"/>
              </a:defRPr>
            </a:pPr>
            <a:r>
              <a:t>EverestITT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1" y="2148840"/>
            <a:ext cx="4480560" cy="274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1" y="2377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✓   Live instruction every Saturday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1" y="29260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✓   Industry professionals as teachers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1" y="34747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✓   Structured, progressive curriculum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1" y="4023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✓   Weekly homework with grading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1" y="45720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73737"/>
                </a:solidFill>
                <a:latin typeface="Segoe UI"/>
              </a:defRPr>
            </a:pPr>
            <a:r>
              <a:t>✓   Real feedback and mentorship</a:t>
            </a:r>
          </a:p>
        </p:txBody>
      </p:sp>
      <p:sp>
        <p:nvSpPr>
          <p:cNvPr id="22" name="Oval 21"/>
          <p:cNvSpPr/>
          <p:nvPr/>
        </p:nvSpPr>
        <p:spPr>
          <a:xfrm>
            <a:off x="5623559" y="3200400"/>
            <a:ext cx="914400" cy="914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3A5F"/>
                </a:solidFill>
                <a:latin typeface="Segoe UI"/>
              </a:defRPr>
            </a:pPr>
            <a:r>
              <a:t>Your child deserves more than a playlist of tutorials.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 i="0">
                <a:solidFill>
                  <a:srgbClr val="FFFFFF"/>
                </a:solidFill>
                <a:latin typeface="Segoe UI Semibold"/>
              </a:defRPr>
            </a:pPr>
            <a:r>
              <a:t>Support Beyond Saturday — Daily Hangout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445752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9933"/>
                </a:solidFill>
                <a:latin typeface="Segoe UI"/>
              </a:defRPr>
            </a:pPr>
            <a:r>
              <a:t>Monday — Friday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Segoe UI"/>
              </a:defRPr>
            </a:pPr>
            <a:r>
              <a:t>4:30 PM — 5:30 PM Pacific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08960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346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31720" y="3383279"/>
            <a:ext cx="731520" cy="7315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3467A6"/>
                </a:solidFill>
                <a:latin typeface="Segoe UI"/>
              </a:defRPr>
            </a:pPr>
            <a:r>
              <a:t>Get Help Anytime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091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Stuck on homework? Have a question? Assistant teachers are there to help every weekday.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3108960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0" y="3383279"/>
            <a:ext cx="731520" cy="7315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9933"/>
                </a:solidFill>
                <a:latin typeface="Segoe UI"/>
              </a:defRPr>
            </a:pPr>
            <a:r>
              <a:t>Homework &amp; Classwork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7091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Students get guided support on all their assignments so they never fall behind.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3108960"/>
            <a:ext cx="3200400" cy="23774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38360" y="3383279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2E7D32"/>
                </a:solidFill>
                <a:latin typeface="Segoe UI"/>
              </a:defRPr>
            </a:pPr>
            <a:r>
              <a:t>Parent 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7091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73737"/>
                </a:solidFill>
                <a:latin typeface="Segoe UI"/>
              </a:defRPr>
            </a:pPr>
            <a:r>
              <a:t>Parents can join to ask questions, discuss progress, and stay connected with the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760720"/>
            <a:ext cx="9445752" cy="640080"/>
          </a:xfrm>
          <a:prstGeom prst="roundRect">
            <a:avLst>
              <a:gd name="adj" fmla="val 8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80644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12529"/>
                </a:solidFill>
                <a:latin typeface="Segoe UI"/>
              </a:defRPr>
            </a:pPr>
            <a:r>
              <a:t>Your child gets support 6 days a week — not just Saturdays.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45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FFF"/>
                </a:solidFill>
                <a:latin typeface="Segoe UI Semibold"/>
              </a:defRPr>
            </a:pPr>
            <a:r>
              <a:t>Give Your Child the Skills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 i="1">
                <a:solidFill>
                  <a:srgbClr val="C8DCF0"/>
                </a:solidFill>
                <a:latin typeface="Segoe UI"/>
              </a:defRPr>
            </a:pPr>
            <a:r>
              <a:t>The AI unit starts April 4th — don't let your child fall behind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377440"/>
            <a:ext cx="3959352" cy="45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83464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8DCF0"/>
                </a:solidFill>
                <a:latin typeface="Segoe UI"/>
              </a:defRPr>
            </a:pPr>
            <a:r>
              <a:t>CALL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Segoe UI"/>
              </a:defRPr>
            </a:pPr>
            <a:r>
              <a:t>626-419-6649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Talk to us about</a:t>
            </a:r>
            <a:br/>
            <a:r>
              <a:t>enrollment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83464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8DCF0"/>
                </a:solidFill>
                <a:latin typeface="Segoe UI"/>
              </a:defRPr>
            </a:pPr>
            <a:r>
              <a:t>VISIT US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Segoe UI"/>
              </a:defRPr>
            </a:pPr>
            <a:r>
              <a:t>everestitt.com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Learn more about</a:t>
            </a:r>
            <a:br/>
            <a:r>
              <a:t>our program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834640"/>
            <a:ext cx="3108960" cy="2011680"/>
          </a:xfrm>
          <a:prstGeom prst="roundRect">
            <a:avLst>
              <a:gd name="adj" fmla="val 8000"/>
            </a:avLst>
          </a:prstGeom>
          <a:solidFill>
            <a:srgbClr val="3467A6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8DCF0"/>
                </a:solidFill>
                <a:latin typeface="Segoe UI"/>
              </a:defRPr>
            </a:pPr>
            <a:r>
              <a:t>PARENT 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566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Segoe UI"/>
              </a:defRPr>
            </a:pPr>
            <a:r>
              <a:t>Pratikshya maam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8DCF0"/>
                </a:solidFill>
                <a:latin typeface="Segoe UI"/>
              </a:defRPr>
            </a:pPr>
            <a:r>
              <a:t>Program Manager</a:t>
            </a:r>
            <a:br/>
            <a:r>
              <a:t>Questions &amp; enrollment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5303520"/>
            <a:ext cx="8531352" cy="731520"/>
          </a:xfrm>
          <a:prstGeom prst="roundRect">
            <a:avLst>
              <a:gd name="adj" fmla="val 8000"/>
            </a:avLst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534924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212529"/>
                </a:solidFill>
                <a:latin typeface="Segoe UI"/>
              </a:defRPr>
            </a:pPr>
            <a:r>
              <a:t>Every Saturday  •  9 AM - 1 PM Pacific  •  Ages 10-18  •  No Experience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09360"/>
            <a:ext cx="11274552" cy="457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355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E9E9E"/>
                </a:solidFill>
                <a:latin typeface="Segoe UI"/>
              </a:defRPr>
            </a:pPr>
            <a:r>
              <a:t>EverestITT — Empowering Future Innovators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