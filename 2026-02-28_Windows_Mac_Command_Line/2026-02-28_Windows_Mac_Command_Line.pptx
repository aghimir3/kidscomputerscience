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Windows &amp; Mac Command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Everything Connects: Your Linux Skills Work Everywhere!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February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Quick Recap: Linux Commands You Know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04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Opening the Terminal on Every OS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71215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6265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The Big Translation Tables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29584"/>
            <a:ext cx="502920" cy="50292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210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File Paths &amp; Key Differences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8795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79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Windows Bonus Tools &amp; Mac's Secret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AI Meets the Command Line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96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Hands-on: Practice on YOUR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Linux Week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Navigation &amp; File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645920" cy="10972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74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List files and folders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164592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Change directory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645920" cy="10972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mkdir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Make a new directory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164592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Create an empty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645920" cy="10972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Remove a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1645920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rmdir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Remove an empty folder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760720"/>
            <a:ext cx="9994392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This week: Use these same skills on Windows and Mac!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Linux Week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File Content &amp;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645920" cy="10972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74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Print text or write to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164592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View file contents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645920" cy="10972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Copy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164592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Move or rename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645920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&gt; / 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Overwrite / Append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1645920" cy="1097280"/>
          </a:xfrm>
          <a:prstGeom prst="round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Clear the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760720"/>
            <a:ext cx="9994392" cy="6858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Plus from January: ipconfig, ping, tracert, nslookup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Opening the Terminal on Every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9144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Ctrl + Alt +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Opens Terminal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9144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Win + R, type 'cmd'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83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Opens Command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914400"/>
          </a:xfrm>
          <a:prstGeom prst="round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Cmd + Space, type 'Terminal'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383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Opens Terminal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72000"/>
            <a:ext cx="9994392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All three look similar: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A window where you type commands and the computer responds!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Translation Table: File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317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Windows CMD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Mac 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233172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List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965960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965960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65960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32888"/>
            <a:ext cx="233172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Change directory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532888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532888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folder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532888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folder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99815"/>
            <a:ext cx="233172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Go up one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099815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099815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099815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cd 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66744"/>
            <a:ext cx="233172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Create folder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666744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mkdir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666744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mkdir 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666744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mkdir 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33672"/>
            <a:ext cx="233172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Create empty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4233672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touch 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233672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echo. &gt; 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233672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touch 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00600"/>
            <a:ext cx="233172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Delete 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800600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rm 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4800600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del 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800600"/>
            <a:ext cx="2743200" cy="475488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rm 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67527"/>
            <a:ext cx="233172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Remove folder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5367527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rmdir folder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5367527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rmdir folder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367527"/>
            <a:ext cx="2743200" cy="47548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rmdir folder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035040"/>
            <a:ext cx="10725912" cy="5943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Many commands are the SAME across all three!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Translation Table: Content &amp;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317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Windows CMD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Mac 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233172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Print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965960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echo "text"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965960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echo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65960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echo "text"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233172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View file contents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441448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cat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441448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type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441448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cat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16936"/>
            <a:ext cx="233172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Copy 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916936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cp src dst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916936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copy src dst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916936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cp src dst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92424"/>
            <a:ext cx="233172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Move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392424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mv src dst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392424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move src dst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392424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mv src dst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67912"/>
            <a:ext cx="233172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Rename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3867912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mv old 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867912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ren old new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867912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mv old new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43400"/>
            <a:ext cx="233172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Overwrite to 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343400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4343400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343400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18888"/>
            <a:ext cx="233172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Append to 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4818888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818888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18888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&gt;&gt;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94376"/>
            <a:ext cx="233172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Clear screen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71800" y="5294376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clear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5294376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5294376"/>
            <a:ext cx="2743200" cy="402336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clear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9864"/>
            <a:ext cx="233172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Current directory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5769864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pwd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5769864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cd (no args)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5769864"/>
            <a:ext cx="27432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1">
                <a:solidFill>
                  <a:srgbClr val="424242"/>
                </a:solidFill>
                <a:latin typeface="Segoe UI"/>
              </a:defRPr>
            </a:pPr>
            <a:r>
              <a:t>pwd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355080"/>
            <a:ext cx="10725912" cy="4114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Only a few are truly different: dir, del, type, copy, move, ren, cls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Networking Commands Across 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33172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54480"/>
            <a:ext cx="2743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554480"/>
            <a:ext cx="2743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Windows CMD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743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Mac 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33172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Network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19456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ifconfig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19456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ipconfig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9456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ifconfig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39"/>
            <a:ext cx="233172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Test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834639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ping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834639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ping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834639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ping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233172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Trace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47472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traceroute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47472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tracert 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74720"/>
            <a:ext cx="2743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traceroute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233172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DNS lookup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114800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nslookup site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114800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nslookup site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14800"/>
            <a:ext cx="2743200" cy="54864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424242"/>
                </a:solidFill>
                <a:latin typeface="Segoe UI"/>
              </a:defRPr>
            </a:pPr>
            <a:r>
              <a:t>nslookup site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725912" cy="118872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You already used ipconfig, ping, tracert, and nslookup in January!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Segoe UI"/>
              </a:defRPr>
            </a:pPr>
            <a:r>
              <a:t>Now you know these commands exist on ALL operating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File Paths: The Biggest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949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94960" cy="59436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Uses backslash:  C:\Users\Student\Docs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Starts with a drive letter:  C:\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NOT case-sensitive: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MyFile.txt = myfile.TXT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554480"/>
            <a:ext cx="53949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6792" y="1554480"/>
            <a:ext cx="5394960" cy="5943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Linux /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77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Uses forward slash:  /home/student/docs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Starts from root:  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IS case-sensitive: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749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MyFile.txt != myfile.TXT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03520"/>
            <a:ext cx="3959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67A6"/>
                </a:solidFill>
                <a:latin typeface="Segoe UI"/>
              </a:defRPr>
            </a:pPr>
            <a:r>
              <a:t>Same idea, different notation!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Key Differences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64592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Backslash vs Forward Slash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Windows uses \   Linux/Mac use 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6459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Case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Windows ignores case, Linux/Mac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0352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Different Command Names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dir vs ls, type vs cat, del vs 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530352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Drive Letters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Windows has C:\, D:\   Linux/Mac have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67A6"/>
                </a:solidFill>
                <a:latin typeface="Segoe UI"/>
              </a:defRPr>
            </a:pPr>
            <a:r>
              <a:t>These are the only major differences!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Windows Bonus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56032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Task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DD8E6"/>
                </a:solidFill>
                <a:latin typeface="Segoe UI"/>
              </a:defRPr>
            </a:pPr>
            <a:r>
              <a:t>Ctrl + Shift + 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See all running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Check CPU and memory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End programs that are stuck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554480"/>
            <a:ext cx="512064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DD8E6"/>
                </a:solidFill>
                <a:latin typeface="Segoe UI"/>
              </a:defRPr>
            </a:pPr>
            <a:r>
              <a:t>Type in Command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Your computer's name and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How much RAM you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- When Windows was installed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725912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These are Windows-only tools that are super useful for troubleshooting!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5912" cy="914400"/>
          </a:xfrm>
          <a:prstGeom prst="round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Mac equivalents: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Activity Monitor (like Task Manager)   |   sw_vers (shows macOS version)   |   system_profiler (full specs)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Mac's Secret: It IS Basically Linux!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macOS is built on Unix -- the same family as Linux!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3017520"/>
            <a:ext cx="365760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Unix (1970s)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4114800" y="3840480"/>
            <a:ext cx="457200" cy="4572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7772400" y="3840480"/>
            <a:ext cx="457200" cy="4572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4389120"/>
            <a:ext cx="3200400" cy="7315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Linux (1991)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4389120"/>
            <a:ext cx="3200400" cy="731520"/>
          </a:xfrm>
          <a:prstGeom prst="round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If you know Linux commands, you already know Mac commands!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ls, cd, mkdir, touch, rm, cat, cp, mv, echo, clear -- all work on Mac!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Big Picture: Same Concepts, Different 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645920"/>
            <a:ext cx="3200400" cy="109728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7031" y="1645920"/>
            <a:ext cx="3200400" cy="1097280"/>
          </a:xfrm>
          <a:prstGeom prst="round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Mac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2011680"/>
            <a:ext cx="36576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799831" y="2011680"/>
            <a:ext cx="36576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200400"/>
            <a:ext cx="9445752" cy="9144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Every OS has a command line. The concepts are the same!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Listing files = same idea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Creating and deleting folders = same idea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Navigating directories = same idea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Network troubleshooting = same idea everywhere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Meets the Command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Your skills connect to the 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9933"/>
                </a:solidFill>
                <a:latin typeface="Segoe UI"/>
              </a:defRPr>
            </a:pPr>
            <a:r>
              <a:t>AI Trains on Linux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ChatGPT, Claude, Gemini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train on thousands of GPUs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9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 cloud data centers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91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Those servers run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and are controlled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the SAME terminal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982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you learned this month!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554480"/>
            <a:ext cx="3657600" cy="32918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3A5F"/>
                </a:solidFill>
                <a:latin typeface="Segoe UI"/>
              </a:defRPr>
            </a:pPr>
            <a:r>
              <a:t>Devs Use AI in the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Claude Code (Anthropic)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AI assistant that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889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entirely in the terminal!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191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44568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Codex CLI (OpenAI)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794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AI coding tool that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in your command line!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3982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074152" y="1554480"/>
            <a:ext cx="3657600" cy="32918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9933"/>
                </a:solidFill>
                <a:latin typeface="Segoe UI"/>
              </a:defRPr>
            </a:pPr>
            <a:r>
              <a:t>Your Journey So Far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Jan: Networking &amp;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How data travels,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889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where servers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191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348472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Feb: Command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794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How to talk to 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computer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3982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457200" y="5120640"/>
            <a:ext cx="11274552" cy="7315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terminal you are learning is how real AI engineers work every day!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35040"/>
            <a:ext cx="11274552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C27B0"/>
                </a:solidFill>
                <a:latin typeface="Segoe UI"/>
              </a:defRPr>
            </a:pPr>
            <a:r>
              <a:t>Coming in April: YOU will start using AI tools!  Everything you learn now prepares you for that.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Let's Practice on YOUR Computer!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0152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Time to try it on your OWN machine!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Open Command Prompt (Windows) or Terminal (Mac)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Follow along with the classwork worksheet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709160"/>
            <a:ext cx="457200" cy="4572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Try your Linux commands -- which ones work? Which don't?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44068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Use the translation table when you get stuck!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Linux commands map directly to Windows CMD and Mac Terminal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04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Windows unique: dir, type, del, copy, move, ren, cls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540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Mac Terminal = same as Linux (both are Unix-based)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039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Paths: Windows uses \ and C:\ , Linux/Mac use /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Windows is NOT case-sensitive, Linux/Mac ARE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57799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03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The concepts are universal -- only the spelling changes!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Great job today! Time for Kahoot!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before we start the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