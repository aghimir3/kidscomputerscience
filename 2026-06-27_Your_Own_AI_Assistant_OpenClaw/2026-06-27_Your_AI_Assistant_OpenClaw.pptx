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9994392" cy="2468880"/>
          </a:xfrm>
          <a:prstGeom prst="roundRect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3A5F"/>
                </a:solidFill>
                <a:latin typeface="Segoe UI Semibold"/>
              </a:defRPr>
            </a:pPr>
            <a:r>
              <a:t>Meet Your Own AI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E3A5F"/>
                </a:solidFill>
                <a:latin typeface="Segoe UI"/>
              </a:defRPr>
            </a:pPr>
            <a:r>
              <a:t>OpenClaw + OpenRouter  ·  Run a real AI on your own computer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4754880"/>
            <a:ext cx="6702552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5029200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DD8E6"/>
                </a:solidFill>
                <a:latin typeface="Segoe UI"/>
              </a:defRPr>
            </a:pPr>
            <a:r>
              <a:t>Last Day of the AI Unit  ·  Kids Computer Science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DD8E6"/>
                </a:solidFill>
                <a:latin typeface="Segoe UI"/>
              </a:defRPr>
            </a:pPr>
            <a:r>
              <a:t>Saturday, June 27,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How Far You've Come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DD8E6"/>
                </a:solidFill>
                <a:latin typeface="Segoe UI"/>
              </a:defRPr>
            </a:pPr>
            <a:r>
              <a:t>The last stop on our AI journey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502920" cy="50292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45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What AI agents are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304288"/>
            <a:ext cx="502920" cy="502920"/>
          </a:xfrm>
          <a:prstGeom prst="ellipse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9572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How agents think (the loop)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054096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14553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Tools, MCP, Skills &amp; Memory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03904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89534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Building your own tools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553712"/>
            <a:ext cx="502920" cy="502920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645151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24242"/>
                </a:solidFill>
                <a:latin typeface="Segoe UI"/>
              </a:defRPr>
            </a:pPr>
            <a:r>
              <a:t>Today: run a REAL assistant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Today you run a real AI assistant on your OWN computer.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6015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200" b="1">
                <a:solidFill>
                  <a:srgbClr val="FFFFFF"/>
                </a:solidFill>
                <a:latin typeface="Segoe UI"/>
              </a:defRPr>
            </a:pPr>
            <a:r>
              <a:t>What if your computer had its own assistant —</a:t>
            </a:r>
          </a:p>
          <a:p>
            <a:pPr algn="ctr">
              <a:lnSpc>
                <a:spcPct val="115000"/>
              </a:lnSpc>
              <a:defRPr sz="3200" b="1">
                <a:solidFill>
                  <a:srgbClr val="FFFFFF"/>
                </a:solidFill>
                <a:latin typeface="Segoe UI"/>
              </a:defRPr>
            </a:pPr>
            <a:r>
              <a:t>one you could talk to, that remembers you</a:t>
            </a:r>
          </a:p>
          <a:p>
            <a:pPr algn="ctr">
              <a:lnSpc>
                <a:spcPct val="115000"/>
              </a:lnSpc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and can actually DO things?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9933"/>
                </a:solidFill>
                <a:latin typeface="Segoe UI"/>
              </a:defRPr>
            </a:pPr>
            <a:r>
              <a:t>Today, you build 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Meet OpenClaw 🦞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DD8E6"/>
                </a:solidFill>
                <a:latin typeface="Segoe UI"/>
              </a:defRPr>
            </a:pPr>
            <a:r>
              <a:t>A free, open-source AI assistant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49240" cy="178308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1907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Runs on YOUR computer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67712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300" b="0">
                <a:solidFill>
                  <a:srgbClr val="FFFFFF"/>
                </a:solidFill>
                <a:latin typeface="Segoe UI"/>
              </a:defRPr>
            </a:pPr>
            <a:r>
              <a:t>It lives on your laptop, not a website.</a:t>
            </a:r>
          </a:p>
          <a:p>
            <a:pPr algn="l">
              <a:lnSpc>
                <a:spcPct val="110000"/>
              </a:lnSpc>
              <a:defRPr sz="1300" b="0">
                <a:solidFill>
                  <a:srgbClr val="FFFFFF"/>
                </a:solidFill>
                <a:latin typeface="Segoe UI"/>
              </a:defRPr>
            </a:pPr>
            <a:r>
              <a:t>Your stuff stays with you.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349240" cy="17830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1907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Free &amp; open-source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67712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300" b="0">
                <a:solidFill>
                  <a:srgbClr val="FFFFFF"/>
                </a:solidFill>
                <a:latin typeface="Segoe UI"/>
              </a:defRPr>
            </a:pPr>
            <a:r>
              <a:t>Anyone can use it and see how it works.</a:t>
            </a:r>
          </a:p>
          <a:p>
            <a:pPr algn="l">
              <a:lnSpc>
                <a:spcPct val="110000"/>
              </a:lnSpc>
              <a:defRPr sz="1300" b="0">
                <a:solidFill>
                  <a:srgbClr val="FFFFFF"/>
                </a:solidFill>
                <a:latin typeface="Segoe UI"/>
              </a:defRPr>
            </a:pPr>
            <a:r>
              <a:t>Its mascot is a lobster. 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20440"/>
            <a:ext cx="5349240" cy="178308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68503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Remembers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33672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300" b="0">
                <a:solidFill>
                  <a:srgbClr val="FFFFFF"/>
                </a:solidFill>
                <a:latin typeface="Segoe UI"/>
              </a:defRPr>
            </a:pPr>
            <a:r>
              <a:t>It keeps notes so it knows you</a:t>
            </a:r>
          </a:p>
          <a:p>
            <a:pPr algn="l">
              <a:lnSpc>
                <a:spcPct val="110000"/>
              </a:lnSpc>
              <a:defRPr sz="1300" b="0">
                <a:solidFill>
                  <a:srgbClr val="FFFFFF"/>
                </a:solidFill>
                <a:latin typeface="Segoe UI"/>
              </a:defRPr>
            </a:pPr>
            <a:r>
              <a:t>next time you chat.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520440"/>
            <a:ext cx="5349240" cy="178308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68503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You talk in the terminal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233672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300" b="0">
                <a:solidFill>
                  <a:srgbClr val="FFFFFF"/>
                </a:solidFill>
                <a:latin typeface="Segoe UI"/>
              </a:defRPr>
            </a:pPr>
            <a:r>
              <a:t>Type a message, it replies —</a:t>
            </a:r>
          </a:p>
          <a:p>
            <a:pPr algn="l">
              <a:lnSpc>
                <a:spcPct val="110000"/>
              </a:lnSpc>
              <a:defRPr sz="1300" b="0">
                <a:solidFill>
                  <a:srgbClr val="FFFFFF"/>
                </a:solidFill>
                <a:latin typeface="Segoe UI"/>
              </a:defRPr>
            </a:pPr>
            <a:r>
              <a:t>and it can take real actions.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 real assistant that runs on your computer and works for you.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Chatbot vs. Assistant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DD8E6"/>
                </a:solidFill>
                <a:latin typeface="Segoe UI"/>
              </a:defRPr>
            </a:pPr>
            <a:r>
              <a:t>What makes an assistant special?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49240" cy="3749039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1907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Segoe UI"/>
              </a:defRPr>
            </a:pPr>
            <a:r>
              <a:t>A simple 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67712"/>
            <a:ext cx="4892040" cy="2880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600" b="0">
                <a:solidFill>
                  <a:srgbClr val="424242"/>
                </a:solidFill>
                <a:latin typeface="Segoe UI"/>
              </a:defRPr>
            </a:pPr>
            <a:r>
              <a:t>• Waits for you to type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424242"/>
                </a:solidFill>
                <a:latin typeface="Segoe UI"/>
              </a:defRPr>
            </a:pPr>
            <a:r>
              <a:t>• Text in, text out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424242"/>
                </a:solidFill>
                <a:latin typeface="Segoe UI"/>
              </a:defRPr>
            </a:pPr>
            <a:r>
              <a:t>• Forgets when you close it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424242"/>
                </a:solidFill>
                <a:latin typeface="Segoe UI"/>
              </a:defRPr>
            </a:pPr>
            <a:r>
              <a:t>• Lives inside a website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349240" cy="3749039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1907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An AI 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67712"/>
            <a:ext cx="4892040" cy="2880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600" b="0">
                <a:solidFill>
                  <a:srgbClr val="FFFFFF"/>
                </a:solidFill>
                <a:latin typeface="Segoe UI"/>
              </a:defRPr>
            </a:pPr>
            <a:r>
              <a:t>• Takes action and does tasks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FFFFFF"/>
                </a:solidFill>
                <a:latin typeface="Segoe UI"/>
              </a:defRPr>
            </a:pPr>
            <a:r>
              <a:t>• Uses files, commands, the web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FFFFFF"/>
                </a:solidFill>
                <a:latin typeface="Segoe UI"/>
              </a:defRPr>
            </a:pPr>
            <a:r>
              <a:t>• Remembers you over time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FFFFFF"/>
                </a:solidFill>
                <a:latin typeface="Segoe UI"/>
              </a:defRPr>
            </a:pPr>
            <a:r>
              <a:t>• Runs on your own computer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Same chat window — but an assistant can actually DO things.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Every Agent = 4 Ingredients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DD8E6"/>
                </a:solidFill>
                <a:latin typeface="Segoe UI"/>
              </a:defRPr>
            </a:pPr>
            <a:r>
              <a:t>You've seen these all unit — OpenClaw has all four, for real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2697480" cy="228600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84832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33472"/>
            <a:ext cx="2240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400" b="0">
                <a:solidFill>
                  <a:srgbClr val="FFFFFF"/>
                </a:solidFill>
                <a:latin typeface="Segoe UI"/>
              </a:defRPr>
            </a:pPr>
            <a:r>
              <a:t>The brain that thinks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0128" y="1920240"/>
            <a:ext cx="2697480" cy="22860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2084832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2633472"/>
            <a:ext cx="2240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400" b="0">
                <a:solidFill>
                  <a:srgbClr val="FFFFFF"/>
                </a:solidFill>
                <a:latin typeface="Segoe UI"/>
              </a:defRPr>
            </a:pPr>
            <a:r>
              <a:t>Hands to act in the world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1920240"/>
            <a:ext cx="2697480" cy="22860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2084832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2633472"/>
            <a:ext cx="2240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400" b="0">
                <a:solidFill>
                  <a:srgbClr val="FFFFFF"/>
                </a:solidFill>
                <a:latin typeface="Segoe UI"/>
              </a:defRPr>
            </a:pPr>
            <a:r>
              <a:t>Notes so it remembers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15984" y="1920240"/>
            <a:ext cx="2697480" cy="228600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44584" y="2084832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44584" y="2633472"/>
            <a:ext cx="2240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400" b="0">
                <a:solidFill>
                  <a:srgbClr val="FFFFFF"/>
                </a:solidFill>
                <a:latin typeface="Segoe UI"/>
              </a:defRPr>
            </a:pPr>
            <a:r>
              <a:t>Repeats until done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Model + Tools + Memory + a Loop = a real agent.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How You'll Talk to It: the Terminal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  <a:latin typeface="Segoe UI"/>
              </a:defRPr>
            </a:pPr>
            <a:r>
              <a:t>Type. Press Enter. It replies. Type 'exit' to leave.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10698480" cy="3200400"/>
          </a:xfrm>
          <a:prstGeom prst="roundRect">
            <a:avLst/>
          </a:prstGeom>
          <a:solidFill>
            <a:srgbClr val="12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30552"/>
            <a:ext cx="10241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500" b="0">
                <a:solidFill>
                  <a:srgbClr val="9BE38A"/>
                </a:solidFill>
                <a:latin typeface="Consolas"/>
              </a:defRPr>
            </a:pPr>
            <a:r>
              <a:t>$ openclaw chat</a:t>
            </a:r>
          </a:p>
          <a:p>
            <a:pPr algn="l">
              <a:lnSpc>
                <a:spcPct val="115000"/>
              </a:lnSpc>
              <a:defRPr sz="1500" b="0">
                <a:solidFill>
                  <a:srgbClr val="9BE38A"/>
                </a:solidFill>
                <a:latin typeface="Consolas"/>
              </a:defRPr>
            </a:pPr>
            <a:r>
              <a:t>You: Introduce yourself in two sentences.</a:t>
            </a:r>
          </a:p>
          <a:p>
            <a:pPr algn="l">
              <a:lnSpc>
                <a:spcPct val="115000"/>
              </a:lnSpc>
              <a:defRPr sz="1500" b="0">
                <a:solidFill>
                  <a:srgbClr val="9BE38A"/>
                </a:solidFill>
                <a:latin typeface="Consolas"/>
              </a:defRPr>
            </a:pPr>
          </a:p>
          <a:p>
            <a:pPr algn="l">
              <a:lnSpc>
                <a:spcPct val="115000"/>
              </a:lnSpc>
              <a:defRPr sz="1500" b="0">
                <a:solidFill>
                  <a:srgbClr val="9BE38A"/>
                </a:solidFill>
                <a:latin typeface="Consolas"/>
              </a:defRPr>
            </a:pPr>
            <a:r>
              <a:t>Clawd: Hi! I'm your AI assistant. I can read and write</a:t>
            </a:r>
          </a:p>
          <a:p>
            <a:pPr algn="l">
              <a:lnSpc>
                <a:spcPct val="115000"/>
              </a:lnSpc>
              <a:defRPr sz="1500" b="0">
                <a:solidFill>
                  <a:srgbClr val="9BE38A"/>
                </a:solidFill>
                <a:latin typeface="Consolas"/>
              </a:defRPr>
            </a:pPr>
            <a:r>
              <a:t>       files, run commands, and remember you.</a:t>
            </a:r>
          </a:p>
          <a:p>
            <a:pPr algn="l">
              <a:lnSpc>
                <a:spcPct val="115000"/>
              </a:lnSpc>
              <a:defRPr sz="1500" b="0">
                <a:solidFill>
                  <a:srgbClr val="9BE38A"/>
                </a:solidFill>
                <a:latin typeface="Consolas"/>
              </a:defRPr>
            </a:pPr>
            <a:r>
              <a:t>       What would you like to build today?</a:t>
            </a:r>
          </a:p>
          <a:p>
            <a:pPr algn="l">
              <a:lnSpc>
                <a:spcPct val="115000"/>
              </a:lnSpc>
              <a:defRPr sz="1500" b="0">
                <a:solidFill>
                  <a:srgbClr val="9BE38A"/>
                </a:solidFill>
                <a:latin typeface="Consolas"/>
              </a:defRPr>
            </a:pPr>
            <a:r>
              <a:t>You: _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No phone, no website — just you and your assistant in the terminal.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The Gateway = the Always-On Brain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4297680" cy="18288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359152"/>
            <a:ext cx="4023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Terminal 1</a:t>
            </a:r>
          </a:p>
          <a:p>
            <a:pPr algn="ctr">
              <a:lnSpc>
                <a:spcPct val="105000"/>
              </a:lnSpc>
              <a:defRPr sz="1500" b="1">
                <a:solidFill>
                  <a:srgbClr val="FFFFFF"/>
                </a:solidFill>
                <a:latin typeface="Segoe UI"/>
              </a:defRPr>
            </a:pPr>
            <a:r>
              <a:t>openclaw gateway</a:t>
            </a:r>
          </a:p>
          <a:p>
            <a:pPr algn="ctr">
              <a:lnSpc>
                <a:spcPct val="105000"/>
              </a:lnSpc>
              <a:defRPr sz="1500" b="1">
                <a:solidFill>
                  <a:srgbClr val="FFFFFF"/>
                </a:solidFill>
                <a:latin typeface="Segoe UI"/>
              </a:defRPr>
            </a:pPr>
            <a:r>
              <a:t>(the brain — leave it running)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577840" y="2788920"/>
            <a:ext cx="640080" cy="640080"/>
          </a:xfrm>
          <a:prstGeom prst="right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49440" y="2194560"/>
            <a:ext cx="4297680" cy="18288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86600" y="2359152"/>
            <a:ext cx="4023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Terminal 2</a:t>
            </a:r>
          </a:p>
          <a:p>
            <a:pPr algn="ctr">
              <a:lnSpc>
                <a:spcPct val="105000"/>
              </a:lnSpc>
              <a:defRPr sz="1500" b="1">
                <a:solidFill>
                  <a:srgbClr val="FFFFFF"/>
                </a:solidFill>
                <a:latin typeface="Segoe UI"/>
              </a:defRPr>
            </a:pPr>
            <a:r>
              <a:t>openclaw chat</a:t>
            </a:r>
          </a:p>
          <a:p>
            <a:pPr algn="ctr">
              <a:lnSpc>
                <a:spcPct val="105000"/>
              </a:lnSpc>
              <a:defRPr sz="1500" b="1">
                <a:solidFill>
                  <a:srgbClr val="FFFFFF"/>
                </a:solidFill>
                <a:latin typeface="Segoe UI"/>
              </a:defRPr>
            </a:pPr>
            <a:r>
              <a:t>(where you talk to it)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One window thinks. One window talks. Close them to stop everything.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OpenRouter: One Key, Many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3383280" cy="164592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450592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defRPr sz="1500" b="1">
                <a:solidFill>
                  <a:srgbClr val="FFFFFF"/>
                </a:solidFill>
                <a:latin typeface="Segoe UI"/>
              </a:defRPr>
            </a:pPr>
            <a:r>
              <a:t>Your OpenClaw</a:t>
            </a:r>
          </a:p>
          <a:p>
            <a:pPr algn="ctr">
              <a:lnSpc>
                <a:spcPct val="105000"/>
              </a:lnSpc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assistant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14800" y="2788920"/>
            <a:ext cx="640080" cy="640080"/>
          </a:xfrm>
          <a:prstGeom prst="right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46320" y="2286000"/>
            <a:ext cx="2468880" cy="164592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2450592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defRPr sz="1500" b="1">
                <a:solidFill>
                  <a:srgbClr val="FFFFFF"/>
                </a:solidFill>
                <a:latin typeface="Segoe UI"/>
              </a:defRPr>
            </a:pPr>
            <a:r>
              <a:t>OpenRouter</a:t>
            </a:r>
          </a:p>
          <a:p>
            <a:pPr algn="ctr">
              <a:lnSpc>
                <a:spcPct val="105000"/>
              </a:lnSpc>
              <a:defRPr sz="1500" b="1">
                <a:solidFill>
                  <a:srgbClr val="FFFFFF"/>
                </a:solidFill>
                <a:latin typeface="Segoe UI"/>
              </a:defRPr>
            </a:pPr>
            <a:r>
              <a:t>(one API key)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498079" y="2788920"/>
            <a:ext cx="640080" cy="640080"/>
          </a:xfrm>
          <a:prstGeom prst="right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0" y="2286000"/>
            <a:ext cx="3383280" cy="16459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2450592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defRPr sz="1500" b="1">
                <a:solidFill>
                  <a:srgbClr val="FFFFFF"/>
                </a:solidFill>
                <a:latin typeface="Segoe UI"/>
              </a:defRPr>
            </a:pPr>
            <a:r>
              <a:t>Many AI models</a:t>
            </a:r>
          </a:p>
          <a:p>
            <a:pPr algn="ctr">
              <a:lnSpc>
                <a:spcPct val="105000"/>
              </a:lnSpc>
              <a:defRPr sz="1500" b="1">
                <a:solidFill>
                  <a:srgbClr val="FFFFFF"/>
                </a:solidFill>
                <a:latin typeface="Segoe UI"/>
              </a:defRPr>
            </a:pPr>
            <a:r>
              <a:t>DeepSeek, and more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976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24242"/>
                </a:solidFill>
                <a:latin typeface="Segoe UI"/>
              </a:defRPr>
            </a:pPr>
            <a:r>
              <a:t>Today's model: DeepSeek V4 Flash — fast and low-cost.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One API key unlocks lots of different AI models.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Your API Key Is a Secret 🔑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3A5F"/>
                </a:solidFill>
                <a:latin typeface="Segoe UI"/>
              </a:defRPr>
            </a:pPr>
            <a:r>
              <a:t>Treat your API key like a password.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5257800" cy="27432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542032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✓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90672"/>
            <a:ext cx="48006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600" b="0">
                <a:solidFill>
                  <a:srgbClr val="FFFFFF"/>
                </a:solidFill>
                <a:latin typeface="Segoe UI"/>
              </a:defRPr>
            </a:pPr>
            <a:r>
              <a:t>• Keep it private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FFFFFF"/>
                </a:solidFill>
                <a:latin typeface="Segoe UI"/>
              </a:defRPr>
            </a:pPr>
            <a:r>
              <a:t>• Only use the class key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FFFFFF"/>
                </a:solidFill>
                <a:latin typeface="Segoe UI"/>
              </a:defRPr>
            </a:pPr>
            <a:r>
              <a:t>• Ask the teacher if unsure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377440"/>
            <a:ext cx="5257800" cy="274320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542032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✗ DON'T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090672"/>
            <a:ext cx="48006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600" b="0">
                <a:solidFill>
                  <a:srgbClr val="FFFFFF"/>
                </a:solidFill>
                <a:latin typeface="Segoe UI"/>
              </a:defRPr>
            </a:pPr>
            <a:r>
              <a:t>• Share or text it to friends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FFFFFF"/>
                </a:solidFill>
                <a:latin typeface="Segoe UI"/>
              </a:defRPr>
            </a:pPr>
            <a:r>
              <a:t>• Post it online</a:t>
            </a:r>
          </a:p>
          <a:p>
            <a:pPr algn="l">
              <a:lnSpc>
                <a:spcPct val="110000"/>
              </a:lnSpc>
              <a:defRPr sz="1600" b="0">
                <a:solidFill>
                  <a:srgbClr val="FFFFFF"/>
                </a:solidFill>
                <a:latin typeface="Segoe UI"/>
              </a:defRPr>
            </a:pPr>
            <a:r>
              <a:t>• Paste it anywhere public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Never share it, post it, or paste it anywhere public.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Safety: Rules of the Road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DD8E6"/>
                </a:solidFill>
                <a:latin typeface="Segoe UI"/>
              </a:defRPr>
            </a:pPr>
            <a:r>
              <a:t>OpenClaw is powerful — use it carefully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49240" cy="3749039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1907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✓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67712"/>
            <a:ext cx="4892040" cy="2880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• Read what it wants before approving</a:t>
            </a:r>
          </a:p>
          <a:p>
            <a:pPr algn="l">
              <a:lnSpc>
                <a:spcPct val="110000"/>
              </a:lnSpc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• Keep it on localhost (your computer)</a:t>
            </a:r>
          </a:p>
          <a:p>
            <a:pPr algn="l">
              <a:lnSpc>
                <a:spcPct val="110000"/>
              </a:lnSpc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• Work in a fresh folder</a:t>
            </a:r>
          </a:p>
          <a:p>
            <a:pPr algn="l">
              <a:lnSpc>
                <a:spcPct val="110000"/>
              </a:lnSpc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• Stop the gateway when you're done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349240" cy="3749039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1907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✗ Don't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67712"/>
            <a:ext cx="4892040" cy="2880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• Never share your API key</a:t>
            </a:r>
          </a:p>
          <a:p>
            <a:pPr algn="l">
              <a:lnSpc>
                <a:spcPct val="110000"/>
              </a:lnSpc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• Don't approve commands you don't get</a:t>
            </a:r>
          </a:p>
          <a:p>
            <a:pPr algn="l">
              <a:lnSpc>
                <a:spcPct val="110000"/>
              </a:lnSpc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• Don't install random skills</a:t>
            </a:r>
          </a:p>
          <a:p>
            <a:pPr algn="l">
              <a:lnSpc>
                <a:spcPct val="110000"/>
              </a:lnSpc>
              <a:defRPr sz="1500" b="0">
                <a:solidFill>
                  <a:srgbClr val="FFFFFF"/>
                </a:solidFill>
                <a:latin typeface="Segoe UI"/>
              </a:defRPr>
            </a:pPr>
            <a:r>
              <a:t>• Don't let it touch files you care about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Read before you approve — you're always in control.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You Approve Every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24242"/>
                </a:solidFill>
                <a:latin typeface="Segoe UI"/>
              </a:defRPr>
            </a:pPr>
            <a:r>
              <a:t>When it wants to DO something, it asks first. This is 'ask' mode (the default).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698480" cy="2468880"/>
          </a:xfrm>
          <a:prstGeom prst="roundRect">
            <a:avLst/>
          </a:prstGeom>
          <a:solidFill>
            <a:srgbClr val="12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76272"/>
            <a:ext cx="10241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600" b="0">
                <a:solidFill>
                  <a:srgbClr val="9BE38A"/>
                </a:solidFill>
                <a:latin typeface="Consolas"/>
              </a:defRPr>
            </a:pPr>
            <a:r>
              <a:t>Agent wants to execute:</a:t>
            </a:r>
          </a:p>
          <a:p>
            <a:pPr algn="l">
              <a:lnSpc>
                <a:spcPct val="115000"/>
              </a:lnSpc>
              <a:defRPr sz="1600" b="0">
                <a:solidFill>
                  <a:srgbClr val="9BE38A"/>
                </a:solidFill>
                <a:latin typeface="Consolas"/>
              </a:defRPr>
            </a:pPr>
            <a:r>
              <a:t>    $ echo "hello" &gt; hello.txt</a:t>
            </a:r>
          </a:p>
          <a:p>
            <a:pPr algn="l">
              <a:lnSpc>
                <a:spcPct val="115000"/>
              </a:lnSpc>
              <a:defRPr sz="1600" b="0">
                <a:solidFill>
                  <a:srgbClr val="9BE38A"/>
                </a:solidFill>
                <a:latin typeface="Consolas"/>
              </a:defRPr>
            </a:pPr>
          </a:p>
          <a:p>
            <a:pPr algn="l">
              <a:lnSpc>
                <a:spcPct val="115000"/>
              </a:lnSpc>
              <a:defRPr sz="1600" b="0">
                <a:solidFill>
                  <a:srgbClr val="9BE38A"/>
                </a:solidFill>
                <a:latin typeface="Consolas"/>
              </a:defRPr>
            </a:pPr>
            <a:r>
              <a:t>    [ approve ]     [ deny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24242"/>
                </a:solidFill>
                <a:latin typeface="Segoe UI"/>
              </a:defRPr>
            </a:pPr>
            <a:r>
              <a:t>Read it. If you understand it and it's safe — approve. If not — deny and ask.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You are always in control of what your assistant does.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It Remembers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3383280" cy="164592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450592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defRPr sz="1500" b="1">
                <a:solidFill>
                  <a:srgbClr val="FFFFFF"/>
                </a:solidFill>
                <a:latin typeface="Segoe UI"/>
              </a:defRPr>
            </a:pPr>
            <a:r>
              <a:t>You tell it a fact</a:t>
            </a:r>
          </a:p>
          <a:p>
            <a:pPr algn="ctr">
              <a:lnSpc>
                <a:spcPct val="105000"/>
              </a:lnSpc>
              <a:defRPr sz="1500" b="1">
                <a:solidFill>
                  <a:srgbClr val="FFFFFF"/>
                </a:solidFill>
                <a:latin typeface="Segoe UI"/>
              </a:defRPr>
            </a:pPr>
            <a:r>
              <a:t>"My team is the Sharks"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14800" y="2788920"/>
            <a:ext cx="640080" cy="640080"/>
          </a:xfrm>
          <a:prstGeom prst="right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46320" y="2286000"/>
            <a:ext cx="2468880" cy="164592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2450592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defRPr sz="1500" b="1">
                <a:solidFill>
                  <a:srgbClr val="FFFFFF"/>
                </a:solidFill>
                <a:latin typeface="Segoe UI"/>
              </a:defRPr>
            </a:pPr>
            <a:r>
              <a:t>It saves it</a:t>
            </a:r>
          </a:p>
          <a:p>
            <a:pPr algn="ctr">
              <a:lnSpc>
                <a:spcPct val="105000"/>
              </a:lnSpc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to a memory file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498079" y="2788920"/>
            <a:ext cx="640080" cy="640080"/>
          </a:xfrm>
          <a:prstGeom prst="rightArrow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0" y="2286000"/>
            <a:ext cx="3383280" cy="16459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2450592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defRPr sz="1500" b="1">
                <a:solidFill>
                  <a:srgbClr val="FFFFFF"/>
                </a:solidFill>
                <a:latin typeface="Segoe UI"/>
              </a:defRPr>
            </a:pPr>
            <a:r>
              <a:t>Next time</a:t>
            </a:r>
          </a:p>
          <a:p>
            <a:pPr algn="ctr">
              <a:lnSpc>
                <a:spcPct val="105000"/>
              </a:lnSpc>
              <a:defRPr sz="1500" b="1">
                <a:solidFill>
                  <a:srgbClr val="FFFFFF"/>
                </a:solidFill>
                <a:latin typeface="Segoe UI"/>
              </a:defRPr>
            </a:pPr>
            <a:r>
              <a:t>it still knows you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Memory = notes the assistant keeps on your computer.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The Heartbeat: Acting On Its 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24242"/>
                </a:solidFill>
                <a:latin typeface="Segoe UI"/>
              </a:defRPr>
            </a:pPr>
            <a:r>
              <a:t>A real assistant can check things and act on a timer — even without being asked.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257800" cy="265176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59152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Heartbeat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07791"/>
            <a:ext cx="4800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500" b="0">
                <a:solidFill>
                  <a:srgbClr val="FFFFFF"/>
                </a:solidFill>
                <a:latin typeface="Segoe UI"/>
              </a:defRPr>
            </a:pPr>
            <a:r>
              <a:t>Proactive 24/7.</a:t>
            </a:r>
          </a:p>
          <a:p>
            <a:pPr algn="l">
              <a:lnSpc>
                <a:spcPct val="110000"/>
              </a:lnSpc>
              <a:defRPr sz="1500" b="0">
                <a:solidFill>
                  <a:srgbClr val="FFFFFF"/>
                </a:solidFill>
                <a:latin typeface="Segoe UI"/>
              </a:defRPr>
            </a:pPr>
            <a:r>
              <a:t>Checks tasks every 30 min</a:t>
            </a:r>
          </a:p>
          <a:p>
            <a:pPr algn="l">
              <a:lnSpc>
                <a:spcPct val="110000"/>
              </a:lnSpc>
              <a:defRPr sz="1500" b="0">
                <a:solidFill>
                  <a:srgbClr val="FFFFFF"/>
                </a:solidFill>
                <a:latin typeface="Segoe UI"/>
              </a:defRPr>
            </a:pPr>
            <a:r>
              <a:t>and acts on its 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194560"/>
            <a:ext cx="5257800" cy="265176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359152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Heartbeat OFF (class)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07791"/>
            <a:ext cx="4800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500" b="0">
                <a:solidFill>
                  <a:srgbClr val="FFFFFF"/>
                </a:solidFill>
                <a:latin typeface="Segoe UI"/>
              </a:defRPr>
            </a:pPr>
            <a:r>
              <a:t>Acts only when you ask.</a:t>
            </a:r>
          </a:p>
          <a:p>
            <a:pPr algn="l">
              <a:lnSpc>
                <a:spcPct val="110000"/>
              </a:lnSpc>
              <a:defRPr sz="1500" b="0">
                <a:solidFill>
                  <a:srgbClr val="FFFFFF"/>
                </a:solidFill>
                <a:latin typeface="Segoe UI"/>
              </a:defRPr>
            </a:pPr>
            <a:r>
              <a:t>Keeps things safe and</a:t>
            </a:r>
          </a:p>
          <a:p>
            <a:pPr algn="l">
              <a:lnSpc>
                <a:spcPct val="110000"/>
              </a:lnSpc>
              <a:defRPr sz="1500" b="0">
                <a:solidFill>
                  <a:srgbClr val="FFFFFF"/>
                </a:solidFill>
                <a:latin typeface="Segoe UI"/>
              </a:defRPr>
            </a:pPr>
            <a:r>
              <a:t>saves our credits.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In class we keep the heartbeat OFF — it acts only when you chat.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Your Turn — Today's Missions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DD8E6"/>
                </a:solidFill>
                <a:latin typeface="Segoe UI"/>
              </a:defRPr>
            </a:pPr>
            <a:r>
              <a:t>Work in groups — rotate the Driver!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457200" cy="457200"/>
          </a:xfrm>
          <a:prstGeom prst="ellipse">
            <a:avLst/>
          </a:prstGeom>
          <a:solidFill>
            <a:srgbClr val="649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60020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424242"/>
                </a:solidFill>
                <a:latin typeface="Segoe UI"/>
              </a:defRPr>
            </a:pPr>
            <a:r>
              <a:t>First Contact — meet your assistant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212848"/>
            <a:ext cx="457200" cy="457200"/>
          </a:xfrm>
          <a:prstGeom prst="ellipse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258568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424242"/>
                </a:solidFill>
                <a:latin typeface="Segoe UI"/>
              </a:defRPr>
            </a:pPr>
            <a:r>
              <a:t>Watch It Act — approve a real task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871215"/>
            <a:ext cx="457200" cy="457200"/>
          </a:xfrm>
          <a:prstGeom prst="ellipse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916935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424242"/>
                </a:solidFill>
                <a:latin typeface="Segoe UI"/>
              </a:defRPr>
            </a:pPr>
            <a:r>
              <a:t>Give It a Personality — name it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529584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575304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424242"/>
                </a:solidFill>
                <a:latin typeface="Segoe UI"/>
              </a:defRPr>
            </a:pPr>
            <a:r>
              <a:t>Make It Remember — save a fact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187952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233672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424242"/>
                </a:solidFill>
                <a:latin typeface="Segoe UI"/>
              </a:defRPr>
            </a:pPr>
            <a:r>
              <a:t>Interview It — ask how it works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846320"/>
            <a:ext cx="457200" cy="457200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89204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424242"/>
                </a:solidFill>
                <a:latin typeface="Segoe UI"/>
              </a:defRPr>
            </a:pPr>
            <a:r>
              <a:t>Quick Quests — build &amp; create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A New Way to Use Computers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DD8E6"/>
                </a:solidFill>
                <a:latin typeface="Segoe UI"/>
              </a:defRPr>
            </a:pPr>
            <a:r>
              <a:t>Where AI is going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900" b="0">
                <a:solidFill>
                  <a:srgbClr val="424242"/>
                </a:solidFill>
                <a:latin typeface="Segoe UI"/>
              </a:defRPr>
            </a:pPr>
            <a:r>
              <a:t>Instead of clicking through menus, people are starting to just</a:t>
            </a:r>
          </a:p>
          <a:p>
            <a:pPr algn="l">
              <a:lnSpc>
                <a:spcPct val="120000"/>
              </a:lnSpc>
              <a:defRPr sz="1900" b="0">
                <a:solidFill>
                  <a:srgbClr val="424242"/>
                </a:solidFill>
                <a:latin typeface="Segoe UI"/>
              </a:defRPr>
            </a:pPr>
            <a:r>
              <a:t>ASK their computer to do things — and an assistant does them.</a:t>
            </a:r>
          </a:p>
          <a:p>
            <a:pPr algn="l">
              <a:lnSpc>
                <a:spcPct val="120000"/>
              </a:lnSpc>
              <a:defRPr sz="1900" b="0">
                <a:solidFill>
                  <a:srgbClr val="424242"/>
                </a:solidFill>
                <a:latin typeface="Segoe UI"/>
              </a:defRPr>
            </a:pPr>
          </a:p>
          <a:p>
            <a:pPr algn="l">
              <a:lnSpc>
                <a:spcPct val="120000"/>
              </a:lnSpc>
              <a:defRPr sz="1900" b="0">
                <a:solidFill>
                  <a:srgbClr val="424242"/>
                </a:solidFill>
                <a:latin typeface="Segoe UI"/>
              </a:defRPr>
            </a:pPr>
            <a:r>
              <a:t>These assistants are built from the same ideas you learned:</a:t>
            </a:r>
          </a:p>
          <a:p>
            <a:pPr algn="l">
              <a:lnSpc>
                <a:spcPct val="120000"/>
              </a:lnSpc>
              <a:defRPr sz="1900" b="0">
                <a:solidFill>
                  <a:srgbClr val="424242"/>
                </a:solidFill>
                <a:latin typeface="Segoe UI"/>
              </a:defRPr>
            </a:pPr>
            <a:r>
              <a:t>LLMs, tools, memory, and loops.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They're written in languages like Python — which we start in July!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How Far You've Come 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9966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2200" b="0">
                <a:solidFill>
                  <a:srgbClr val="ADD8E6"/>
                </a:solidFill>
                <a:latin typeface="Segoe UI"/>
              </a:defRPr>
            </a:pPr>
            <a:r>
              <a:t>From "what is an AI agent?"</a:t>
            </a:r>
          </a:p>
          <a:p>
            <a:pPr algn="ctr">
              <a:lnSpc>
                <a:spcPct val="120000"/>
              </a:lnSpc>
              <a:defRPr sz="2200" b="0">
                <a:solidFill>
                  <a:srgbClr val="ADD8E6"/>
                </a:solidFill>
                <a:latin typeface="Segoe UI"/>
              </a:defRPr>
            </a:pPr>
            <a:r>
              <a:t>to running your very own assistant on your computer.</a:t>
            </a:r>
          </a:p>
          <a:p>
            <a:pPr algn="ctr">
              <a:lnSpc>
                <a:spcPct val="120000"/>
              </a:lnSpc>
              <a:defRPr sz="2200" b="0">
                <a:solidFill>
                  <a:srgbClr val="ADD8E6"/>
                </a:solidFill>
                <a:latin typeface="Segoe UI"/>
              </a:defRPr>
            </a:pPr>
          </a:p>
          <a:p>
            <a:pPr algn="ctr">
              <a:lnSpc>
                <a:spcPct val="120000"/>
              </a:lnSpc>
              <a:defRPr sz="2200" b="0">
                <a:solidFill>
                  <a:srgbClr val="ADD8E6"/>
                </a:solidFill>
                <a:latin typeface="Segoe UI"/>
              </a:defRPr>
            </a:pPr>
            <a:r>
              <a:t>You used it, you understood it, and you stayed safe doing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Congratulations! 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DD8E6"/>
                </a:solidFill>
                <a:latin typeface="Segoe UI"/>
              </a:defRPr>
            </a:pPr>
            <a:r>
              <a:t>You finished the AI unit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611880" cy="2286000"/>
          </a:xfrm>
          <a:prstGeom prst="roundRect">
            <a:avLst/>
          </a:prstGeom>
          <a:solidFill>
            <a:srgbClr val="346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19072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You can explain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67712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500" b="0">
                <a:solidFill>
                  <a:srgbClr val="FFFFFF"/>
                </a:solidFill>
                <a:latin typeface="Segoe UI"/>
              </a:defRPr>
            </a:pPr>
            <a:r>
              <a:t>what AI agents</a:t>
            </a:r>
          </a:p>
          <a:p>
            <a:pPr algn="l">
              <a:lnSpc>
                <a:spcPct val="110000"/>
              </a:lnSpc>
              <a:defRPr sz="1500" b="0">
                <a:solidFill>
                  <a:srgbClr val="FFFFFF"/>
                </a:solidFill>
                <a:latin typeface="Segoe UI"/>
              </a:defRPr>
            </a:pPr>
            <a:r>
              <a:t>really 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554480"/>
            <a:ext cx="3611880" cy="22860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719072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You 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267712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500" b="0">
                <a:solidFill>
                  <a:srgbClr val="FFFFFF"/>
                </a:solidFill>
                <a:latin typeface="Segoe UI"/>
              </a:defRPr>
            </a:pPr>
            <a:r>
              <a:t>your own AI</a:t>
            </a:r>
          </a:p>
          <a:p>
            <a:pPr algn="l">
              <a:lnSpc>
                <a:spcPct val="110000"/>
              </a:lnSpc>
              <a:defRPr sz="1500" b="0">
                <a:solidFill>
                  <a:srgbClr val="FFFFFF"/>
                </a:solidFill>
                <a:latin typeface="Segoe UI"/>
              </a:defRPr>
            </a:pPr>
            <a:r>
              <a:t>tools.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611880" cy="22860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719072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You ran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267712"/>
            <a:ext cx="3154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1500" b="0">
                <a:solidFill>
                  <a:srgbClr val="FFFFFF"/>
                </a:solidFill>
                <a:latin typeface="Segoe UI"/>
              </a:defRPr>
            </a:pPr>
            <a:r>
              <a:t>a real AI</a:t>
            </a:r>
          </a:p>
          <a:p>
            <a:pPr algn="l">
              <a:lnSpc>
                <a:spcPct val="110000"/>
              </a:lnSpc>
              <a:defRPr sz="1500" b="0">
                <a:solidFill>
                  <a:srgbClr val="FFFFFF"/>
                </a:solidFill>
                <a:latin typeface="Segoe UI"/>
              </a:defRPr>
            </a:pPr>
            <a:r>
              <a:t>assistant.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24242"/>
                </a:solidFill>
                <a:latin typeface="Segoe UI"/>
              </a:defRPr>
            </a:pPr>
            <a:r>
              <a:t>Next: Python programming starts in July — now you'll learn to BUILD the tech you've been using.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760720"/>
            <a:ext cx="10360152" cy="64008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You're not just using AI — you're on your way to building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463040"/>
            <a:ext cx="121889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0">
                <a:solidFill>
                  <a:srgbClr val="FFFFFF"/>
                </a:solidFill>
                <a:latin typeface="Segoe UI"/>
              </a:defRPr>
            </a:pPr>
            <a: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0040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Segoe UI Semibold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66344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DD8E6"/>
                </a:solidFill>
                <a:latin typeface="Segoe UI"/>
              </a:defRPr>
            </a:pPr>
            <a:r>
              <a:t>Ask away — then it's Kahoot time! 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