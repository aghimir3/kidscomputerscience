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"/>
            <a:ext cx="1828800" cy="182880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1828800"/>
            <a:ext cx="1371600" cy="137160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4572000"/>
            <a:ext cx="1645920" cy="164592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486400"/>
            <a:ext cx="1097280" cy="109728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 Semibold"/>
              </a:defRPr>
            </a:pPr>
            <a:r>
              <a:t>Clients, Servers &amp;</a:t>
            </a:r>
            <a:br/>
            <a:r>
              <a:t>How Websites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DD8E6"/>
                </a:solidFill>
                <a:latin typeface="Segoe UI"/>
              </a:defRPr>
            </a:pPr>
            <a:r>
              <a:t>Understanding the 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95ED"/>
                </a:solidFill>
                <a:latin typeface="Segoe UI"/>
              </a:defRPr>
            </a:pPr>
            <a:r>
              <a:t>January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24242"/>
                </a:solidFill>
                <a:latin typeface="Segoe UI"/>
              </a:defRPr>
            </a:pPr>
            <a:r>
              <a:t>What are Clients &amp; Servers?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24242"/>
                </a:solidFill>
                <a:latin typeface="Segoe UI"/>
              </a:defRPr>
            </a:pPr>
            <a:r>
              <a:t>HTTP &amp; HTTPS - The Web's Language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47472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11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24242"/>
                </a:solidFill>
                <a:latin typeface="Segoe UI"/>
              </a:defRPr>
            </a:pPr>
            <a:r>
              <a:t>Ports - The Apartment Numbers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26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24242"/>
                </a:solidFill>
                <a:latin typeface="Segoe UI"/>
              </a:defRPr>
            </a:pPr>
            <a:r>
              <a:t>How a Website Actually Loads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03520"/>
            <a:ext cx="640080" cy="64008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440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24242"/>
                </a:solidFill>
                <a:latin typeface="Segoe UI"/>
              </a:defRPr>
            </a:pPr>
            <a:r>
              <a:t>Hands-on: tracert Command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What is a CLIENT?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0152" cy="109728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3200" b="1">
                <a:solidFill>
                  <a:srgbClr val="1E3A5F"/>
                </a:solidFill>
                <a:latin typeface="Segoe UI"/>
              </a:defRPr>
            </a:pPr>
            <a:r>
              <a:t>A device that ASKS for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Segoe UI"/>
              </a:defRPr>
            </a:pPr>
            <a:r>
              <a:t>Examples of Clients: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219456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424242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Your Laptop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657600"/>
            <a:ext cx="219456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424242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Your Phone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657600"/>
            <a:ext cx="219456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424242"/>
                </a:solidFill>
                <a:latin typeface="Segoe UI"/>
              </a:defRPr>
            </a:pPr>
            <a:r>
              <a:t>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Gaming Console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3657600"/>
            <a:ext cx="219456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424242"/>
                </a:solidFill>
                <a:latin typeface="Segoe UI"/>
              </a:defRPr>
            </a:pPr>
            <a:r>
              <a:t>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Smart 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67A6"/>
                </a:solidFill>
                <a:latin typeface="Segoe UI"/>
              </a:defRPr>
            </a:pPr>
            <a:r>
              <a:t>🔑 Key: When YOU browse the web, YOUR device is the client!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What is a SERVER?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0152" cy="109728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3200" b="1">
                <a:solidFill>
                  <a:srgbClr val="1E3A5F"/>
                </a:solidFill>
                <a:latin typeface="Segoe UI"/>
              </a:defRPr>
            </a:pPr>
            <a:r>
              <a:t>A computer that SERVES information to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Segoe UI"/>
              </a:defRPr>
            </a:pPr>
            <a:r>
              <a:t>What makes a server special?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24242"/>
                </a:solidFill>
                <a:latin typeface="Segoe UI"/>
              </a:defRPr>
            </a:pPr>
            <a:r>
              <a:t>• Always ON (24/7)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24242"/>
                </a:solidFill>
                <a:latin typeface="Segoe UI"/>
              </a:defRPr>
            </a:pPr>
            <a:r>
              <a:t>• Connected to the internet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24242"/>
                </a:solidFill>
                <a:latin typeface="Segoe UI"/>
              </a:defRPr>
            </a:pPr>
            <a:r>
              <a:t>• Waiting for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24242"/>
                </a:solidFill>
                <a:latin typeface="Segoe UI"/>
              </a:defRPr>
            </a:pPr>
            <a:r>
              <a:t>• Stores websites, apps,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200400"/>
            <a:ext cx="4114800" cy="25603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424242"/>
                </a:solidFill>
                <a:latin typeface="Segoe UI"/>
              </a:defRPr>
            </a:pPr>
            <a:r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754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Segoe UI"/>
              </a:defRPr>
            </a:pPr>
            <a:r>
              <a:t>🔑 Google, Netflix, YouTube all run on powerful servers!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Clients &amp; Servers Talk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743200" cy="201168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424242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Segoe UI"/>
              </a:defRPr>
            </a:pPr>
            <a: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3A5F"/>
                </a:solidFill>
                <a:latin typeface="Segoe UI"/>
              </a:defRPr>
            </a:pPr>
            <a:r>
              <a:t>(Your Computer)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743200"/>
            <a:ext cx="2743200" cy="201168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424242"/>
                </a:solidFill>
                <a:latin typeface="Segoe UI"/>
              </a:defRPr>
            </a:pPr>
            <a: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3A5F"/>
                </a:solidFill>
                <a:latin typeface="Segoe UI"/>
              </a:defRPr>
            </a:pPr>
            <a:r>
              <a:t>(Google's Computer)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40480" y="2926080"/>
            <a:ext cx="4572000" cy="54864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2860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33"/>
                </a:solidFill>
                <a:latin typeface="Segoe UI"/>
              </a:defRPr>
            </a:pPr>
            <a:r>
              <a:t>1.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651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"Hey, can I see google.com?"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3840480" y="4297680"/>
            <a:ext cx="4572000" cy="548640"/>
          </a:xfrm>
          <a:prstGeom prst="lef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49377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2.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3035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4242"/>
                </a:solidFill>
                <a:latin typeface="Segoe UI"/>
              </a:defRPr>
            </a:pPr>
            <a:r>
              <a:t>"Here's the webpage!"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67A6"/>
                </a:solidFill>
                <a:latin typeface="Segoe UI"/>
              </a:defRPr>
            </a:pPr>
            <a:r>
              <a:t>This request-response pattern happens EVERY time you visit a website!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HTTP - The Web's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828800"/>
            <a:ext cx="914400" cy="9144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33"/>
                </a:solidFill>
                <a:latin typeface="Segoe UI"/>
              </a:defRPr>
            </a:pPr>
            <a:r>
              <a:t>Hyper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8288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Text</a:t>
            </a:r>
          </a:p>
        </p:txBody>
      </p:sp>
      <p:sp>
        <p:nvSpPr>
          <p:cNvPr id="9" name="Oval 8"/>
          <p:cNvSpPr/>
          <p:nvPr/>
        </p:nvSpPr>
        <p:spPr>
          <a:xfrm>
            <a:off x="6492240" y="1828800"/>
            <a:ext cx="914400" cy="91440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C27B0"/>
                </a:solidFill>
                <a:latin typeface="Segoe UI"/>
              </a:defRPr>
            </a:pPr>
            <a:r>
              <a:t>Transfer</a:t>
            </a:r>
          </a:p>
        </p:txBody>
      </p:sp>
      <p:sp>
        <p:nvSpPr>
          <p:cNvPr id="11" name="Oval 10"/>
          <p:cNvSpPr/>
          <p:nvPr/>
        </p:nvSpPr>
        <p:spPr>
          <a:xfrm>
            <a:off x="9052559" y="1828800"/>
            <a:ext cx="914400" cy="91440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9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67A6"/>
                </a:solidFill>
                <a:latin typeface="Segoe UI"/>
              </a:defRPr>
            </a:pPr>
            <a:r>
              <a:t>Protocol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10360152" cy="12801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9811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24242"/>
                </a:solidFill>
                <a:latin typeface="Segoe UI"/>
              </a:defRPr>
            </a:pPr>
            <a:r>
              <a:t>HTTP is the set of rules that clients and servers use to communicate.</a:t>
            </a:r>
            <a:br/>
            <a:r>
              <a:t>It's like the language they both speak!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3A5F"/>
                </a:solidFill>
                <a:latin typeface="Segoe UI"/>
              </a:defRPr>
            </a:pPr>
            <a:r>
              <a:t>🗣️ Think of it like: When you order food, you speak the same language as the waiter.</a:t>
            </a:r>
            <a:br/>
            <a:r>
              <a:t>HTTP is the "language" computers use to order and deliver web pages!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HTTP vs HTTPS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What's the 'S' for?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44336"/>
                </a:solidFill>
                <a:latin typeface="Segoe UI"/>
              </a:defRPr>
            </a:pPr>
            <a:r>
              <a:t>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424242"/>
                </a:solidFill>
                <a:latin typeface="Segoe UI"/>
              </a:defRPr>
            </a:pPr>
            <a:r>
              <a:t>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Like a POSTCARD</a:t>
            </a:r>
            <a:br/>
            <a:r>
              <a:t>Anyone can read it!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CAF50"/>
                </a:solidFill>
                <a:latin typeface="Segoe UI"/>
              </a:defRPr>
            </a:pPr>
            <a:r>
              <a:t>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>
                <a:solidFill>
                  <a:srgbClr val="424242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Like a LOCKED BOX</a:t>
            </a:r>
            <a:br/>
            <a:r>
              <a:t>Only you &amp; server can read!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206240"/>
            <a:ext cx="5788152" cy="10972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 = SECURE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🔑 Always look for HTTPS and the 🔒 in your browser!</a:t>
            </a:r>
            <a:br/>
            <a:r>
              <a:t>Especially when entering passwords or credit cards.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What are PORTS?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Segoe UI"/>
              </a:defRPr>
            </a:pPr>
            <a:r>
              <a:t>🏢 Think of a server like an APARTMENT BUILDING...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3657600" cy="3200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45920" y="2560320"/>
            <a:ext cx="1280160" cy="7315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#80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Web (HTTP)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3474720"/>
            <a:ext cx="1280160" cy="7315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566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#443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Secure Web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560320"/>
            <a:ext cx="1280160" cy="7315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651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#22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3474720"/>
            <a:ext cx="1280160" cy="7315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3566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#25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468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Segoe UI"/>
              </a:defRPr>
            </a:pPr>
            <a:r>
              <a:t>The Analogy: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01752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24242"/>
                </a:solidFill>
                <a:latin typeface="Segoe UI"/>
              </a:defRPr>
            </a:pPr>
            <a:r>
              <a:t>• IP Address = Building Address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24242"/>
                </a:solidFill>
                <a:latin typeface="Segoe UI"/>
              </a:defRPr>
            </a:pPr>
            <a:r>
              <a:t>• Port = Apartment Number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24242"/>
                </a:solidFill>
                <a:latin typeface="Segoe UI"/>
              </a:defRPr>
            </a:pPr>
            <a:r>
              <a:t>• Different services live in different "apartments"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Common Port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The ones you should know!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103120"/>
            <a:ext cx="1097280" cy="109728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Segoe UI"/>
              </a:defRPr>
            </a:pPr>
            <a:r>
              <a:t>HTTP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Regular websites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3035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0" y="2103120"/>
            <a:ext cx="1097280" cy="10972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CAF50"/>
                </a:solidFill>
                <a:latin typeface="Segoe UI"/>
              </a:defRPr>
            </a:pPr>
            <a:r>
              <a:t>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Secure websites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3035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389120"/>
            <a:ext cx="1097280" cy="109728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C27B0"/>
                </a:solidFill>
                <a:latin typeface="Segoe UI"/>
              </a:defRPr>
            </a:pPr>
            <a:r>
              <a:t>SSH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Remote computer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931920"/>
            <a:ext cx="53035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0" y="4389120"/>
            <a:ext cx="1097280" cy="109728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67A6"/>
                </a:solidFill>
                <a:latin typeface="Segoe UI"/>
              </a:defRPr>
            </a:pPr>
            <a:r>
              <a:t>DNS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Segoe UI"/>
              </a:defRPr>
            </a:pPr>
            <a:r>
              <a:t>Domain lookups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943600"/>
            <a:ext cx="7616952" cy="731520"/>
          </a:xfrm>
          <a:prstGeom prst="round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1E3A5F"/>
                </a:solidFill>
                <a:latin typeface="Segoe UI"/>
              </a:defRPr>
            </a:pPr>
            <a:r>
              <a:t>💡 Remember: 80 for regular, 443 for secure!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Anatomy of a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74552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800" b="1">
                <a:solidFill>
                  <a:srgbClr val="424242"/>
                </a:solidFill>
                <a:latin typeface="Segoe UI"/>
              </a:defRPr>
            </a:pPr>
            <a:r>
              <a:t>https://www.google.com/search?q=cats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1645920" cy="1645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https://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The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926080"/>
            <a:ext cx="1645920" cy="16459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www.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Subdomain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Optional prefix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926080"/>
            <a:ext cx="1645920" cy="16459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The website 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926080"/>
            <a:ext cx="1645920" cy="16459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Top-level domain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926080"/>
            <a:ext cx="1645920" cy="16459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/search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Page location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926080"/>
            <a:ext cx="1645920" cy="1645920"/>
          </a:xfrm>
          <a:prstGeom prst="round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?q=cats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Extra info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  <a:latin typeface="Segoe UI"/>
              </a:defRPr>
            </a:pPr>
            <a:r>
              <a:t>🔑 The DOMAIN (like 'google') is the main identifier!</a:t>
            </a:r>
            <a:br/>
            <a:r>
              <a:t>It's what you type to find a website.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Journey of Loading a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201168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64B5F6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You type</a:t>
            </a:r>
            <a:br/>
            <a:r>
              <a:t>google.com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20116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056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9C27B0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Computer asks DNS</a:t>
            </a:r>
            <a:br/>
            <a:r>
              <a:t>for IP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9C27B0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DNS returns IP:</a:t>
            </a:r>
            <a:br/>
            <a:r>
              <a:t>142.250.80.46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3474720" cy="20116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9933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Browser sends</a:t>
            </a:r>
            <a:br/>
            <a:r>
              <a:t>request to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023360"/>
            <a:ext cx="3474720" cy="20116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4206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Server sends</a:t>
            </a:r>
            <a:br/>
            <a:r>
              <a:t>webpage 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023360"/>
            <a:ext cx="3474720" cy="201168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4206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467A6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Browser displays</a:t>
            </a:r>
            <a:br/>
            <a:r>
              <a:t>the page!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⚡ All of this happens in less than a second!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DNS - The Internet's Phone 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You know your friend's NAME, but your phone needs their NUMBER to call them.</a:t>
            </a:r>
            <a:br/>
            <a:r>
              <a:t>DNS works the same way for websites!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00400" cy="137160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E3A5F"/>
                </a:solidFill>
                <a:latin typeface="Segoe UI"/>
              </a:defRPr>
            </a:pPr>
            <a:r>
              <a:t>google.com</a:t>
            </a:r>
            <a:br/>
            <a:r>
              <a:t>(Domain Name)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3200400"/>
            <a:ext cx="1097280" cy="45720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94960" y="2743200"/>
            <a:ext cx="2286000" cy="13716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📖</a:t>
            </a:r>
            <a:br/>
            <a:r>
              <a:t>DNS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3200400"/>
            <a:ext cx="1097280" cy="45720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2743200"/>
            <a:ext cx="2286000" cy="137160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800" b="1">
                <a:solidFill>
                  <a:srgbClr val="1E3A5F"/>
                </a:solidFill>
                <a:latin typeface="Segoe UI"/>
              </a:defRPr>
            </a:pPr>
            <a:r>
              <a:t>142.250.80.46</a:t>
            </a:r>
            <a:br/>
            <a:r>
              <a:t>(IP Address)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DNS (Domain Name System) translates human-friendly names</a:t>
            </a:r>
            <a:br/>
            <a:r>
              <a:t>into computer-friendly IP addresses.</a:t>
            </a:r>
            <a:br/>
            <a:br/>
            <a:r>
              <a:t>Without DNS, you'd have to memorize numbers like 142.250.80.46!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tracert - Trace the Route!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Hands-on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109728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tracert shows every STOP (hop) your data makes on its journey to a website!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Try this command: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725912" cy="822960"/>
          </a:xfrm>
          <a:prstGeom prst="round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400" b="1">
                <a:solidFill>
                  <a:srgbClr val="4CAF50"/>
                </a:solidFill>
                <a:latin typeface="Segoe UI"/>
              </a:defRPr>
            </a:pPr>
            <a:r>
              <a:t>tracert google.com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What you'll see: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212080"/>
            <a:ext cx="914400" cy="9144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217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Your Router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37360" y="5486400"/>
            <a:ext cx="1463040" cy="365760"/>
          </a:xfrm>
          <a:prstGeom prst="rightArrow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5212080"/>
            <a:ext cx="914400" cy="9144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217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ISP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80560" y="5486400"/>
            <a:ext cx="1463040" cy="365760"/>
          </a:xfrm>
          <a:prstGeom prst="rightArrow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5212080"/>
            <a:ext cx="914400" cy="9144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6217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Data Center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23760" y="5486400"/>
            <a:ext cx="1463040" cy="365760"/>
          </a:xfrm>
          <a:prstGeom prst="rightArrow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0" y="521208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217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Segoe UI"/>
              </a:defRPr>
            </a:pPr>
            <a:r>
              <a:t>Google Server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77724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37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 device that ASKS for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2560320" cy="7772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974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 computer that SERVES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2560320" cy="77724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HTTP/HTTPS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657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The language of the web (S = Secure!)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2560320" cy="7772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617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Like apartment numbers for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2560320" cy="77724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577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Translates names to IP addresses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Segoe UI"/>
              </a:defRPr>
            </a:pPr>
            <a:r>
              <a:t>🎉 Great job today! Time for Kahoot!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424242"/>
                </a:solidFill>
                <a:latin typeface="Segoe UI"/>
              </a:defRPr>
            </a:pPr>
            <a:r>
              <a:t>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Ask away before we start the Kahoot!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