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969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4864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 Linux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C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 for Young Computer Scientists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200400" y="3749040"/>
            <a:ext cx="2743200" cy="36576"/>
          </a:xfrm>
          <a:prstGeom prst="rect">
            <a:avLst/>
          </a:prstGeom>
          <a:solidFill>
            <a:srgbClr val="F7DC6F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Computer Science Class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969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Linux?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64008" cy="100584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051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9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is a free and open-source operating system.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1463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operating system (OS) manages your computer’s hardware and lets you run programs — just like Windows or macOS, but anyone can use, modify, and share Linux for free!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286000"/>
            <a:ext cx="64008" cy="2286000"/>
          </a:xfrm>
          <a:prstGeom prst="rect">
            <a:avLst/>
          </a:prstGeom>
          <a:solidFill>
            <a:srgbClr val="F7DC6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231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2423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“Open Source”?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77240" y="288036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you bake a cake and share the recipe with all your friends. They can bake the same cake, add chocolate chips, or share their new version. That’s open source — the “recipe” for Linux is available to everyone!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0" y="2286000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37744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20640" y="23042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Use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675120" y="23042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pay a cent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0" y="2852928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944368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120640" y="28712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675120" y="28712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view &amp; improve the code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572000" y="3419856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511296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20640" y="34381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6675120" y="34381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Resistant to viruses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4572000" y="3986784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4078224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20640" y="40050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Customizable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6675120" y="40050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almost everything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969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History of Linux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1991, a 21-year-old Finnish college student named Linus Torvalds wanted an operating system he could tinker with. So he built his own — and shared it with the world for free!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645920" y="1691640"/>
            <a:ext cx="36576" cy="512064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7" name="Shape 4"/>
          <p:cNvSpPr/>
          <p:nvPr/>
        </p:nvSpPr>
        <p:spPr>
          <a:xfrm>
            <a:off x="1572768" y="1828800"/>
            <a:ext cx="182880" cy="182880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7373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96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011680" y="1719072"/>
            <a:ext cx="658368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194560" y="1719072"/>
            <a:ext cx="6309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Linus Torvalds creates Linux as a hobby project in Finland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645920" y="2203704"/>
            <a:ext cx="36576" cy="512064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12" name="Shape 9"/>
          <p:cNvSpPr/>
          <p:nvPr/>
        </p:nvSpPr>
        <p:spPr>
          <a:xfrm>
            <a:off x="1572768" y="2340864"/>
            <a:ext cx="182880" cy="182880"/>
          </a:xfrm>
          <a:prstGeom prst="ellipse">
            <a:avLst/>
          </a:prstGeom>
          <a:solidFill>
            <a:srgbClr val="F7DC6F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24942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96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011680" y="2231136"/>
            <a:ext cx="658368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194560" y="2231136"/>
            <a:ext cx="6309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distros appear: Debian &amp; Slackware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645920" y="2715768"/>
            <a:ext cx="36576" cy="512064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17" name="Shape 14"/>
          <p:cNvSpPr/>
          <p:nvPr/>
        </p:nvSpPr>
        <p:spPr>
          <a:xfrm>
            <a:off x="1572768" y="2852928"/>
            <a:ext cx="182880" cy="182880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276148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96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1998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011680" y="2743200"/>
            <a:ext cx="658368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2194560" y="2743200"/>
            <a:ext cx="6309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invests heavily — Linux goes mainstream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1645920" y="3227832"/>
            <a:ext cx="36576" cy="512064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22" name="Shape 19"/>
          <p:cNvSpPr/>
          <p:nvPr/>
        </p:nvSpPr>
        <p:spPr>
          <a:xfrm>
            <a:off x="1572768" y="3364992"/>
            <a:ext cx="182880" cy="182880"/>
          </a:xfrm>
          <a:prstGeom prst="ellipse">
            <a:avLst/>
          </a:prstGeom>
          <a:solidFill>
            <a:srgbClr val="F7DC6F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32735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96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2004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2011680" y="3255264"/>
            <a:ext cx="658368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2194560" y="3255264"/>
            <a:ext cx="6309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makes Linux beginner-friendly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1645920" y="3739896"/>
            <a:ext cx="36576" cy="512064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27" name="Shape 24"/>
          <p:cNvSpPr/>
          <p:nvPr/>
        </p:nvSpPr>
        <p:spPr>
          <a:xfrm>
            <a:off x="1572768" y="3877056"/>
            <a:ext cx="182880" cy="182880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378561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96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2008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2011680" y="3767328"/>
            <a:ext cx="658368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2194560" y="3767328"/>
            <a:ext cx="6309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releases Android, built on Linux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1645920" y="4251960"/>
            <a:ext cx="36576" cy="512064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32" name="Shape 29"/>
          <p:cNvSpPr/>
          <p:nvPr/>
        </p:nvSpPr>
        <p:spPr>
          <a:xfrm>
            <a:off x="1572768" y="4389120"/>
            <a:ext cx="182880" cy="182880"/>
          </a:xfrm>
          <a:prstGeom prst="ellipse">
            <a:avLst/>
          </a:prstGeom>
          <a:solidFill>
            <a:srgbClr val="F7DC6F"/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" y="42976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96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2011680" y="4279392"/>
            <a:ext cx="658368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2194560" y="4279392"/>
            <a:ext cx="6309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internet, supercomputers, phones &amp; space!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969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is Linux Used Today?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is everywhere — even if you can’t always see it!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417320"/>
            <a:ext cx="2606040" cy="54864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8" name="Shape 5"/>
          <p:cNvSpPr/>
          <p:nvPr/>
        </p:nvSpPr>
        <p:spPr>
          <a:xfrm>
            <a:off x="1417320" y="1600200"/>
            <a:ext cx="594360" cy="594360"/>
          </a:xfrm>
          <a:prstGeom prst="ellipse">
            <a:avLst/>
          </a:prstGeom>
          <a:solidFill>
            <a:srgbClr val="E8F4F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69164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2240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48640" y="24963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3B+ Android devices run Linux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91840" y="141732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91840" y="1417320"/>
            <a:ext cx="2606040" cy="54864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14" name="Shape 10"/>
          <p:cNvSpPr/>
          <p:nvPr/>
        </p:nvSpPr>
        <p:spPr>
          <a:xfrm>
            <a:off x="4251960" y="1600200"/>
            <a:ext cx="594360" cy="594360"/>
          </a:xfrm>
          <a:prstGeom prst="ellipse">
            <a:avLst/>
          </a:prstGeom>
          <a:solidFill>
            <a:srgbClr val="E8F4F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69164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83280" y="2240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383280" y="24963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YouTube, Netflix all run on Linux servers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126480" y="141732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126480" y="1417320"/>
            <a:ext cx="2606040" cy="54864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20" name="Shape 15"/>
          <p:cNvSpPr/>
          <p:nvPr/>
        </p:nvSpPr>
        <p:spPr>
          <a:xfrm>
            <a:off x="7086600" y="1600200"/>
            <a:ext cx="594360" cy="594360"/>
          </a:xfrm>
          <a:prstGeom prst="ellipse">
            <a:avLst/>
          </a:prstGeom>
          <a:solidFill>
            <a:srgbClr val="E8F4F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69164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17920" y="2240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217920" y="24963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&amp; Mars helicopter run Linux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310896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" y="3108960"/>
            <a:ext cx="2606040" cy="54864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26" name="Shape 20"/>
          <p:cNvSpPr/>
          <p:nvPr/>
        </p:nvSpPr>
        <p:spPr>
          <a:xfrm>
            <a:off x="1417320" y="3291840"/>
            <a:ext cx="594360" cy="594360"/>
          </a:xfrm>
          <a:prstGeom prst="ellipse">
            <a:avLst/>
          </a:prstGeom>
          <a:solidFill>
            <a:srgbClr val="E8F4F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8760" y="338328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8640" y="3931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Supercomputers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548640" y="41879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top 500 supercomputers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3291840" y="310896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291840" y="3108960"/>
            <a:ext cx="2606040" cy="54864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32" name="Shape 25"/>
          <p:cNvSpPr/>
          <p:nvPr/>
        </p:nvSpPr>
        <p:spPr>
          <a:xfrm>
            <a:off x="4251960" y="3291840"/>
            <a:ext cx="594360" cy="594360"/>
          </a:xfrm>
          <a:prstGeom prst="ellipse">
            <a:avLst/>
          </a:prstGeom>
          <a:solidFill>
            <a:srgbClr val="E8F4F5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3383280"/>
            <a:ext cx="411480" cy="4114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383280" y="3931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3383280" y="41879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Deck runs SteamOS (Linux)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6126480" y="310896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126480" y="3108960"/>
            <a:ext cx="2606040" cy="54864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38" name="Shape 30"/>
          <p:cNvSpPr/>
          <p:nvPr/>
        </p:nvSpPr>
        <p:spPr>
          <a:xfrm>
            <a:off x="7086600" y="3291840"/>
            <a:ext cx="594360" cy="594360"/>
          </a:xfrm>
          <a:prstGeom prst="ellipse">
            <a:avLst/>
          </a:prstGeom>
          <a:solidFill>
            <a:srgbClr val="E8F4F5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040" y="3383280"/>
            <a:ext cx="411480" cy="41148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217920" y="3931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400" dirty="0"/>
          </a:p>
        </p:txBody>
      </p:sp>
      <p:sp>
        <p:nvSpPr>
          <p:cNvPr id="41" name="Text 32"/>
          <p:cNvSpPr/>
          <p:nvPr/>
        </p:nvSpPr>
        <p:spPr>
          <a:xfrm>
            <a:off x="6217920" y="41879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Google Cloud, Azure rely on Linux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969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Linux Matters in CS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64008" cy="658368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1124712"/>
            <a:ext cx="420624" cy="420624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124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25880" y="106984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Under the Hood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25880" y="13441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gives you full control to learn how computers really work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178308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1783080"/>
            <a:ext cx="64008" cy="658368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13" name="Shape 10"/>
          <p:cNvSpPr/>
          <p:nvPr/>
        </p:nvSpPr>
        <p:spPr>
          <a:xfrm>
            <a:off x="731520" y="1901952"/>
            <a:ext cx="420624" cy="420624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325880" y="184708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25880" y="21214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developers, data scientists, and cybersecurity experts use Linux daily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256032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2560320"/>
            <a:ext cx="64008" cy="658368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19" name="Shape 16"/>
          <p:cNvSpPr/>
          <p:nvPr/>
        </p:nvSpPr>
        <p:spPr>
          <a:xfrm>
            <a:off x="731520" y="2679192"/>
            <a:ext cx="420624" cy="420624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2679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325880" y="262432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Internet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325880" y="28986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websites or apps? You’ll almost certainly use Linux servers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333756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7200" y="3337560"/>
            <a:ext cx="64008" cy="658368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25" name="Shape 22"/>
          <p:cNvSpPr/>
          <p:nvPr/>
        </p:nvSpPr>
        <p:spPr>
          <a:xfrm>
            <a:off x="731520" y="3456432"/>
            <a:ext cx="420624" cy="420624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26" name="Text 23"/>
          <p:cNvSpPr/>
          <p:nvPr/>
        </p:nvSpPr>
        <p:spPr>
          <a:xfrm>
            <a:off x="731520" y="3456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325880" y="34015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Problem-Solving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325880" y="36758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terminal makes you think logically — a key skill for any programmer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57200" y="411480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57200" y="4114800"/>
            <a:ext cx="64008" cy="658368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31" name="Shape 28"/>
          <p:cNvSpPr/>
          <p:nvPr/>
        </p:nvSpPr>
        <p:spPr>
          <a:xfrm>
            <a:off x="731520" y="4233672"/>
            <a:ext cx="420624" cy="420624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32" name="Text 29"/>
          <p:cNvSpPr/>
          <p:nvPr/>
        </p:nvSpPr>
        <p:spPr>
          <a:xfrm>
            <a:off x="731520" y="4233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325880" y="417880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Accessible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325880" y="44531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in the world can learn Linux without paying a cent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969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Linux Distributions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8686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Linux is open source, many groups have created their own versions called distributions ("distros"). Think of it like ice cream — the base is the same, but each flavor is a little different!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554480"/>
            <a:ext cx="64008" cy="548640"/>
          </a:xfrm>
          <a:prstGeom prst="rect">
            <a:avLst/>
          </a:prstGeom>
          <a:solidFill>
            <a:srgbClr val="E8712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560320" y="1600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for beginners. Easy to use and great for learning.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194560"/>
            <a:ext cx="64008" cy="548640"/>
          </a:xfrm>
          <a:prstGeom prst="rect">
            <a:avLst/>
          </a:prstGeom>
          <a:solidFill>
            <a:srgbClr val="3C6EB4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Fedora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560320" y="22402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latest software. Popular with developers.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2834640"/>
            <a:ext cx="64008" cy="548640"/>
          </a:xfrm>
          <a:prstGeom prst="rect">
            <a:avLst/>
          </a:prstGeom>
          <a:solidFill>
            <a:srgbClr val="87CF3E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7C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Mint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560320" y="28803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Beginner-friendly with a Windows-like desktop.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3474720"/>
            <a:ext cx="64008" cy="548640"/>
          </a:xfrm>
          <a:prstGeom prst="rect">
            <a:avLst/>
          </a:prstGeom>
          <a:solidFill>
            <a:srgbClr val="A80030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0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560320" y="35204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oldest. Super stable and reliable.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7200" y="4114800"/>
            <a:ext cx="64008" cy="548640"/>
          </a:xfrm>
          <a:prstGeom prst="rect">
            <a:avLst/>
          </a:prstGeom>
          <a:solidFill>
            <a:srgbClr val="1793D1"/>
          </a:solidFill>
          <a:ln/>
        </p:spPr>
      </p:sp>
      <p:sp>
        <p:nvSpPr>
          <p:cNvPr id="24" name="Text 21"/>
          <p:cNvSpPr/>
          <p:nvPr/>
        </p:nvSpPr>
        <p:spPr>
          <a:xfrm>
            <a:off x="731520" y="4160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9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 Linux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2560320" y="4160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advanced users who build their system from scratch.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969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Terminal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868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text-based way to talk to your computer. Instead of clicking icons, you type commands. It looks intimidating at first, but it’s incredibly powerful!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3931920" cy="292608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463040"/>
            <a:ext cx="3931920" cy="3200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554480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868680" y="1554480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1097280" y="1554480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137160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187452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Desktop  Documents  Downloads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mkdir my_project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my_project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touch hello.txt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_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63440" y="146304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1463040"/>
            <a:ext cx="64008" cy="594360"/>
          </a:xfrm>
          <a:prstGeom prst="rect">
            <a:avLst/>
          </a:prstGeom>
          <a:solidFill>
            <a:srgbClr val="F7DC6F"/>
          </a:solidFill>
          <a:ln/>
        </p:spPr>
      </p:sp>
      <p:sp>
        <p:nvSpPr>
          <p:cNvPr id="15" name="Text 12"/>
          <p:cNvSpPr/>
          <p:nvPr/>
        </p:nvSpPr>
        <p:spPr>
          <a:xfrm>
            <a:off x="4892040" y="1508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892040" y="17556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tasks are faster by typing than clicking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219456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2194560"/>
            <a:ext cx="64008" cy="594360"/>
          </a:xfrm>
          <a:prstGeom prst="rect">
            <a:avLst/>
          </a:prstGeom>
          <a:solidFill>
            <a:srgbClr val="F7DC6F"/>
          </a:solidFill>
          <a:ln/>
        </p:spPr>
      </p:sp>
      <p:sp>
        <p:nvSpPr>
          <p:cNvPr id="19" name="Text 16"/>
          <p:cNvSpPr/>
          <p:nvPr/>
        </p:nvSpPr>
        <p:spPr>
          <a:xfrm>
            <a:off x="4892040" y="2240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892040" y="2487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things can only be done through the terminal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663440" y="292608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63440" y="2926080"/>
            <a:ext cx="64008" cy="594360"/>
          </a:xfrm>
          <a:prstGeom prst="rect">
            <a:avLst/>
          </a:prstGeom>
          <a:solidFill>
            <a:srgbClr val="F7DC6F"/>
          </a:solidFill>
          <a:ln/>
        </p:spPr>
      </p:sp>
      <p:sp>
        <p:nvSpPr>
          <p:cNvPr id="23" name="Text 20"/>
          <p:cNvSpPr/>
          <p:nvPr/>
        </p:nvSpPr>
        <p:spPr>
          <a:xfrm>
            <a:off x="4892040" y="2971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892040" y="32186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scripts to automate repetitive tasks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663440" y="365760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663440" y="3657600"/>
            <a:ext cx="64008" cy="594360"/>
          </a:xfrm>
          <a:prstGeom prst="rect">
            <a:avLst/>
          </a:prstGeom>
          <a:solidFill>
            <a:srgbClr val="F7DC6F"/>
          </a:solidFill>
          <a:ln/>
        </p:spPr>
      </p:sp>
      <p:sp>
        <p:nvSpPr>
          <p:cNvPr id="27" name="Text 24"/>
          <p:cNvSpPr/>
          <p:nvPr/>
        </p:nvSpPr>
        <p:spPr>
          <a:xfrm>
            <a:off x="4892040" y="3703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Access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892040" y="39502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the only way to manage servers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969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Essential Commands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96012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960120"/>
            <a:ext cx="64008" cy="114300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051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96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85800" y="1344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files and folders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" y="1673352"/>
            <a:ext cx="3566160" cy="3200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6733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96012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960120"/>
            <a:ext cx="64008" cy="114300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13" name="Text 10"/>
          <p:cNvSpPr/>
          <p:nvPr/>
        </p:nvSpPr>
        <p:spPr>
          <a:xfrm>
            <a:off x="4983480" y="1051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96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983480" y="1344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directory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983480" y="1673352"/>
            <a:ext cx="3566160" cy="3200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6" name="Text 13"/>
          <p:cNvSpPr/>
          <p:nvPr/>
        </p:nvSpPr>
        <p:spPr>
          <a:xfrm>
            <a:off x="5074920" y="16733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Documents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228600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2286000"/>
            <a:ext cx="64008" cy="114300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2377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96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85800" y="2670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new directory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85800" y="2999232"/>
            <a:ext cx="3566160" cy="3200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29992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mkdir my_folder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754880" y="228600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54880" y="2286000"/>
            <a:ext cx="64008" cy="114300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25" name="Text 22"/>
          <p:cNvSpPr/>
          <p:nvPr/>
        </p:nvSpPr>
        <p:spPr>
          <a:xfrm>
            <a:off x="4983480" y="2377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96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4983480" y="2670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empty file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983480" y="2999232"/>
            <a:ext cx="3566160" cy="3200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8" name="Text 25"/>
          <p:cNvSpPr/>
          <p:nvPr/>
        </p:nvSpPr>
        <p:spPr>
          <a:xfrm>
            <a:off x="5074920" y="29992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touch hello.txt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57200" y="361188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57200" y="3611880"/>
            <a:ext cx="64008" cy="114300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31" name="Text 28"/>
          <p:cNvSpPr/>
          <p:nvPr/>
        </p:nvSpPr>
        <p:spPr>
          <a:xfrm>
            <a:off x="685800" y="3703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96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685800" y="39959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(delete) a file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85800" y="4325112"/>
            <a:ext cx="3566160" cy="3200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4" name="Text 31"/>
          <p:cNvSpPr/>
          <p:nvPr/>
        </p:nvSpPr>
        <p:spPr>
          <a:xfrm>
            <a:off x="777240" y="43251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rm hello.txt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754880" y="361188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754880" y="3611880"/>
            <a:ext cx="64008" cy="114300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37" name="Text 34"/>
          <p:cNvSpPr/>
          <p:nvPr/>
        </p:nvSpPr>
        <p:spPr>
          <a:xfrm>
            <a:off x="4983480" y="3703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96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rmdir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4983480" y="39959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empty folder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4983480" y="4325112"/>
            <a:ext cx="3566160" cy="3200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0" name="Text 37"/>
          <p:cNvSpPr/>
          <p:nvPr/>
        </p:nvSpPr>
        <p:spPr>
          <a:xfrm>
            <a:off x="5074920" y="43251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rmdir old_folder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969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Let’s Try It!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1371600" y="2834640"/>
            <a:ext cx="6400800" cy="16459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Shape 3"/>
          <p:cNvSpPr/>
          <p:nvPr/>
        </p:nvSpPr>
        <p:spPr>
          <a:xfrm>
            <a:off x="1371600" y="2834640"/>
            <a:ext cx="6400800" cy="4572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7" name="Text 4"/>
          <p:cNvSpPr/>
          <p:nvPr/>
        </p:nvSpPr>
        <p:spPr>
          <a:xfrm>
            <a:off x="1828800" y="30175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7DC6F"/>
                </a:solidFill>
              </a:rPr>
              <a:t>1.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Go to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6EC6CA"/>
                </a:solidFill>
              </a:rPr>
              <a:t>DistroSea.com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 in your browser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7DC6F"/>
                </a:solidFill>
              </a:rPr>
              <a:t>2.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Select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6EC6CA"/>
                </a:solidFill>
              </a:rPr>
              <a:t>Ubuntu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 and wait for it to load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7DC6F"/>
                </a:solidFill>
              </a:rPr>
              <a:t>3.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Open the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6EC6CA"/>
                </a:solidFill>
              </a:rPr>
              <a:t>Terminal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 (Ctrl + Alt + T)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7DC6F"/>
                </a:solidFill>
              </a:rPr>
              <a:t>4.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Start practicing your commands!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969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Recap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64008" cy="530352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1097280"/>
            <a:ext cx="347472" cy="347472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80160" y="1051560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is a free, open-source OS created by Linus Torvalds in 1991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1645920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1645920"/>
            <a:ext cx="64008" cy="530352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12" name="Shape 9"/>
          <p:cNvSpPr/>
          <p:nvPr/>
        </p:nvSpPr>
        <p:spPr>
          <a:xfrm>
            <a:off x="731520" y="1737360"/>
            <a:ext cx="347472" cy="347472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80160" y="1691640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used everywhere: phones, servers, supercomputers, space, gaming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57200" y="2286000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2286000"/>
            <a:ext cx="64008" cy="530352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17" name="Shape 14"/>
          <p:cNvSpPr/>
          <p:nvPr/>
        </p:nvSpPr>
        <p:spPr>
          <a:xfrm>
            <a:off x="731520" y="2377440"/>
            <a:ext cx="347472" cy="347472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280160" y="2331720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comes in many flavors called distributions (Ubuntu, Fedora, Mint…)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7200" y="2926080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" y="2926080"/>
            <a:ext cx="64008" cy="530352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22" name="Shape 19"/>
          <p:cNvSpPr/>
          <p:nvPr/>
        </p:nvSpPr>
        <p:spPr>
          <a:xfrm>
            <a:off x="731520" y="3017520"/>
            <a:ext cx="347472" cy="347472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280160" y="2971800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terminal is a powerful text-based way to control your computer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457200" y="3566160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7200" y="3566160"/>
            <a:ext cx="64008" cy="530352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27" name="Shape 24"/>
          <p:cNvSpPr/>
          <p:nvPr/>
        </p:nvSpPr>
        <p:spPr>
          <a:xfrm>
            <a:off x="731520" y="3657600"/>
            <a:ext cx="347472" cy="347472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280160" y="3611880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commands: ls, cd, mkdir, touch, rm, rmdir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457200" y="4206240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57200" y="4206240"/>
            <a:ext cx="64008" cy="530352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32" name="Shape 29"/>
          <p:cNvSpPr/>
          <p:nvPr/>
        </p:nvSpPr>
        <p:spPr>
          <a:xfrm>
            <a:off x="731520" y="4297680"/>
            <a:ext cx="347472" cy="347472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33" name="Text 30"/>
          <p:cNvSpPr/>
          <p:nvPr/>
        </p:nvSpPr>
        <p:spPr>
          <a:xfrm>
            <a:off x="731520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1280160" y="4251960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Linux builds real CS skills used by professionals worldwide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3200400" y="4892040"/>
            <a:ext cx="2743200" cy="36576"/>
          </a:xfrm>
          <a:prstGeom prst="rect">
            <a:avLst/>
          </a:prstGeom>
          <a:solidFill>
            <a:srgbClr val="F7DC6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Linux</dc:title>
  <dc:subject>PptxGenJS Presentation</dc:subject>
  <dc:creator>Sanskar</dc:creator>
  <cp:lastModifiedBy>Sanskar</cp:lastModifiedBy>
  <cp:revision>1</cp:revision>
  <dcterms:created xsi:type="dcterms:W3CDTF">2026-02-14T15:31:18Z</dcterms:created>
  <dcterms:modified xsi:type="dcterms:W3CDTF">2026-02-14T15:31:18Z</dcterms:modified>
</cp:coreProperties>
</file>