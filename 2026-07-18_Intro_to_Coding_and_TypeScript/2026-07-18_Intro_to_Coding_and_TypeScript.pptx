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124"/>
        </a:solidFill>
      </p:bgPr>
    </p:bg>
    <p:spTree>
      <p:nvGrpSpPr>
        <p:cNvPr id="1" name=""/>
        <p:cNvGrpSpPr/>
        <p:nvPr/>
      </p:nvGrpSpPr>
      <p:grpSpPr>
        <a:xfrm>
          <a:off x="0" y="0"/>
          <a:ext cx="0" cy="0"/>
          <a:chOff x="0" y="0"/>
          <a:chExt cx="0" cy="0"/>
        </a:xfrm>
      </p:grpSpPr>
      <p:sp>
        <p:nvSpPr>
          <p:cNvPr id="2" name="Shape 0"/>
          <p:cNvSpPr/>
          <p:nvPr/>
        </p:nvSpPr>
        <p:spPr>
          <a:xfrm>
            <a:off x="-1463040" y="-1463040"/>
            <a:ext cx="3840480" cy="3840480"/>
          </a:xfrm>
          <a:prstGeom prst="ellipse">
            <a:avLst/>
          </a:prstGeom>
          <a:solidFill>
            <a:srgbClr val="4285F4">
              <a:alpha val="18000"/>
            </a:srgbClr>
          </a:solidFill>
          <a:ln/>
        </p:spPr>
      </p:sp>
      <p:sp>
        <p:nvSpPr>
          <p:cNvPr id="3" name="Shape 1"/>
          <p:cNvSpPr/>
          <p:nvPr/>
        </p:nvSpPr>
        <p:spPr>
          <a:xfrm>
            <a:off x="10241280" y="4480560"/>
            <a:ext cx="3474720" cy="3474720"/>
          </a:xfrm>
          <a:prstGeom prst="ellipse">
            <a:avLst/>
          </a:prstGeom>
          <a:solidFill>
            <a:srgbClr val="34A853">
              <a:alpha val="16000"/>
            </a:srgbClr>
          </a:solidFill>
          <a:ln/>
        </p:spPr>
      </p:sp>
      <p:sp>
        <p:nvSpPr>
          <p:cNvPr id="4" name="Shape 2"/>
          <p:cNvSpPr/>
          <p:nvPr/>
        </p:nvSpPr>
        <p:spPr>
          <a:xfrm>
            <a:off x="9692640" y="-1280160"/>
            <a:ext cx="2377440" cy="2377440"/>
          </a:xfrm>
          <a:prstGeom prst="ellipse">
            <a:avLst/>
          </a:prstGeom>
          <a:solidFill>
            <a:srgbClr val="EA4335">
              <a:alpha val="14000"/>
            </a:srgbClr>
          </a:solidFill>
          <a:ln/>
        </p:spPr>
      </p:sp>
      <p:sp>
        <p:nvSpPr>
          <p:cNvPr id="5" name="Shape 3"/>
          <p:cNvSpPr/>
          <p:nvPr/>
        </p:nvSpPr>
        <p:spPr>
          <a:xfrm>
            <a:off x="868680" y="1965960"/>
            <a:ext cx="146304" cy="146304"/>
          </a:xfrm>
          <a:prstGeom prst="ellipse">
            <a:avLst/>
          </a:prstGeom>
          <a:solidFill>
            <a:srgbClr val="4285F4"/>
          </a:solidFill>
          <a:ln/>
        </p:spPr>
      </p:sp>
      <p:sp>
        <p:nvSpPr>
          <p:cNvPr id="6" name="Shape 4"/>
          <p:cNvSpPr/>
          <p:nvPr/>
        </p:nvSpPr>
        <p:spPr>
          <a:xfrm>
            <a:off x="1106424" y="1965960"/>
            <a:ext cx="146304" cy="146304"/>
          </a:xfrm>
          <a:prstGeom prst="ellipse">
            <a:avLst/>
          </a:prstGeom>
          <a:solidFill>
            <a:srgbClr val="EA4335"/>
          </a:solidFill>
          <a:ln/>
        </p:spPr>
      </p:sp>
      <p:sp>
        <p:nvSpPr>
          <p:cNvPr id="7" name="Shape 5"/>
          <p:cNvSpPr/>
          <p:nvPr/>
        </p:nvSpPr>
        <p:spPr>
          <a:xfrm>
            <a:off x="1344168" y="1965960"/>
            <a:ext cx="146304" cy="146304"/>
          </a:xfrm>
          <a:prstGeom prst="ellipse">
            <a:avLst/>
          </a:prstGeom>
          <a:solidFill>
            <a:srgbClr val="FBBC04"/>
          </a:solidFill>
          <a:ln/>
        </p:spPr>
      </p:sp>
      <p:sp>
        <p:nvSpPr>
          <p:cNvPr id="8" name="Shape 6"/>
          <p:cNvSpPr/>
          <p:nvPr/>
        </p:nvSpPr>
        <p:spPr>
          <a:xfrm>
            <a:off x="1581912" y="1965960"/>
            <a:ext cx="146304" cy="146304"/>
          </a:xfrm>
          <a:prstGeom prst="ellipse">
            <a:avLst/>
          </a:prstGeom>
          <a:solidFill>
            <a:srgbClr val="34A853"/>
          </a:solidFill>
          <a:ln/>
        </p:spPr>
      </p:sp>
      <p:sp>
        <p:nvSpPr>
          <p:cNvPr id="9" name="Text 7"/>
          <p:cNvSpPr/>
          <p:nvPr/>
        </p:nvSpPr>
        <p:spPr>
          <a:xfrm>
            <a:off x="868680" y="2240280"/>
            <a:ext cx="10058400" cy="365760"/>
          </a:xfrm>
          <a:prstGeom prst="rect">
            <a:avLst/>
          </a:prstGeom>
          <a:noFill/>
          <a:ln/>
        </p:spPr>
        <p:txBody>
          <a:bodyPr wrap="square" lIns="0" tIns="0" rIns="0" bIns="0" rtlCol="0" anchor="ctr"/>
          <a:lstStyle/>
          <a:p>
            <a:pPr algn="l" indent="0" marL="0">
              <a:buNone/>
            </a:pPr>
            <a:r>
              <a:rPr lang="en-US" sz="1400" b="1" spc="300" kern="0" dirty="0">
                <a:solidFill>
                  <a:srgbClr val="9AA0A6"/>
                </a:solidFill>
                <a:latin typeface="Calibri" pitchFamily="34" charset="0"/>
                <a:ea typeface="Calibri" pitchFamily="34" charset="-122"/>
                <a:cs typeface="Calibri" pitchFamily="34" charset="-120"/>
              </a:rPr>
              <a:t>A BEGINNER'S GUIDE TO REAL PROGRAMMING</a:t>
            </a:r>
            <a:endParaRPr lang="en-US" sz="1400" dirty="0"/>
          </a:p>
        </p:txBody>
      </p:sp>
      <p:sp>
        <p:nvSpPr>
          <p:cNvPr id="10" name="Text 8"/>
          <p:cNvSpPr/>
          <p:nvPr/>
        </p:nvSpPr>
        <p:spPr>
          <a:xfrm>
            <a:off x="822960" y="2697480"/>
            <a:ext cx="10515600" cy="1005840"/>
          </a:xfrm>
          <a:prstGeom prst="rect">
            <a:avLst/>
          </a:prstGeom>
          <a:noFill/>
          <a:ln/>
        </p:spPr>
        <p:txBody>
          <a:bodyPr wrap="square" lIns="0" tIns="0" rIns="0" bIns="0" rtlCol="0" anchor="ctr"/>
          <a:lstStyle/>
          <a:p>
            <a:pPr algn="l" indent="0" marL="0">
              <a:buNone/>
            </a:pPr>
            <a:r>
              <a:rPr lang="en-US" sz="5400" b="1" dirty="0">
                <a:solidFill>
                  <a:srgbClr val="FFFFFF"/>
                </a:solidFill>
                <a:latin typeface="Georgia" pitchFamily="34" charset="0"/>
                <a:ea typeface="Georgia" pitchFamily="34" charset="-122"/>
                <a:cs typeface="Georgia" pitchFamily="34" charset="-120"/>
              </a:rPr>
              <a:t>Learning to Code</a:t>
            </a:r>
            <a:endParaRPr lang="en-US" sz="5400" dirty="0"/>
          </a:p>
        </p:txBody>
      </p:sp>
      <p:sp>
        <p:nvSpPr>
          <p:cNvPr id="11" name="Text 9"/>
          <p:cNvSpPr/>
          <p:nvPr/>
        </p:nvSpPr>
        <p:spPr>
          <a:xfrm>
            <a:off x="868680" y="3794760"/>
            <a:ext cx="10515600" cy="548640"/>
          </a:xfrm>
          <a:prstGeom prst="rect">
            <a:avLst/>
          </a:prstGeom>
          <a:noFill/>
          <a:ln/>
        </p:spPr>
        <p:txBody>
          <a:bodyPr wrap="square" lIns="0" tIns="0" rIns="0" bIns="0" rtlCol="0" anchor="ctr"/>
          <a:lstStyle/>
          <a:p>
            <a:pPr algn="l" indent="0" marL="0">
              <a:buNone/>
            </a:pPr>
            <a:r>
              <a:rPr lang="en-US" sz="2000" dirty="0">
                <a:solidFill>
                  <a:srgbClr val="E8EAED"/>
                </a:solidFill>
                <a:latin typeface="Calibri" pitchFamily="34" charset="0"/>
                <a:ea typeface="Calibri" pitchFamily="34" charset="-122"/>
                <a:cs typeface="Calibri" pitchFamily="34" charset="-120"/>
              </a:rPr>
              <a:t>From the first program ever written</a:t>
            </a:r>
            <a:pPr algn="l" indent="0" marL="0">
              <a:buNone/>
            </a:pPr>
            <a:r>
              <a:rPr lang="en-US" sz="2000" dirty="0">
                <a:solidFill>
                  <a:srgbClr val="E8EAED"/>
                </a:solidFill>
                <a:latin typeface="Calibri" pitchFamily="34" charset="0"/>
                <a:ea typeface="Calibri" pitchFamily="34" charset="-122"/>
                <a:cs typeface="Calibri" pitchFamily="34" charset="-120"/>
              </a:rPr>
              <a:t>  to writing your own in </a:t>
            </a:r>
            <a:pPr algn="l" indent="0" marL="0">
              <a:buNone/>
            </a:pPr>
            <a:r>
              <a:rPr lang="en-US" sz="2000" b="1" dirty="0">
                <a:solidFill>
                  <a:srgbClr val="FBBC04"/>
                </a:solidFill>
                <a:latin typeface="Calibri" pitchFamily="34" charset="0"/>
                <a:ea typeface="Calibri" pitchFamily="34" charset="-122"/>
                <a:cs typeface="Calibri" pitchFamily="34" charset="-120"/>
              </a:rPr>
              <a:t>TypeScript</a:t>
            </a:r>
            <a:endParaRPr lang="en-US" sz="2000" dirty="0"/>
          </a:p>
        </p:txBody>
      </p:sp>
      <p:sp>
        <p:nvSpPr>
          <p:cNvPr id="12" name="Text 10"/>
          <p:cNvSpPr/>
          <p:nvPr/>
        </p:nvSpPr>
        <p:spPr>
          <a:xfrm>
            <a:off x="868680" y="5852160"/>
            <a:ext cx="7315200" cy="365760"/>
          </a:xfrm>
          <a:prstGeom prst="rect">
            <a:avLst/>
          </a:prstGeom>
          <a:noFill/>
          <a:ln/>
        </p:spPr>
        <p:txBody>
          <a:bodyPr wrap="square" lIns="0" tIns="0" rIns="0" bIns="0" rtlCol="0" anchor="ctr"/>
          <a:lstStyle/>
          <a:p>
            <a:pPr algn="l" indent="0" marL="0">
              <a:buNone/>
            </a:pPr>
            <a:r>
              <a:rPr lang="en-US" sz="1300" dirty="0">
                <a:solidFill>
                  <a:srgbClr val="9AA0A6"/>
                </a:solidFill>
                <a:latin typeface="Calibri" pitchFamily="34" charset="0"/>
                <a:ea typeface="Calibri" pitchFamily="34" charset="-122"/>
                <a:cs typeface="Calibri" pitchFamily="34" charset="-120"/>
              </a:rPr>
              <a:t>Weekend Coding Class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4285F4"/>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4285F4"/>
                </a:solidFill>
                <a:latin typeface="Calibri" pitchFamily="34" charset="0"/>
                <a:ea typeface="Calibri" pitchFamily="34" charset="-122"/>
                <a:cs typeface="Calibri" pitchFamily="34" charset="-120"/>
              </a:rPr>
              <a:t>THE BIG IDEA</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What even IS “code”?</a:t>
            </a:r>
            <a:endParaRPr lang="en-US" sz="2900" dirty="0"/>
          </a:p>
        </p:txBody>
      </p:sp>
      <p:sp>
        <p:nvSpPr>
          <p:cNvPr id="9" name="Text 7"/>
          <p:cNvSpPr/>
          <p:nvPr/>
        </p:nvSpPr>
        <p:spPr>
          <a:xfrm>
            <a:off x="548640" y="1691640"/>
            <a:ext cx="6492240" cy="1280160"/>
          </a:xfrm>
          <a:prstGeom prst="rect">
            <a:avLst/>
          </a:prstGeom>
          <a:noFill/>
          <a:ln/>
        </p:spPr>
        <p:txBody>
          <a:bodyPr wrap="square" lIns="0" tIns="0" rIns="0" bIns="0" rtlCol="0" anchor="t"/>
          <a:lstStyle/>
          <a:p>
            <a:pPr algn="l" indent="0" marL="0">
              <a:lnSpc>
                <a:spcPct val="115000"/>
              </a:lnSpc>
              <a:buNone/>
            </a:pPr>
            <a:r>
              <a:rPr lang="en-US" sz="1650" dirty="0">
                <a:solidFill>
                  <a:srgbClr val="5F6368"/>
                </a:solidFill>
                <a:latin typeface="Calibri" pitchFamily="34" charset="0"/>
                <a:ea typeface="Calibri" pitchFamily="34" charset="-122"/>
                <a:cs typeface="Calibri" pitchFamily="34" charset="-120"/>
              </a:rPr>
              <a:t>A computer is incredibly fast — but also incredibly literal. It only does EXACTLY what it is told, step by step. Code is how we tell it what to do, in a language it understands.</a:t>
            </a:r>
            <a:endParaRPr lang="en-US" sz="1650" dirty="0"/>
          </a:p>
        </p:txBody>
      </p:sp>
      <p:sp>
        <p:nvSpPr>
          <p:cNvPr id="10" name="Shape 8"/>
          <p:cNvSpPr/>
          <p:nvPr/>
        </p:nvSpPr>
        <p:spPr>
          <a:xfrm>
            <a:off x="548640" y="3200400"/>
            <a:ext cx="1371600" cy="868680"/>
          </a:xfrm>
          <a:prstGeom prst="roundRect">
            <a:avLst>
              <a:gd name="adj" fmla="val 9474"/>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1" name="Text 9"/>
          <p:cNvSpPr/>
          <p:nvPr/>
        </p:nvSpPr>
        <p:spPr>
          <a:xfrm>
            <a:off x="548640" y="3200400"/>
            <a:ext cx="1371600" cy="868680"/>
          </a:xfrm>
          <a:prstGeom prst="rect">
            <a:avLst/>
          </a:prstGeom>
          <a:noFill/>
          <a:ln/>
        </p:spPr>
        <p:txBody>
          <a:bodyPr wrap="square" lIns="0" tIns="0" rIns="0" bIns="0" rtlCol="0" anchor="ctr"/>
          <a:lstStyle/>
          <a:p>
            <a:pPr algn="ctr" indent="0" marL="0">
              <a:buNone/>
            </a:pPr>
            <a:r>
              <a:rPr lang="en-US" sz="1350" b="1" dirty="0">
                <a:solidFill>
                  <a:srgbClr val="4285F4"/>
                </a:solidFill>
                <a:latin typeface="Calibri" pitchFamily="34" charset="0"/>
                <a:ea typeface="Calibri" pitchFamily="34" charset="-122"/>
                <a:cs typeface="Calibri" pitchFamily="34" charset="-120"/>
              </a:rPr>
              <a:t>You</a:t>
            </a:r>
            <a:endParaRPr lang="en-US" sz="1350" dirty="0"/>
          </a:p>
        </p:txBody>
      </p:sp>
      <p:sp>
        <p:nvSpPr>
          <p:cNvPr id="12" name="Text 10"/>
          <p:cNvSpPr/>
          <p:nvPr/>
        </p:nvSpPr>
        <p:spPr>
          <a:xfrm>
            <a:off x="1920240" y="3200400"/>
            <a:ext cx="201168" cy="868680"/>
          </a:xfrm>
          <a:prstGeom prst="rect">
            <a:avLst/>
          </a:prstGeom>
          <a:noFill/>
          <a:ln/>
        </p:spPr>
        <p:txBody>
          <a:bodyPr wrap="square" lIns="0" tIns="0" rIns="0" bIns="0" rtlCol="0" anchor="ctr"/>
          <a:lstStyle/>
          <a:p>
            <a:pPr algn="ctr" indent="0" marL="0">
              <a:buNone/>
            </a:pPr>
            <a:r>
              <a:rPr lang="en-US" sz="2000" b="1" dirty="0">
                <a:solidFill>
                  <a:srgbClr val="80868B"/>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2121408" y="3200400"/>
            <a:ext cx="1371600" cy="868680"/>
          </a:xfrm>
          <a:prstGeom prst="roundRect">
            <a:avLst>
              <a:gd name="adj" fmla="val 9474"/>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4" name="Text 12"/>
          <p:cNvSpPr/>
          <p:nvPr/>
        </p:nvSpPr>
        <p:spPr>
          <a:xfrm>
            <a:off x="2121408" y="3200400"/>
            <a:ext cx="1371600" cy="868680"/>
          </a:xfrm>
          <a:prstGeom prst="rect">
            <a:avLst/>
          </a:prstGeom>
          <a:noFill/>
          <a:ln/>
        </p:spPr>
        <p:txBody>
          <a:bodyPr wrap="square" lIns="0" tIns="0" rIns="0" bIns="0" rtlCol="0" anchor="ctr"/>
          <a:lstStyle/>
          <a:p>
            <a:pPr algn="ctr" indent="0" marL="0">
              <a:buNone/>
            </a:pPr>
            <a:r>
              <a:rPr lang="en-US" sz="1350" b="1" dirty="0">
                <a:solidFill>
                  <a:srgbClr val="EA4335"/>
                </a:solidFill>
                <a:latin typeface="Calibri" pitchFamily="34" charset="0"/>
                <a:ea typeface="Calibri" pitchFamily="34" charset="-122"/>
                <a:cs typeface="Calibri" pitchFamily="34" charset="-120"/>
              </a:rPr>
              <a:t>Write code</a:t>
            </a:r>
            <a:endParaRPr lang="en-US" sz="1350" dirty="0"/>
          </a:p>
        </p:txBody>
      </p:sp>
      <p:sp>
        <p:nvSpPr>
          <p:cNvPr id="15" name="Text 13"/>
          <p:cNvSpPr/>
          <p:nvPr/>
        </p:nvSpPr>
        <p:spPr>
          <a:xfrm>
            <a:off x="3493008" y="3200400"/>
            <a:ext cx="201168" cy="868680"/>
          </a:xfrm>
          <a:prstGeom prst="rect">
            <a:avLst/>
          </a:prstGeom>
          <a:noFill/>
          <a:ln/>
        </p:spPr>
        <p:txBody>
          <a:bodyPr wrap="square" lIns="0" tIns="0" rIns="0" bIns="0" rtlCol="0" anchor="ctr"/>
          <a:lstStyle/>
          <a:p>
            <a:pPr algn="ctr" indent="0" marL="0">
              <a:buNone/>
            </a:pPr>
            <a:r>
              <a:rPr lang="en-US" sz="2000" b="1" dirty="0">
                <a:solidFill>
                  <a:srgbClr val="80868B"/>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3694176" y="3200400"/>
            <a:ext cx="1371600" cy="868680"/>
          </a:xfrm>
          <a:prstGeom prst="roundRect">
            <a:avLst>
              <a:gd name="adj" fmla="val 9474"/>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7" name="Text 15"/>
          <p:cNvSpPr/>
          <p:nvPr/>
        </p:nvSpPr>
        <p:spPr>
          <a:xfrm>
            <a:off x="3694176" y="3200400"/>
            <a:ext cx="1371600" cy="868680"/>
          </a:xfrm>
          <a:prstGeom prst="rect">
            <a:avLst/>
          </a:prstGeom>
          <a:noFill/>
          <a:ln/>
        </p:spPr>
        <p:txBody>
          <a:bodyPr wrap="square" lIns="0" tIns="0" rIns="0" bIns="0" rtlCol="0" anchor="ctr"/>
          <a:lstStyle/>
          <a:p>
            <a:pPr algn="ctr" indent="0" marL="0">
              <a:buNone/>
            </a:pPr>
            <a:r>
              <a:rPr lang="en-US" sz="1350" b="1" dirty="0">
                <a:solidFill>
                  <a:srgbClr val="34A853"/>
                </a:solidFill>
                <a:latin typeface="Calibri" pitchFamily="34" charset="0"/>
                <a:ea typeface="Calibri" pitchFamily="34" charset="-122"/>
                <a:cs typeface="Calibri" pitchFamily="34" charset="-120"/>
              </a:rPr>
              <a:t>Computer</a:t>
            </a:r>
            <a:endParaRPr lang="en-US" sz="1350" dirty="0"/>
          </a:p>
        </p:txBody>
      </p:sp>
      <p:sp>
        <p:nvSpPr>
          <p:cNvPr id="18" name="Text 16"/>
          <p:cNvSpPr/>
          <p:nvPr/>
        </p:nvSpPr>
        <p:spPr>
          <a:xfrm>
            <a:off x="5065776" y="3200400"/>
            <a:ext cx="201168" cy="868680"/>
          </a:xfrm>
          <a:prstGeom prst="rect">
            <a:avLst/>
          </a:prstGeom>
          <a:noFill/>
          <a:ln/>
        </p:spPr>
        <p:txBody>
          <a:bodyPr wrap="square" lIns="0" tIns="0" rIns="0" bIns="0" rtlCol="0" anchor="ctr"/>
          <a:lstStyle/>
          <a:p>
            <a:pPr algn="ctr" indent="0" marL="0">
              <a:buNone/>
            </a:pPr>
            <a:r>
              <a:rPr lang="en-US" sz="2000" b="1" dirty="0">
                <a:solidFill>
                  <a:srgbClr val="80868B"/>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5266944" y="3200400"/>
            <a:ext cx="1371600" cy="868680"/>
          </a:xfrm>
          <a:prstGeom prst="roundRect">
            <a:avLst>
              <a:gd name="adj" fmla="val 9474"/>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20" name="Text 18"/>
          <p:cNvSpPr/>
          <p:nvPr/>
        </p:nvSpPr>
        <p:spPr>
          <a:xfrm>
            <a:off x="5266944" y="3200400"/>
            <a:ext cx="1371600" cy="868680"/>
          </a:xfrm>
          <a:prstGeom prst="rect">
            <a:avLst/>
          </a:prstGeom>
          <a:noFill/>
          <a:ln/>
        </p:spPr>
        <p:txBody>
          <a:bodyPr wrap="square" lIns="0" tIns="0" rIns="0" bIns="0" rtlCol="0" anchor="ctr"/>
          <a:lstStyle/>
          <a:p>
            <a:pPr algn="ctr" indent="0" marL="0">
              <a:buNone/>
            </a:pPr>
            <a:r>
              <a:rPr lang="en-US" sz="1350" b="1" dirty="0">
                <a:solidFill>
                  <a:srgbClr val="FBBC04"/>
                </a:solidFill>
                <a:latin typeface="Calibri" pitchFamily="34" charset="0"/>
                <a:ea typeface="Calibri" pitchFamily="34" charset="-122"/>
                <a:cs typeface="Calibri" pitchFamily="34" charset="-120"/>
              </a:rPr>
              <a:t>It runs!</a:t>
            </a:r>
            <a:endParaRPr lang="en-US" sz="1350" dirty="0"/>
          </a:p>
        </p:txBody>
      </p:sp>
      <p:sp>
        <p:nvSpPr>
          <p:cNvPr id="21" name="Shape 19"/>
          <p:cNvSpPr/>
          <p:nvPr/>
        </p:nvSpPr>
        <p:spPr>
          <a:xfrm>
            <a:off x="7452360" y="1691640"/>
            <a:ext cx="4160520" cy="3291840"/>
          </a:xfrm>
          <a:prstGeom prst="roundRect">
            <a:avLst>
              <a:gd name="adj" fmla="val 2500"/>
            </a:avLst>
          </a:prstGeom>
          <a:solidFill>
            <a:srgbClr val="F8F9FA"/>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22" name="Text 20"/>
          <p:cNvSpPr/>
          <p:nvPr/>
        </p:nvSpPr>
        <p:spPr>
          <a:xfrm>
            <a:off x="7726680" y="1920240"/>
            <a:ext cx="3657600" cy="365760"/>
          </a:xfrm>
          <a:prstGeom prst="rect">
            <a:avLst/>
          </a:prstGeom>
          <a:noFill/>
          <a:ln/>
        </p:spPr>
        <p:txBody>
          <a:bodyPr wrap="square" lIns="0" tIns="0" rIns="0" bIns="0" rtlCol="0" anchor="ctr"/>
          <a:lstStyle/>
          <a:p>
            <a:pPr algn="l" indent="0" marL="0">
              <a:buNone/>
            </a:pPr>
            <a:r>
              <a:rPr lang="en-US" sz="1700" b="1" dirty="0">
                <a:solidFill>
                  <a:srgbClr val="202124"/>
                </a:solidFill>
                <a:latin typeface="Georgia" pitchFamily="34" charset="0"/>
                <a:ea typeface="Georgia" pitchFamily="34" charset="-122"/>
                <a:cs typeface="Georgia" pitchFamily="34" charset="-120"/>
              </a:rPr>
              <a:t>Think of a recipe</a:t>
            </a:r>
            <a:endParaRPr lang="en-US" sz="1700" dirty="0"/>
          </a:p>
        </p:txBody>
      </p:sp>
      <p:sp>
        <p:nvSpPr>
          <p:cNvPr id="23" name="Text 21"/>
          <p:cNvSpPr/>
          <p:nvPr/>
        </p:nvSpPr>
        <p:spPr>
          <a:xfrm>
            <a:off x="7726680" y="2331720"/>
            <a:ext cx="3657600" cy="2468880"/>
          </a:xfrm>
          <a:prstGeom prst="rect">
            <a:avLst/>
          </a:prstGeom>
          <a:noFill/>
          <a:ln/>
        </p:spPr>
        <p:txBody>
          <a:bodyPr wrap="square" lIns="0" tIns="0" rIns="0" bIns="0" rtlCol="0" anchor="t"/>
          <a:lstStyle/>
          <a:p>
            <a:pPr algn="l" indent="0" marL="0">
              <a:lnSpc>
                <a:spcPct val="115000"/>
              </a:lnSpc>
              <a:buNone/>
            </a:pPr>
            <a:r>
              <a:rPr lang="en-US" sz="1450" dirty="0">
                <a:solidFill>
                  <a:srgbClr val="5F6368"/>
                </a:solidFill>
                <a:latin typeface="Calibri" pitchFamily="34" charset="0"/>
                <a:ea typeface="Calibri" pitchFamily="34" charset="-122"/>
                <a:cs typeface="Calibri" pitchFamily="34" charset="-120"/>
              </a:rPr>
              <a:t>A recipe is a list of exact steps: </a:t>
            </a:r>
            <a:pPr algn="l" indent="0" marL="0">
              <a:lnSpc>
                <a:spcPct val="115000"/>
              </a:lnSpc>
              <a:buNone/>
            </a:pPr>
            <a:r>
              <a:rPr lang="en-US" sz="1450" i="1" dirty="0">
                <a:solidFill>
                  <a:srgbClr val="5F6368"/>
                </a:solidFill>
                <a:latin typeface="Calibri" pitchFamily="34" charset="0"/>
                <a:ea typeface="Calibri" pitchFamily="34" charset="-122"/>
                <a:cs typeface="Calibri" pitchFamily="34" charset="-120"/>
              </a:rPr>
              <a:t>crack the egg, then stir, then bake.</a:t>
            </a:r>
            <a:pPr algn="l" indent="0" marL="0">
              <a:lnSpc>
                <a:spcPct val="115000"/>
              </a:lnSpc>
              <a:buNone/>
            </a:pPr>
            <a:endParaRPr lang="en-US" sz="1450" dirty="0"/>
          </a:p>
          <a:p>
            <a:pPr algn="l" indent="0" marL="0">
              <a:lnSpc>
                <a:spcPct val="115000"/>
              </a:lnSpc>
              <a:buNone/>
            </a:pPr>
            <a:endParaRPr lang="en-US" sz="1450" dirty="0"/>
          </a:p>
          <a:p>
            <a:pPr algn="l" indent="0" marL="0">
              <a:lnSpc>
                <a:spcPct val="115000"/>
              </a:lnSpc>
              <a:buNone/>
            </a:pPr>
            <a:r>
              <a:rPr lang="en-US" sz="1450" dirty="0">
                <a:solidFill>
                  <a:srgbClr val="5F6368"/>
                </a:solidFill>
                <a:latin typeface="Calibri" pitchFamily="34" charset="0"/>
                <a:ea typeface="Calibri" pitchFamily="34" charset="-122"/>
                <a:cs typeface="Calibri" pitchFamily="34" charset="-120"/>
              </a:rPr>
              <a:t>Code is a recipe for a computer. Miss a step or get the order wrong, and you get scrambled results — the computer won't guess what you meant.</a:t>
            </a:r>
            <a:endParaRPr lang="en-US" sz="1450" dirty="0"/>
          </a:p>
        </p:txBody>
      </p:sp>
      <p:sp>
        <p:nvSpPr>
          <p:cNvPr id="24" name="Text 2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25" name="Text 23"/>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EA4335"/>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EA4335"/>
                </a:solidFill>
                <a:latin typeface="Calibri" pitchFamily="34" charset="0"/>
                <a:ea typeface="Calibri" pitchFamily="34" charset="-122"/>
                <a:cs typeface="Calibri" pitchFamily="34" charset="-120"/>
              </a:rPr>
              <a:t>THE BIG IDEA</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What is a programming language?</a:t>
            </a:r>
            <a:endParaRPr lang="en-US" sz="2900" dirty="0"/>
          </a:p>
        </p:txBody>
      </p:sp>
      <p:sp>
        <p:nvSpPr>
          <p:cNvPr id="9" name="Text 7"/>
          <p:cNvSpPr/>
          <p:nvPr/>
        </p:nvSpPr>
        <p:spPr>
          <a:xfrm>
            <a:off x="548640" y="1645920"/>
            <a:ext cx="10972800" cy="1005840"/>
          </a:xfrm>
          <a:prstGeom prst="rect">
            <a:avLst/>
          </a:prstGeom>
          <a:noFill/>
          <a:ln/>
        </p:spPr>
        <p:txBody>
          <a:bodyPr wrap="square" lIns="0" tIns="0" rIns="0" bIns="0" rtlCol="0" anchor="t"/>
          <a:lstStyle/>
          <a:p>
            <a:pPr algn="l" indent="0" marL="0">
              <a:lnSpc>
                <a:spcPct val="115000"/>
              </a:lnSpc>
              <a:buNone/>
            </a:pPr>
            <a:r>
              <a:rPr lang="en-US" sz="1600" dirty="0">
                <a:solidFill>
                  <a:srgbClr val="5F6368"/>
                </a:solidFill>
                <a:latin typeface="Calibri" pitchFamily="34" charset="0"/>
                <a:ea typeface="Calibri" pitchFamily="34" charset="-122"/>
                <a:cs typeface="Calibri" pitchFamily="34" charset="-120"/>
              </a:rPr>
              <a:t>Computers really only understand 1s and 0s (“binary”). Writing that by hand would be impossible. A programming language is a friendlier, human-readable way to write instructions — which then get translated into what the machine understands.</a:t>
            </a:r>
            <a:endParaRPr lang="en-US" sz="1600" dirty="0"/>
          </a:p>
        </p:txBody>
      </p:sp>
      <p:sp>
        <p:nvSpPr>
          <p:cNvPr id="10" name="Shape 8"/>
          <p:cNvSpPr/>
          <p:nvPr/>
        </p:nvSpPr>
        <p:spPr>
          <a:xfrm>
            <a:off x="548640" y="2880360"/>
            <a:ext cx="3383280" cy="2103120"/>
          </a:xfrm>
          <a:prstGeom prst="roundRect">
            <a:avLst>
              <a:gd name="adj" fmla="val 3913"/>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1" name="Text 9"/>
          <p:cNvSpPr/>
          <p:nvPr/>
        </p:nvSpPr>
        <p:spPr>
          <a:xfrm>
            <a:off x="548640" y="3063240"/>
            <a:ext cx="3383280" cy="320040"/>
          </a:xfrm>
          <a:prstGeom prst="rect">
            <a:avLst/>
          </a:prstGeom>
          <a:noFill/>
          <a:ln/>
        </p:spPr>
        <p:txBody>
          <a:bodyPr wrap="square" lIns="0" tIns="0" rIns="0" bIns="0" rtlCol="0" anchor="ctr"/>
          <a:lstStyle/>
          <a:p>
            <a:pPr algn="ctr" indent="0" marL="0">
              <a:buNone/>
            </a:pPr>
            <a:r>
              <a:rPr lang="en-US" sz="1250" b="1" dirty="0">
                <a:solidFill>
                  <a:srgbClr val="4285F4"/>
                </a:solidFill>
                <a:latin typeface="Calibri" pitchFamily="34" charset="0"/>
                <a:ea typeface="Calibri" pitchFamily="34" charset="-122"/>
                <a:cs typeface="Calibri" pitchFamily="34" charset="-120"/>
              </a:rPr>
              <a:t>Human writes</a:t>
            </a:r>
            <a:endParaRPr lang="en-US" sz="1250" dirty="0"/>
          </a:p>
        </p:txBody>
      </p:sp>
      <p:sp>
        <p:nvSpPr>
          <p:cNvPr id="12" name="Shape 10"/>
          <p:cNvSpPr/>
          <p:nvPr/>
        </p:nvSpPr>
        <p:spPr>
          <a:xfrm>
            <a:off x="777240" y="3474720"/>
            <a:ext cx="2926080" cy="1280160"/>
          </a:xfrm>
          <a:prstGeom prst="roundRect">
            <a:avLst>
              <a:gd name="adj" fmla="val 5000"/>
            </a:avLst>
          </a:prstGeom>
          <a:solidFill>
            <a:srgbClr val="202124"/>
          </a:solidFill>
          <a:ln/>
          <a:effectLst>
            <a:outerShdw sx="100000" sy="100000" kx="0" ky="0" algn="bl" rotWithShape="0" blurRad="127000" dist="38100" dir="5400000">
              <a:srgbClr val="000000">
                <a:alpha val="25000"/>
              </a:srgbClr>
            </a:outerShdw>
          </a:effectLst>
        </p:spPr>
      </p:sp>
      <p:sp>
        <p:nvSpPr>
          <p:cNvPr id="13" name="Shape 11"/>
          <p:cNvSpPr/>
          <p:nvPr/>
        </p:nvSpPr>
        <p:spPr>
          <a:xfrm>
            <a:off x="978408" y="3639312"/>
            <a:ext cx="91440" cy="91440"/>
          </a:xfrm>
          <a:prstGeom prst="ellipse">
            <a:avLst/>
          </a:prstGeom>
          <a:solidFill>
            <a:srgbClr val="EA4335"/>
          </a:solidFill>
          <a:ln/>
        </p:spPr>
      </p:sp>
      <p:sp>
        <p:nvSpPr>
          <p:cNvPr id="14" name="Shape 12"/>
          <p:cNvSpPr/>
          <p:nvPr/>
        </p:nvSpPr>
        <p:spPr>
          <a:xfrm>
            <a:off x="1179576" y="3639312"/>
            <a:ext cx="91440" cy="91440"/>
          </a:xfrm>
          <a:prstGeom prst="ellipse">
            <a:avLst/>
          </a:prstGeom>
          <a:solidFill>
            <a:srgbClr val="FBBC04"/>
          </a:solidFill>
          <a:ln/>
        </p:spPr>
      </p:sp>
      <p:sp>
        <p:nvSpPr>
          <p:cNvPr id="15" name="Shape 13"/>
          <p:cNvSpPr/>
          <p:nvPr/>
        </p:nvSpPr>
        <p:spPr>
          <a:xfrm>
            <a:off x="1380744" y="3639312"/>
            <a:ext cx="91440" cy="91440"/>
          </a:xfrm>
          <a:prstGeom prst="ellipse">
            <a:avLst/>
          </a:prstGeom>
          <a:solidFill>
            <a:srgbClr val="34A853"/>
          </a:solidFill>
          <a:ln/>
        </p:spPr>
      </p:sp>
      <p:sp>
        <p:nvSpPr>
          <p:cNvPr id="16" name="Text 14"/>
          <p:cNvSpPr/>
          <p:nvPr/>
        </p:nvSpPr>
        <p:spPr>
          <a:xfrm>
            <a:off x="1005840" y="3931920"/>
            <a:ext cx="2468880" cy="640080"/>
          </a:xfrm>
          <a:prstGeom prst="rect">
            <a:avLst/>
          </a:prstGeom>
          <a:noFill/>
          <a:ln/>
        </p:spPr>
        <p:txBody>
          <a:bodyPr wrap="square" lIns="0" tIns="0" rIns="0" bIns="0" rtlCol="0" anchor="t"/>
          <a:lstStyle/>
          <a:p>
            <a:pPr algn="l" indent="0" marL="0">
              <a:lnSpc>
                <a:spcPct val="112000"/>
              </a:lnSpc>
              <a:buNone/>
            </a:pPr>
            <a:r>
              <a:rPr lang="en-US" sz="1400" dirty="0">
                <a:solidFill>
                  <a:srgbClr val="E8EAED"/>
                </a:solidFill>
                <a:latin typeface="Courier New" pitchFamily="34" charset="0"/>
                <a:ea typeface="Courier New" pitchFamily="34" charset="-122"/>
                <a:cs typeface="Courier New" pitchFamily="34" charset="-120"/>
              </a:rPr>
              <a:t>print("Hi!")</a:t>
            </a:r>
            <a:endParaRPr lang="en-US" sz="1400" dirty="0"/>
          </a:p>
        </p:txBody>
      </p:sp>
      <p:sp>
        <p:nvSpPr>
          <p:cNvPr id="17" name="Text 15"/>
          <p:cNvSpPr/>
          <p:nvPr/>
        </p:nvSpPr>
        <p:spPr>
          <a:xfrm>
            <a:off x="3977640" y="2880360"/>
            <a:ext cx="640080" cy="2103120"/>
          </a:xfrm>
          <a:prstGeom prst="rect">
            <a:avLst/>
          </a:prstGeom>
          <a:noFill/>
          <a:ln/>
        </p:spPr>
        <p:txBody>
          <a:bodyPr wrap="square" lIns="0" tIns="0" rIns="0" bIns="0" rtlCol="0" anchor="ctr"/>
          <a:lstStyle/>
          <a:p>
            <a:pPr algn="ctr" indent="0" marL="0">
              <a:buNone/>
            </a:pPr>
            <a:r>
              <a:rPr lang="en-US" sz="3000" b="1" dirty="0">
                <a:solidFill>
                  <a:srgbClr val="80868B"/>
                </a:solidFill>
                <a:latin typeface="Calibri" pitchFamily="34" charset="0"/>
                <a:ea typeface="Calibri" pitchFamily="34" charset="-122"/>
                <a:cs typeface="Calibri" pitchFamily="34" charset="-120"/>
              </a:rPr>
              <a:t>→</a:t>
            </a:r>
            <a:endParaRPr lang="en-US" sz="3000" dirty="0"/>
          </a:p>
        </p:txBody>
      </p:sp>
      <p:sp>
        <p:nvSpPr>
          <p:cNvPr id="18" name="Shape 16"/>
          <p:cNvSpPr/>
          <p:nvPr/>
        </p:nvSpPr>
        <p:spPr>
          <a:xfrm>
            <a:off x="4663440" y="2880360"/>
            <a:ext cx="3383280" cy="2103120"/>
          </a:xfrm>
          <a:prstGeom prst="roundRect">
            <a:avLst>
              <a:gd name="adj" fmla="val 3913"/>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9" name="Text 17"/>
          <p:cNvSpPr/>
          <p:nvPr/>
        </p:nvSpPr>
        <p:spPr>
          <a:xfrm>
            <a:off x="4663440" y="3063240"/>
            <a:ext cx="3383280" cy="320040"/>
          </a:xfrm>
          <a:prstGeom prst="rect">
            <a:avLst/>
          </a:prstGeom>
          <a:noFill/>
          <a:ln/>
        </p:spPr>
        <p:txBody>
          <a:bodyPr wrap="square" lIns="0" tIns="0" rIns="0" bIns="0" rtlCol="0" anchor="ctr"/>
          <a:lstStyle/>
          <a:p>
            <a:pPr algn="ctr" indent="0" marL="0">
              <a:buNone/>
            </a:pPr>
            <a:r>
              <a:rPr lang="en-US" sz="1250" b="1" dirty="0">
                <a:solidFill>
                  <a:srgbClr val="34A853"/>
                </a:solidFill>
                <a:latin typeface="Calibri" pitchFamily="34" charset="0"/>
                <a:ea typeface="Calibri" pitchFamily="34" charset="-122"/>
                <a:cs typeface="Calibri" pitchFamily="34" charset="-120"/>
              </a:rPr>
              <a:t>Computer gets</a:t>
            </a:r>
            <a:endParaRPr lang="en-US" sz="1250" dirty="0"/>
          </a:p>
        </p:txBody>
      </p:sp>
      <p:sp>
        <p:nvSpPr>
          <p:cNvPr id="20" name="Shape 18"/>
          <p:cNvSpPr/>
          <p:nvPr/>
        </p:nvSpPr>
        <p:spPr>
          <a:xfrm>
            <a:off x="4892040" y="3474720"/>
            <a:ext cx="2926080" cy="1280160"/>
          </a:xfrm>
          <a:prstGeom prst="roundRect">
            <a:avLst>
              <a:gd name="adj" fmla="val 5000"/>
            </a:avLst>
          </a:prstGeom>
          <a:solidFill>
            <a:srgbClr val="202124"/>
          </a:solidFill>
          <a:ln/>
          <a:effectLst>
            <a:outerShdw sx="100000" sy="100000" kx="0" ky="0" algn="bl" rotWithShape="0" blurRad="127000" dist="38100" dir="5400000">
              <a:srgbClr val="000000">
                <a:alpha val="25000"/>
              </a:srgbClr>
            </a:outerShdw>
          </a:effectLst>
        </p:spPr>
      </p:sp>
      <p:sp>
        <p:nvSpPr>
          <p:cNvPr id="21" name="Shape 19"/>
          <p:cNvSpPr/>
          <p:nvPr/>
        </p:nvSpPr>
        <p:spPr>
          <a:xfrm>
            <a:off x="5093208" y="3639312"/>
            <a:ext cx="91440" cy="91440"/>
          </a:xfrm>
          <a:prstGeom prst="ellipse">
            <a:avLst/>
          </a:prstGeom>
          <a:solidFill>
            <a:srgbClr val="EA4335"/>
          </a:solidFill>
          <a:ln/>
        </p:spPr>
      </p:sp>
      <p:sp>
        <p:nvSpPr>
          <p:cNvPr id="22" name="Shape 20"/>
          <p:cNvSpPr/>
          <p:nvPr/>
        </p:nvSpPr>
        <p:spPr>
          <a:xfrm>
            <a:off x="5294376" y="3639312"/>
            <a:ext cx="91440" cy="91440"/>
          </a:xfrm>
          <a:prstGeom prst="ellipse">
            <a:avLst/>
          </a:prstGeom>
          <a:solidFill>
            <a:srgbClr val="FBBC04"/>
          </a:solidFill>
          <a:ln/>
        </p:spPr>
      </p:sp>
      <p:sp>
        <p:nvSpPr>
          <p:cNvPr id="23" name="Shape 21"/>
          <p:cNvSpPr/>
          <p:nvPr/>
        </p:nvSpPr>
        <p:spPr>
          <a:xfrm>
            <a:off x="5495544" y="3639312"/>
            <a:ext cx="91440" cy="91440"/>
          </a:xfrm>
          <a:prstGeom prst="ellipse">
            <a:avLst/>
          </a:prstGeom>
          <a:solidFill>
            <a:srgbClr val="34A853"/>
          </a:solidFill>
          <a:ln/>
        </p:spPr>
      </p:sp>
      <p:sp>
        <p:nvSpPr>
          <p:cNvPr id="24" name="Text 22"/>
          <p:cNvSpPr/>
          <p:nvPr/>
        </p:nvSpPr>
        <p:spPr>
          <a:xfrm>
            <a:off x="5120640" y="3931920"/>
            <a:ext cx="2468880" cy="640080"/>
          </a:xfrm>
          <a:prstGeom prst="rect">
            <a:avLst/>
          </a:prstGeom>
          <a:noFill/>
          <a:ln/>
        </p:spPr>
        <p:txBody>
          <a:bodyPr wrap="square" lIns="0" tIns="0" rIns="0" bIns="0" rtlCol="0" anchor="t"/>
          <a:lstStyle/>
          <a:p>
            <a:pPr algn="l" indent="0" marL="0">
              <a:lnSpc>
                <a:spcPct val="112000"/>
              </a:lnSpc>
              <a:buNone/>
            </a:pPr>
            <a:r>
              <a:rPr lang="en-US" sz="1300" dirty="0">
                <a:solidFill>
                  <a:srgbClr val="E8EAED"/>
                </a:solidFill>
                <a:latin typeface="Courier New" pitchFamily="34" charset="0"/>
                <a:ea typeface="Courier New" pitchFamily="34" charset="-122"/>
                <a:cs typeface="Courier New" pitchFamily="34" charset="-120"/>
              </a:rPr>
              <a:t>01001000</a:t>
            </a:r>
            <a:endParaRPr lang="en-US" sz="1300" dirty="0"/>
          </a:p>
          <a:p>
            <a:pPr algn="l" indent="0" marL="0">
              <a:lnSpc>
                <a:spcPct val="112000"/>
              </a:lnSpc>
              <a:buNone/>
            </a:pPr>
            <a:r>
              <a:rPr lang="en-US" sz="1300" dirty="0">
                <a:solidFill>
                  <a:srgbClr val="E8EAED"/>
                </a:solidFill>
                <a:latin typeface="Courier New" pitchFamily="34" charset="0"/>
                <a:ea typeface="Courier New" pitchFamily="34" charset="-122"/>
                <a:cs typeface="Courier New" pitchFamily="34" charset="-120"/>
              </a:rPr>
              <a:t>01101001 ...</a:t>
            </a:r>
            <a:endParaRPr lang="en-US" sz="1300" dirty="0"/>
          </a:p>
        </p:txBody>
      </p:sp>
      <p:sp>
        <p:nvSpPr>
          <p:cNvPr id="25" name="Text 23"/>
          <p:cNvSpPr/>
          <p:nvPr/>
        </p:nvSpPr>
        <p:spPr>
          <a:xfrm>
            <a:off x="8092440" y="2880360"/>
            <a:ext cx="640080" cy="2103120"/>
          </a:xfrm>
          <a:prstGeom prst="rect">
            <a:avLst/>
          </a:prstGeom>
          <a:noFill/>
          <a:ln/>
        </p:spPr>
        <p:txBody>
          <a:bodyPr wrap="square" lIns="0" tIns="0" rIns="0" bIns="0" rtlCol="0" anchor="ctr"/>
          <a:lstStyle/>
          <a:p>
            <a:pPr algn="ctr" indent="0" marL="0">
              <a:buNone/>
            </a:pPr>
            <a:r>
              <a:rPr lang="en-US" sz="3000" b="1" dirty="0">
                <a:solidFill>
                  <a:srgbClr val="80868B"/>
                </a:solidFill>
                <a:latin typeface="Calibri" pitchFamily="34" charset="0"/>
                <a:ea typeface="Calibri" pitchFamily="34" charset="-122"/>
                <a:cs typeface="Calibri" pitchFamily="34" charset="-120"/>
              </a:rPr>
              <a:t>→</a:t>
            </a:r>
            <a:endParaRPr lang="en-US" sz="3000" dirty="0"/>
          </a:p>
        </p:txBody>
      </p:sp>
      <p:sp>
        <p:nvSpPr>
          <p:cNvPr id="26" name="Shape 24"/>
          <p:cNvSpPr/>
          <p:nvPr/>
        </p:nvSpPr>
        <p:spPr>
          <a:xfrm>
            <a:off x="8778240" y="2880360"/>
            <a:ext cx="2834640" cy="2103120"/>
          </a:xfrm>
          <a:prstGeom prst="roundRect">
            <a:avLst>
              <a:gd name="adj" fmla="val 3913"/>
            </a:avLst>
          </a:prstGeom>
          <a:solidFill>
            <a:srgbClr val="F8F9FA"/>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27" name="Text 25"/>
          <p:cNvSpPr/>
          <p:nvPr/>
        </p:nvSpPr>
        <p:spPr>
          <a:xfrm>
            <a:off x="8778240" y="3063240"/>
            <a:ext cx="2834640" cy="320040"/>
          </a:xfrm>
          <a:prstGeom prst="rect">
            <a:avLst/>
          </a:prstGeom>
          <a:noFill/>
          <a:ln/>
        </p:spPr>
        <p:txBody>
          <a:bodyPr wrap="square" lIns="0" tIns="0" rIns="0" bIns="0" rtlCol="0" anchor="ctr"/>
          <a:lstStyle/>
          <a:p>
            <a:pPr algn="ctr" indent="0" marL="0">
              <a:buNone/>
            </a:pPr>
            <a:r>
              <a:rPr lang="en-US" sz="1250" b="1" dirty="0">
                <a:solidFill>
                  <a:srgbClr val="EA4335"/>
                </a:solidFill>
                <a:latin typeface="Calibri" pitchFamily="34" charset="0"/>
                <a:ea typeface="Calibri" pitchFamily="34" charset="-122"/>
                <a:cs typeface="Calibri" pitchFamily="34" charset="-120"/>
              </a:rPr>
              <a:t>You see</a:t>
            </a:r>
            <a:endParaRPr lang="en-US" sz="1250" dirty="0"/>
          </a:p>
        </p:txBody>
      </p:sp>
      <p:sp>
        <p:nvSpPr>
          <p:cNvPr id="28" name="Text 26"/>
          <p:cNvSpPr/>
          <p:nvPr/>
        </p:nvSpPr>
        <p:spPr>
          <a:xfrm>
            <a:off x="8778240" y="3566160"/>
            <a:ext cx="2834640" cy="1005840"/>
          </a:xfrm>
          <a:prstGeom prst="rect">
            <a:avLst/>
          </a:prstGeom>
          <a:noFill/>
          <a:ln/>
        </p:spPr>
        <p:txBody>
          <a:bodyPr wrap="square" lIns="0" tIns="0" rIns="0" bIns="0" rtlCol="0" anchor="ctr"/>
          <a:lstStyle/>
          <a:p>
            <a:pPr algn="ctr" indent="0" marL="0">
              <a:buNone/>
            </a:pPr>
            <a:r>
              <a:rPr lang="en-US" sz="3400" b="1" dirty="0">
                <a:solidFill>
                  <a:srgbClr val="202124"/>
                </a:solidFill>
                <a:latin typeface="Georgia" pitchFamily="34" charset="0"/>
                <a:ea typeface="Georgia" pitchFamily="34" charset="-122"/>
                <a:cs typeface="Georgia" pitchFamily="34" charset="-120"/>
              </a:rPr>
              <a:t>Hi!</a:t>
            </a:r>
            <a:endParaRPr lang="en-US" sz="3400" dirty="0"/>
          </a:p>
        </p:txBody>
      </p:sp>
      <p:sp>
        <p:nvSpPr>
          <p:cNvPr id="29" name="Text 27"/>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30" name="Text 28"/>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34A853"/>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34A853"/>
                </a:solidFill>
                <a:latin typeface="Calibri" pitchFamily="34" charset="0"/>
                <a:ea typeface="Calibri" pitchFamily="34" charset="-122"/>
                <a:cs typeface="Calibri" pitchFamily="34" charset="-120"/>
              </a:rPr>
              <a:t>WHY IT MATTERS</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Code is quietly running your whole world</a:t>
            </a:r>
            <a:endParaRPr lang="en-US" sz="2900" dirty="0"/>
          </a:p>
        </p:txBody>
      </p:sp>
      <p:sp>
        <p:nvSpPr>
          <p:cNvPr id="9" name="Shape 7"/>
          <p:cNvSpPr/>
          <p:nvPr/>
        </p:nvSpPr>
        <p:spPr>
          <a:xfrm>
            <a:off x="548640" y="1737360"/>
            <a:ext cx="3474720" cy="1417320"/>
          </a:xfrm>
          <a:prstGeom prst="roundRect">
            <a:avLst>
              <a:gd name="adj" fmla="val 5806"/>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0" name="Shape 8"/>
          <p:cNvSpPr/>
          <p:nvPr/>
        </p:nvSpPr>
        <p:spPr>
          <a:xfrm>
            <a:off x="548640" y="1874520"/>
            <a:ext cx="82296" cy="1143000"/>
          </a:xfrm>
          <a:prstGeom prst="rect">
            <a:avLst/>
          </a:prstGeom>
          <a:solidFill>
            <a:srgbClr val="4285F4"/>
          </a:solidFill>
          <a:ln/>
        </p:spPr>
      </p:sp>
      <p:sp>
        <p:nvSpPr>
          <p:cNvPr id="11" name="Shape 9"/>
          <p:cNvSpPr/>
          <p:nvPr/>
        </p:nvSpPr>
        <p:spPr>
          <a:xfrm>
            <a:off x="804672" y="2148840"/>
            <a:ext cx="566928" cy="566928"/>
          </a:xfrm>
          <a:prstGeom prst="ellipse">
            <a:avLst/>
          </a:prstGeom>
          <a:solidFill>
            <a:srgbClr val="4285F4"/>
          </a:solidFill>
          <a:ln/>
        </p:spPr>
      </p:sp>
      <p:sp>
        <p:nvSpPr>
          <p:cNvPr id="12" name="Text 10"/>
          <p:cNvSpPr/>
          <p:nvPr/>
        </p:nvSpPr>
        <p:spPr>
          <a:xfrm>
            <a:off x="804672" y="2148840"/>
            <a:ext cx="566928" cy="566928"/>
          </a:xfrm>
          <a:prstGeom prst="rect">
            <a:avLst/>
          </a:prstGeom>
          <a:noFill/>
          <a:ln/>
        </p:spPr>
        <p:txBody>
          <a:bodyPr wrap="square" lIns="0" tIns="0" rIns="0" bIns="0" rtlCol="0" anchor="ctr"/>
          <a:lstStyle/>
          <a:p>
            <a:pPr algn="ctr" indent="0" marL="0">
              <a:buNone/>
            </a:pPr>
            <a:r>
              <a:rPr lang="en-US" sz="1302" b="1" dirty="0">
                <a:solidFill>
                  <a:srgbClr val="FFFFFF"/>
                </a:solidFill>
                <a:latin typeface="Georgia" pitchFamily="34" charset="0"/>
                <a:ea typeface="Georgia" pitchFamily="34" charset="-122"/>
                <a:cs typeface="Georgia" pitchFamily="34" charset="-120"/>
              </a:rPr>
              <a:t>V</a:t>
            </a:r>
            <a:endParaRPr lang="en-US" sz="1302" dirty="0"/>
          </a:p>
        </p:txBody>
      </p:sp>
      <p:sp>
        <p:nvSpPr>
          <p:cNvPr id="13" name="Text 11"/>
          <p:cNvSpPr/>
          <p:nvPr/>
        </p:nvSpPr>
        <p:spPr>
          <a:xfrm>
            <a:off x="1508760" y="1938528"/>
            <a:ext cx="2423160" cy="411480"/>
          </a:xfrm>
          <a:prstGeom prst="rect">
            <a:avLst/>
          </a:prstGeom>
          <a:noFill/>
          <a:ln/>
        </p:spPr>
        <p:txBody>
          <a:bodyPr wrap="square" lIns="0" tIns="0" rIns="0" bIns="0" rtlCol="0" anchor="ctr"/>
          <a:lstStyle/>
          <a:p>
            <a:pPr algn="l" indent="0" marL="0">
              <a:buNone/>
            </a:pPr>
            <a:r>
              <a:rPr lang="en-US" sz="1500" b="1" dirty="0">
                <a:solidFill>
                  <a:srgbClr val="202124"/>
                </a:solidFill>
                <a:latin typeface="Calibri" pitchFamily="34" charset="0"/>
                <a:ea typeface="Calibri" pitchFamily="34" charset="-122"/>
                <a:cs typeface="Calibri" pitchFamily="34" charset="-120"/>
              </a:rPr>
              <a:t>Video games</a:t>
            </a:r>
            <a:endParaRPr lang="en-US" sz="1500" dirty="0"/>
          </a:p>
        </p:txBody>
      </p:sp>
      <p:sp>
        <p:nvSpPr>
          <p:cNvPr id="14" name="Text 12"/>
          <p:cNvSpPr/>
          <p:nvPr/>
        </p:nvSpPr>
        <p:spPr>
          <a:xfrm>
            <a:off x="1463040" y="2359152"/>
            <a:ext cx="2423160" cy="685800"/>
          </a:xfrm>
          <a:prstGeom prst="rect">
            <a:avLst/>
          </a:prstGeom>
          <a:noFill/>
          <a:ln/>
        </p:spPr>
        <p:txBody>
          <a:bodyPr wrap="square" lIns="0" tIns="0" rIns="0" bIns="0" rtlCol="0" anchor="t"/>
          <a:lstStyle/>
          <a:p>
            <a:pPr algn="l" indent="0" marL="0">
              <a:lnSpc>
                <a:spcPct val="105000"/>
              </a:lnSpc>
              <a:buNone/>
            </a:pPr>
            <a:r>
              <a:rPr lang="en-US" sz="1200" dirty="0">
                <a:solidFill>
                  <a:srgbClr val="5F6368"/>
                </a:solidFill>
                <a:latin typeface="Calibri" pitchFamily="34" charset="0"/>
                <a:ea typeface="Calibri" pitchFamily="34" charset="-122"/>
                <a:cs typeface="Calibri" pitchFamily="34" charset="-120"/>
              </a:rPr>
              <a:t>Every move, score, and enemy is code.</a:t>
            </a:r>
            <a:endParaRPr lang="en-US" sz="1200" dirty="0"/>
          </a:p>
        </p:txBody>
      </p:sp>
      <p:sp>
        <p:nvSpPr>
          <p:cNvPr id="15" name="Shape 13"/>
          <p:cNvSpPr/>
          <p:nvPr/>
        </p:nvSpPr>
        <p:spPr>
          <a:xfrm>
            <a:off x="4251960" y="1737360"/>
            <a:ext cx="3474720" cy="1417320"/>
          </a:xfrm>
          <a:prstGeom prst="roundRect">
            <a:avLst>
              <a:gd name="adj" fmla="val 5806"/>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6" name="Shape 14"/>
          <p:cNvSpPr/>
          <p:nvPr/>
        </p:nvSpPr>
        <p:spPr>
          <a:xfrm>
            <a:off x="4251960" y="1874520"/>
            <a:ext cx="82296" cy="1143000"/>
          </a:xfrm>
          <a:prstGeom prst="rect">
            <a:avLst/>
          </a:prstGeom>
          <a:solidFill>
            <a:srgbClr val="EA4335"/>
          </a:solidFill>
          <a:ln/>
        </p:spPr>
      </p:sp>
      <p:sp>
        <p:nvSpPr>
          <p:cNvPr id="17" name="Shape 15"/>
          <p:cNvSpPr/>
          <p:nvPr/>
        </p:nvSpPr>
        <p:spPr>
          <a:xfrm>
            <a:off x="4507992" y="2148840"/>
            <a:ext cx="566928" cy="566928"/>
          </a:xfrm>
          <a:prstGeom prst="ellipse">
            <a:avLst/>
          </a:prstGeom>
          <a:solidFill>
            <a:srgbClr val="EA4335"/>
          </a:solidFill>
          <a:ln/>
        </p:spPr>
      </p:sp>
      <p:sp>
        <p:nvSpPr>
          <p:cNvPr id="18" name="Text 16"/>
          <p:cNvSpPr/>
          <p:nvPr/>
        </p:nvSpPr>
        <p:spPr>
          <a:xfrm>
            <a:off x="4507992" y="2148840"/>
            <a:ext cx="566928" cy="566928"/>
          </a:xfrm>
          <a:prstGeom prst="rect">
            <a:avLst/>
          </a:prstGeom>
          <a:noFill/>
          <a:ln/>
        </p:spPr>
        <p:txBody>
          <a:bodyPr wrap="square" lIns="0" tIns="0" rIns="0" bIns="0" rtlCol="0" anchor="ctr"/>
          <a:lstStyle/>
          <a:p>
            <a:pPr algn="ctr" indent="0" marL="0">
              <a:buNone/>
            </a:pPr>
            <a:r>
              <a:rPr lang="en-US" sz="1302" b="1" dirty="0">
                <a:solidFill>
                  <a:srgbClr val="FFFFFF"/>
                </a:solidFill>
                <a:latin typeface="Georgia" pitchFamily="34" charset="0"/>
                <a:ea typeface="Georgia" pitchFamily="34" charset="-122"/>
                <a:cs typeface="Georgia" pitchFamily="34" charset="-120"/>
              </a:rPr>
              <a:t>A</a:t>
            </a:r>
            <a:endParaRPr lang="en-US" sz="1302" dirty="0"/>
          </a:p>
        </p:txBody>
      </p:sp>
      <p:sp>
        <p:nvSpPr>
          <p:cNvPr id="19" name="Text 17"/>
          <p:cNvSpPr/>
          <p:nvPr/>
        </p:nvSpPr>
        <p:spPr>
          <a:xfrm>
            <a:off x="5212080" y="1938528"/>
            <a:ext cx="2423160" cy="411480"/>
          </a:xfrm>
          <a:prstGeom prst="rect">
            <a:avLst/>
          </a:prstGeom>
          <a:noFill/>
          <a:ln/>
        </p:spPr>
        <p:txBody>
          <a:bodyPr wrap="square" lIns="0" tIns="0" rIns="0" bIns="0" rtlCol="0" anchor="ctr"/>
          <a:lstStyle/>
          <a:p>
            <a:pPr algn="l" indent="0" marL="0">
              <a:buNone/>
            </a:pPr>
            <a:r>
              <a:rPr lang="en-US" sz="1500" b="1" dirty="0">
                <a:solidFill>
                  <a:srgbClr val="202124"/>
                </a:solidFill>
                <a:latin typeface="Calibri" pitchFamily="34" charset="0"/>
                <a:ea typeface="Calibri" pitchFamily="34" charset="-122"/>
                <a:cs typeface="Calibri" pitchFamily="34" charset="-120"/>
              </a:rPr>
              <a:t>Apps &amp; phones</a:t>
            </a:r>
            <a:endParaRPr lang="en-US" sz="1500" dirty="0"/>
          </a:p>
        </p:txBody>
      </p:sp>
      <p:sp>
        <p:nvSpPr>
          <p:cNvPr id="20" name="Text 18"/>
          <p:cNvSpPr/>
          <p:nvPr/>
        </p:nvSpPr>
        <p:spPr>
          <a:xfrm>
            <a:off x="5166360" y="2359152"/>
            <a:ext cx="2423160" cy="685800"/>
          </a:xfrm>
          <a:prstGeom prst="rect">
            <a:avLst/>
          </a:prstGeom>
          <a:noFill/>
          <a:ln/>
        </p:spPr>
        <p:txBody>
          <a:bodyPr wrap="square" lIns="0" tIns="0" rIns="0" bIns="0" rtlCol="0" anchor="t"/>
          <a:lstStyle/>
          <a:p>
            <a:pPr algn="l" indent="0" marL="0">
              <a:lnSpc>
                <a:spcPct val="105000"/>
              </a:lnSpc>
              <a:buNone/>
            </a:pPr>
            <a:r>
              <a:rPr lang="en-US" sz="1200" dirty="0">
                <a:solidFill>
                  <a:srgbClr val="5F6368"/>
                </a:solidFill>
                <a:latin typeface="Calibri" pitchFamily="34" charset="0"/>
                <a:ea typeface="Calibri" pitchFamily="34" charset="-122"/>
                <a:cs typeface="Calibri" pitchFamily="34" charset="-120"/>
              </a:rPr>
              <a:t>TikTok, YouTube, messages — all code.</a:t>
            </a:r>
            <a:endParaRPr lang="en-US" sz="1200" dirty="0"/>
          </a:p>
        </p:txBody>
      </p:sp>
      <p:sp>
        <p:nvSpPr>
          <p:cNvPr id="21" name="Shape 19"/>
          <p:cNvSpPr/>
          <p:nvPr/>
        </p:nvSpPr>
        <p:spPr>
          <a:xfrm>
            <a:off x="7955280" y="1737360"/>
            <a:ext cx="3474720" cy="1417320"/>
          </a:xfrm>
          <a:prstGeom prst="roundRect">
            <a:avLst>
              <a:gd name="adj" fmla="val 5806"/>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22" name="Shape 20"/>
          <p:cNvSpPr/>
          <p:nvPr/>
        </p:nvSpPr>
        <p:spPr>
          <a:xfrm>
            <a:off x="7955280" y="1874520"/>
            <a:ext cx="82296" cy="1143000"/>
          </a:xfrm>
          <a:prstGeom prst="rect">
            <a:avLst/>
          </a:prstGeom>
          <a:solidFill>
            <a:srgbClr val="34A853"/>
          </a:solidFill>
          <a:ln/>
        </p:spPr>
      </p:sp>
      <p:sp>
        <p:nvSpPr>
          <p:cNvPr id="23" name="Shape 21"/>
          <p:cNvSpPr/>
          <p:nvPr/>
        </p:nvSpPr>
        <p:spPr>
          <a:xfrm>
            <a:off x="8211312" y="2148840"/>
            <a:ext cx="566928" cy="566928"/>
          </a:xfrm>
          <a:prstGeom prst="ellipse">
            <a:avLst/>
          </a:prstGeom>
          <a:solidFill>
            <a:srgbClr val="34A853"/>
          </a:solidFill>
          <a:ln/>
        </p:spPr>
      </p:sp>
      <p:sp>
        <p:nvSpPr>
          <p:cNvPr id="24" name="Text 22"/>
          <p:cNvSpPr/>
          <p:nvPr/>
        </p:nvSpPr>
        <p:spPr>
          <a:xfrm>
            <a:off x="8211312" y="2148840"/>
            <a:ext cx="566928" cy="566928"/>
          </a:xfrm>
          <a:prstGeom prst="rect">
            <a:avLst/>
          </a:prstGeom>
          <a:noFill/>
          <a:ln/>
        </p:spPr>
        <p:txBody>
          <a:bodyPr wrap="square" lIns="0" tIns="0" rIns="0" bIns="0" rtlCol="0" anchor="ctr"/>
          <a:lstStyle/>
          <a:p>
            <a:pPr algn="ctr" indent="0" marL="0">
              <a:buNone/>
            </a:pPr>
            <a:r>
              <a:rPr lang="en-US" sz="1302" b="1" dirty="0">
                <a:solidFill>
                  <a:srgbClr val="FFFFFF"/>
                </a:solidFill>
                <a:latin typeface="Georgia" pitchFamily="34" charset="0"/>
                <a:ea typeface="Georgia" pitchFamily="34" charset="-122"/>
                <a:cs typeface="Georgia" pitchFamily="34" charset="-120"/>
              </a:rPr>
              <a:t>S</a:t>
            </a:r>
            <a:endParaRPr lang="en-US" sz="1302" dirty="0"/>
          </a:p>
        </p:txBody>
      </p:sp>
      <p:sp>
        <p:nvSpPr>
          <p:cNvPr id="25" name="Text 23"/>
          <p:cNvSpPr/>
          <p:nvPr/>
        </p:nvSpPr>
        <p:spPr>
          <a:xfrm>
            <a:off x="8915400" y="1938528"/>
            <a:ext cx="2423160" cy="411480"/>
          </a:xfrm>
          <a:prstGeom prst="rect">
            <a:avLst/>
          </a:prstGeom>
          <a:noFill/>
          <a:ln/>
        </p:spPr>
        <p:txBody>
          <a:bodyPr wrap="square" lIns="0" tIns="0" rIns="0" bIns="0" rtlCol="0" anchor="ctr"/>
          <a:lstStyle/>
          <a:p>
            <a:pPr algn="l" indent="0" marL="0">
              <a:buNone/>
            </a:pPr>
            <a:r>
              <a:rPr lang="en-US" sz="1500" b="1" dirty="0">
                <a:solidFill>
                  <a:srgbClr val="202124"/>
                </a:solidFill>
                <a:latin typeface="Calibri" pitchFamily="34" charset="0"/>
                <a:ea typeface="Calibri" pitchFamily="34" charset="-122"/>
                <a:cs typeface="Calibri" pitchFamily="34" charset="-120"/>
              </a:rPr>
              <a:t>Space rockets</a:t>
            </a:r>
            <a:endParaRPr lang="en-US" sz="1500" dirty="0"/>
          </a:p>
        </p:txBody>
      </p:sp>
      <p:sp>
        <p:nvSpPr>
          <p:cNvPr id="26" name="Text 24"/>
          <p:cNvSpPr/>
          <p:nvPr/>
        </p:nvSpPr>
        <p:spPr>
          <a:xfrm>
            <a:off x="8869680" y="2359152"/>
            <a:ext cx="2423160" cy="685800"/>
          </a:xfrm>
          <a:prstGeom prst="rect">
            <a:avLst/>
          </a:prstGeom>
          <a:noFill/>
          <a:ln/>
        </p:spPr>
        <p:txBody>
          <a:bodyPr wrap="square" lIns="0" tIns="0" rIns="0" bIns="0" rtlCol="0" anchor="t"/>
          <a:lstStyle/>
          <a:p>
            <a:pPr algn="l" indent="0" marL="0">
              <a:lnSpc>
                <a:spcPct val="105000"/>
              </a:lnSpc>
              <a:buNone/>
            </a:pPr>
            <a:r>
              <a:rPr lang="en-US" sz="1200" dirty="0">
                <a:solidFill>
                  <a:srgbClr val="5F6368"/>
                </a:solidFill>
                <a:latin typeface="Calibri" pitchFamily="34" charset="0"/>
                <a:ea typeface="Calibri" pitchFamily="34" charset="-122"/>
                <a:cs typeface="Calibri" pitchFamily="34" charset="-120"/>
              </a:rPr>
              <a:t>Guidance and landing systems are code.</a:t>
            </a:r>
            <a:endParaRPr lang="en-US" sz="1200" dirty="0"/>
          </a:p>
        </p:txBody>
      </p:sp>
      <p:sp>
        <p:nvSpPr>
          <p:cNvPr id="27" name="Shape 25"/>
          <p:cNvSpPr/>
          <p:nvPr/>
        </p:nvSpPr>
        <p:spPr>
          <a:xfrm>
            <a:off x="548640" y="3337560"/>
            <a:ext cx="3474720" cy="1417320"/>
          </a:xfrm>
          <a:prstGeom prst="roundRect">
            <a:avLst>
              <a:gd name="adj" fmla="val 5806"/>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28" name="Shape 26"/>
          <p:cNvSpPr/>
          <p:nvPr/>
        </p:nvSpPr>
        <p:spPr>
          <a:xfrm>
            <a:off x="548640" y="3474720"/>
            <a:ext cx="82296" cy="1143000"/>
          </a:xfrm>
          <a:prstGeom prst="rect">
            <a:avLst/>
          </a:prstGeom>
          <a:solidFill>
            <a:srgbClr val="FBBC04"/>
          </a:solidFill>
          <a:ln/>
        </p:spPr>
      </p:sp>
      <p:sp>
        <p:nvSpPr>
          <p:cNvPr id="29" name="Shape 27"/>
          <p:cNvSpPr/>
          <p:nvPr/>
        </p:nvSpPr>
        <p:spPr>
          <a:xfrm>
            <a:off x="804672" y="3749040"/>
            <a:ext cx="566928" cy="566928"/>
          </a:xfrm>
          <a:prstGeom prst="ellipse">
            <a:avLst/>
          </a:prstGeom>
          <a:solidFill>
            <a:srgbClr val="FBBC04"/>
          </a:solidFill>
          <a:ln/>
        </p:spPr>
      </p:sp>
      <p:sp>
        <p:nvSpPr>
          <p:cNvPr id="30" name="Text 28"/>
          <p:cNvSpPr/>
          <p:nvPr/>
        </p:nvSpPr>
        <p:spPr>
          <a:xfrm>
            <a:off x="804672" y="3749040"/>
            <a:ext cx="566928" cy="566928"/>
          </a:xfrm>
          <a:prstGeom prst="rect">
            <a:avLst/>
          </a:prstGeom>
          <a:noFill/>
          <a:ln/>
        </p:spPr>
        <p:txBody>
          <a:bodyPr wrap="square" lIns="0" tIns="0" rIns="0" bIns="0" rtlCol="0" anchor="ctr"/>
          <a:lstStyle/>
          <a:p>
            <a:pPr algn="ctr" indent="0" marL="0">
              <a:buNone/>
            </a:pPr>
            <a:r>
              <a:rPr lang="en-US" sz="1302" b="1" dirty="0">
                <a:solidFill>
                  <a:srgbClr val="FFFFFF"/>
                </a:solidFill>
                <a:latin typeface="Georgia" pitchFamily="34" charset="0"/>
                <a:ea typeface="Georgia" pitchFamily="34" charset="-122"/>
                <a:cs typeface="Georgia" pitchFamily="34" charset="-120"/>
              </a:rPr>
              <a:t>H</a:t>
            </a:r>
            <a:endParaRPr lang="en-US" sz="1302" dirty="0"/>
          </a:p>
        </p:txBody>
      </p:sp>
      <p:sp>
        <p:nvSpPr>
          <p:cNvPr id="31" name="Text 29"/>
          <p:cNvSpPr/>
          <p:nvPr/>
        </p:nvSpPr>
        <p:spPr>
          <a:xfrm>
            <a:off x="1508760" y="3538728"/>
            <a:ext cx="2423160" cy="411480"/>
          </a:xfrm>
          <a:prstGeom prst="rect">
            <a:avLst/>
          </a:prstGeom>
          <a:noFill/>
          <a:ln/>
        </p:spPr>
        <p:txBody>
          <a:bodyPr wrap="square" lIns="0" tIns="0" rIns="0" bIns="0" rtlCol="0" anchor="ctr"/>
          <a:lstStyle/>
          <a:p>
            <a:pPr algn="l" indent="0" marL="0">
              <a:buNone/>
            </a:pPr>
            <a:r>
              <a:rPr lang="en-US" sz="1500" b="1" dirty="0">
                <a:solidFill>
                  <a:srgbClr val="202124"/>
                </a:solidFill>
                <a:latin typeface="Calibri" pitchFamily="34" charset="0"/>
                <a:ea typeface="Calibri" pitchFamily="34" charset="-122"/>
                <a:cs typeface="Calibri" pitchFamily="34" charset="-120"/>
              </a:rPr>
              <a:t>Hospitals</a:t>
            </a:r>
            <a:endParaRPr lang="en-US" sz="1500" dirty="0"/>
          </a:p>
        </p:txBody>
      </p:sp>
      <p:sp>
        <p:nvSpPr>
          <p:cNvPr id="32" name="Text 30"/>
          <p:cNvSpPr/>
          <p:nvPr/>
        </p:nvSpPr>
        <p:spPr>
          <a:xfrm>
            <a:off x="1463040" y="3959352"/>
            <a:ext cx="2423160" cy="685800"/>
          </a:xfrm>
          <a:prstGeom prst="rect">
            <a:avLst/>
          </a:prstGeom>
          <a:noFill/>
          <a:ln/>
        </p:spPr>
        <p:txBody>
          <a:bodyPr wrap="square" lIns="0" tIns="0" rIns="0" bIns="0" rtlCol="0" anchor="t"/>
          <a:lstStyle/>
          <a:p>
            <a:pPr algn="l" indent="0" marL="0">
              <a:lnSpc>
                <a:spcPct val="105000"/>
              </a:lnSpc>
              <a:buNone/>
            </a:pPr>
            <a:r>
              <a:rPr lang="en-US" sz="1200" dirty="0">
                <a:solidFill>
                  <a:srgbClr val="5F6368"/>
                </a:solidFill>
                <a:latin typeface="Calibri" pitchFamily="34" charset="0"/>
                <a:ea typeface="Calibri" pitchFamily="34" charset="-122"/>
                <a:cs typeface="Calibri" pitchFamily="34" charset="-120"/>
              </a:rPr>
              <a:t>Scanners and records run on code.</a:t>
            </a:r>
            <a:endParaRPr lang="en-US" sz="1200" dirty="0"/>
          </a:p>
        </p:txBody>
      </p:sp>
      <p:sp>
        <p:nvSpPr>
          <p:cNvPr id="33" name="Shape 31"/>
          <p:cNvSpPr/>
          <p:nvPr/>
        </p:nvSpPr>
        <p:spPr>
          <a:xfrm>
            <a:off x="4251960" y="3337560"/>
            <a:ext cx="3474720" cy="1417320"/>
          </a:xfrm>
          <a:prstGeom prst="roundRect">
            <a:avLst>
              <a:gd name="adj" fmla="val 5806"/>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34" name="Shape 32"/>
          <p:cNvSpPr/>
          <p:nvPr/>
        </p:nvSpPr>
        <p:spPr>
          <a:xfrm>
            <a:off x="4251960" y="3474720"/>
            <a:ext cx="82296" cy="1143000"/>
          </a:xfrm>
          <a:prstGeom prst="rect">
            <a:avLst/>
          </a:prstGeom>
          <a:solidFill>
            <a:srgbClr val="4285F4"/>
          </a:solidFill>
          <a:ln/>
        </p:spPr>
      </p:sp>
      <p:sp>
        <p:nvSpPr>
          <p:cNvPr id="35" name="Shape 33"/>
          <p:cNvSpPr/>
          <p:nvPr/>
        </p:nvSpPr>
        <p:spPr>
          <a:xfrm>
            <a:off x="4507992" y="3749040"/>
            <a:ext cx="566928" cy="566928"/>
          </a:xfrm>
          <a:prstGeom prst="ellipse">
            <a:avLst/>
          </a:prstGeom>
          <a:solidFill>
            <a:srgbClr val="4285F4"/>
          </a:solidFill>
          <a:ln/>
        </p:spPr>
      </p:sp>
      <p:sp>
        <p:nvSpPr>
          <p:cNvPr id="36" name="Text 34"/>
          <p:cNvSpPr/>
          <p:nvPr/>
        </p:nvSpPr>
        <p:spPr>
          <a:xfrm>
            <a:off x="4507992" y="3749040"/>
            <a:ext cx="566928" cy="566928"/>
          </a:xfrm>
          <a:prstGeom prst="rect">
            <a:avLst/>
          </a:prstGeom>
          <a:noFill/>
          <a:ln/>
        </p:spPr>
        <p:txBody>
          <a:bodyPr wrap="square" lIns="0" tIns="0" rIns="0" bIns="0" rtlCol="0" anchor="ctr"/>
          <a:lstStyle/>
          <a:p>
            <a:pPr algn="ctr" indent="0" marL="0">
              <a:buNone/>
            </a:pPr>
            <a:r>
              <a:rPr lang="en-US" sz="1302" b="1" dirty="0">
                <a:solidFill>
                  <a:srgbClr val="FFFFFF"/>
                </a:solidFill>
                <a:latin typeface="Georgia" pitchFamily="34" charset="0"/>
                <a:ea typeface="Georgia" pitchFamily="34" charset="-122"/>
                <a:cs typeface="Georgia" pitchFamily="34" charset="-120"/>
              </a:rPr>
              <a:t>C</a:t>
            </a:r>
            <a:endParaRPr lang="en-US" sz="1302" dirty="0"/>
          </a:p>
        </p:txBody>
      </p:sp>
      <p:sp>
        <p:nvSpPr>
          <p:cNvPr id="37" name="Text 35"/>
          <p:cNvSpPr/>
          <p:nvPr/>
        </p:nvSpPr>
        <p:spPr>
          <a:xfrm>
            <a:off x="5212080" y="3538728"/>
            <a:ext cx="2423160" cy="411480"/>
          </a:xfrm>
          <a:prstGeom prst="rect">
            <a:avLst/>
          </a:prstGeom>
          <a:noFill/>
          <a:ln/>
        </p:spPr>
        <p:txBody>
          <a:bodyPr wrap="square" lIns="0" tIns="0" rIns="0" bIns="0" rtlCol="0" anchor="ctr"/>
          <a:lstStyle/>
          <a:p>
            <a:pPr algn="l" indent="0" marL="0">
              <a:buNone/>
            </a:pPr>
            <a:r>
              <a:rPr lang="en-US" sz="1500" b="1" dirty="0">
                <a:solidFill>
                  <a:srgbClr val="202124"/>
                </a:solidFill>
                <a:latin typeface="Calibri" pitchFamily="34" charset="0"/>
                <a:ea typeface="Calibri" pitchFamily="34" charset="-122"/>
                <a:cs typeface="Calibri" pitchFamily="34" charset="-120"/>
              </a:rPr>
              <a:t>Cars</a:t>
            </a:r>
            <a:endParaRPr lang="en-US" sz="1500" dirty="0"/>
          </a:p>
        </p:txBody>
      </p:sp>
      <p:sp>
        <p:nvSpPr>
          <p:cNvPr id="38" name="Text 36"/>
          <p:cNvSpPr/>
          <p:nvPr/>
        </p:nvSpPr>
        <p:spPr>
          <a:xfrm>
            <a:off x="5166360" y="3959352"/>
            <a:ext cx="2423160" cy="685800"/>
          </a:xfrm>
          <a:prstGeom prst="rect">
            <a:avLst/>
          </a:prstGeom>
          <a:noFill/>
          <a:ln/>
        </p:spPr>
        <p:txBody>
          <a:bodyPr wrap="square" lIns="0" tIns="0" rIns="0" bIns="0" rtlCol="0" anchor="t"/>
          <a:lstStyle/>
          <a:p>
            <a:pPr algn="l" indent="0" marL="0">
              <a:lnSpc>
                <a:spcPct val="105000"/>
              </a:lnSpc>
              <a:buNone/>
            </a:pPr>
            <a:r>
              <a:rPr lang="en-US" sz="1200" dirty="0">
                <a:solidFill>
                  <a:srgbClr val="5F6368"/>
                </a:solidFill>
                <a:latin typeface="Calibri" pitchFamily="34" charset="0"/>
                <a:ea typeface="Calibri" pitchFamily="34" charset="-122"/>
                <a:cs typeface="Calibri" pitchFamily="34" charset="-120"/>
              </a:rPr>
              <a:t>Modern cars have millions of lines of code.</a:t>
            </a:r>
            <a:endParaRPr lang="en-US" sz="1200" dirty="0"/>
          </a:p>
        </p:txBody>
      </p:sp>
      <p:sp>
        <p:nvSpPr>
          <p:cNvPr id="39" name="Shape 37"/>
          <p:cNvSpPr/>
          <p:nvPr/>
        </p:nvSpPr>
        <p:spPr>
          <a:xfrm>
            <a:off x="7955280" y="3337560"/>
            <a:ext cx="3474720" cy="1417320"/>
          </a:xfrm>
          <a:prstGeom prst="roundRect">
            <a:avLst>
              <a:gd name="adj" fmla="val 5806"/>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40" name="Shape 38"/>
          <p:cNvSpPr/>
          <p:nvPr/>
        </p:nvSpPr>
        <p:spPr>
          <a:xfrm>
            <a:off x="7955280" y="3474720"/>
            <a:ext cx="82296" cy="1143000"/>
          </a:xfrm>
          <a:prstGeom prst="rect">
            <a:avLst/>
          </a:prstGeom>
          <a:solidFill>
            <a:srgbClr val="EA4335"/>
          </a:solidFill>
          <a:ln/>
        </p:spPr>
      </p:sp>
      <p:sp>
        <p:nvSpPr>
          <p:cNvPr id="41" name="Shape 39"/>
          <p:cNvSpPr/>
          <p:nvPr/>
        </p:nvSpPr>
        <p:spPr>
          <a:xfrm>
            <a:off x="8211312" y="3749040"/>
            <a:ext cx="566928" cy="566928"/>
          </a:xfrm>
          <a:prstGeom prst="ellipse">
            <a:avLst/>
          </a:prstGeom>
          <a:solidFill>
            <a:srgbClr val="EA4335"/>
          </a:solidFill>
          <a:ln/>
        </p:spPr>
      </p:sp>
      <p:sp>
        <p:nvSpPr>
          <p:cNvPr id="42" name="Text 40"/>
          <p:cNvSpPr/>
          <p:nvPr/>
        </p:nvSpPr>
        <p:spPr>
          <a:xfrm>
            <a:off x="8211312" y="3749040"/>
            <a:ext cx="566928" cy="566928"/>
          </a:xfrm>
          <a:prstGeom prst="rect">
            <a:avLst/>
          </a:prstGeom>
          <a:noFill/>
          <a:ln/>
        </p:spPr>
        <p:txBody>
          <a:bodyPr wrap="square" lIns="0" tIns="0" rIns="0" bIns="0" rtlCol="0" anchor="ctr"/>
          <a:lstStyle/>
          <a:p>
            <a:pPr algn="ctr" indent="0" marL="0">
              <a:buNone/>
            </a:pPr>
            <a:r>
              <a:rPr lang="en-US" sz="1302" b="1" dirty="0">
                <a:solidFill>
                  <a:srgbClr val="FFFFFF"/>
                </a:solidFill>
                <a:latin typeface="Georgia" pitchFamily="34" charset="0"/>
                <a:ea typeface="Georgia" pitchFamily="34" charset="-122"/>
                <a:cs typeface="Georgia" pitchFamily="34" charset="-120"/>
              </a:rPr>
              <a:t>S</a:t>
            </a:r>
            <a:endParaRPr lang="en-US" sz="1302" dirty="0"/>
          </a:p>
        </p:txBody>
      </p:sp>
      <p:sp>
        <p:nvSpPr>
          <p:cNvPr id="43" name="Text 41"/>
          <p:cNvSpPr/>
          <p:nvPr/>
        </p:nvSpPr>
        <p:spPr>
          <a:xfrm>
            <a:off x="8915400" y="3538728"/>
            <a:ext cx="2423160" cy="411480"/>
          </a:xfrm>
          <a:prstGeom prst="rect">
            <a:avLst/>
          </a:prstGeom>
          <a:noFill/>
          <a:ln/>
        </p:spPr>
        <p:txBody>
          <a:bodyPr wrap="square" lIns="0" tIns="0" rIns="0" bIns="0" rtlCol="0" anchor="ctr"/>
          <a:lstStyle/>
          <a:p>
            <a:pPr algn="l" indent="0" marL="0">
              <a:buNone/>
            </a:pPr>
            <a:r>
              <a:rPr lang="en-US" sz="1500" b="1" dirty="0">
                <a:solidFill>
                  <a:srgbClr val="202124"/>
                </a:solidFill>
                <a:latin typeface="Calibri" pitchFamily="34" charset="0"/>
                <a:ea typeface="Calibri" pitchFamily="34" charset="-122"/>
                <a:cs typeface="Calibri" pitchFamily="34" charset="-120"/>
              </a:rPr>
              <a:t>Search &amp; AI</a:t>
            </a:r>
            <a:endParaRPr lang="en-US" sz="1500" dirty="0"/>
          </a:p>
        </p:txBody>
      </p:sp>
      <p:sp>
        <p:nvSpPr>
          <p:cNvPr id="44" name="Text 42"/>
          <p:cNvSpPr/>
          <p:nvPr/>
        </p:nvSpPr>
        <p:spPr>
          <a:xfrm>
            <a:off x="8869680" y="3959352"/>
            <a:ext cx="2423160" cy="685800"/>
          </a:xfrm>
          <a:prstGeom prst="rect">
            <a:avLst/>
          </a:prstGeom>
          <a:noFill/>
          <a:ln/>
        </p:spPr>
        <p:txBody>
          <a:bodyPr wrap="square" lIns="0" tIns="0" rIns="0" bIns="0" rtlCol="0" anchor="t"/>
          <a:lstStyle/>
          <a:p>
            <a:pPr algn="l" indent="0" marL="0">
              <a:lnSpc>
                <a:spcPct val="105000"/>
              </a:lnSpc>
              <a:buNone/>
            </a:pPr>
            <a:r>
              <a:rPr lang="en-US" sz="1200" dirty="0">
                <a:solidFill>
                  <a:srgbClr val="5F6368"/>
                </a:solidFill>
                <a:latin typeface="Calibri" pitchFamily="34" charset="0"/>
                <a:ea typeface="Calibri" pitchFamily="34" charset="-122"/>
                <a:cs typeface="Calibri" pitchFamily="34" charset="-120"/>
              </a:rPr>
              <a:t>Google and chatbots are built from code.</a:t>
            </a:r>
            <a:endParaRPr lang="en-US" sz="1200" dirty="0"/>
          </a:p>
        </p:txBody>
      </p:sp>
      <p:sp>
        <p:nvSpPr>
          <p:cNvPr id="45" name="Text 43"/>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46" name="Text 44"/>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02124"/>
        </a:solidFill>
      </p:bgPr>
    </p:bg>
    <p:spTree>
      <p:nvGrpSpPr>
        <p:cNvPr id="1" name=""/>
        <p:cNvGrpSpPr/>
        <p:nvPr/>
      </p:nvGrpSpPr>
      <p:grpSpPr>
        <a:xfrm>
          <a:off x="0" y="0"/>
          <a:ext cx="0" cy="0"/>
          <a:chOff x="0" y="0"/>
          <a:chExt cx="0" cy="0"/>
        </a:xfrm>
      </p:grpSpPr>
      <p:sp>
        <p:nvSpPr>
          <p:cNvPr id="2" name="Shape 0"/>
          <p:cNvSpPr/>
          <p:nvPr/>
        </p:nvSpPr>
        <p:spPr>
          <a:xfrm>
            <a:off x="9509760" y="-1645920"/>
            <a:ext cx="4206240" cy="4206240"/>
          </a:xfrm>
          <a:prstGeom prst="ellipse">
            <a:avLst/>
          </a:prstGeom>
          <a:solidFill>
            <a:srgbClr val="4285F4">
              <a:alpha val="16000"/>
            </a:srgbClr>
          </a:solidFill>
          <a:ln/>
        </p:spPr>
      </p:sp>
      <p:sp>
        <p:nvSpPr>
          <p:cNvPr id="3" name="Shape 1"/>
          <p:cNvSpPr/>
          <p:nvPr/>
        </p:nvSpPr>
        <p:spPr>
          <a:xfrm>
            <a:off x="-1097280" y="4206240"/>
            <a:ext cx="3291840" cy="3291840"/>
          </a:xfrm>
          <a:prstGeom prst="ellipse">
            <a:avLst/>
          </a:prstGeom>
          <a:solidFill>
            <a:srgbClr val="4285F4">
              <a:alpha val="12000"/>
            </a:srgbClr>
          </a:solidFill>
          <a:ln/>
        </p:spPr>
      </p:sp>
      <p:sp>
        <p:nvSpPr>
          <p:cNvPr id="4" name="Shape 2"/>
          <p:cNvSpPr/>
          <p:nvPr/>
        </p:nvSpPr>
        <p:spPr>
          <a:xfrm>
            <a:off x="868680" y="2514600"/>
            <a:ext cx="146304" cy="146304"/>
          </a:xfrm>
          <a:prstGeom prst="ellipse">
            <a:avLst/>
          </a:prstGeom>
          <a:solidFill>
            <a:srgbClr val="4285F4"/>
          </a:solidFill>
          <a:ln/>
        </p:spPr>
      </p:sp>
      <p:sp>
        <p:nvSpPr>
          <p:cNvPr id="5" name="Shape 3"/>
          <p:cNvSpPr/>
          <p:nvPr/>
        </p:nvSpPr>
        <p:spPr>
          <a:xfrm>
            <a:off x="1106424" y="2514600"/>
            <a:ext cx="146304" cy="146304"/>
          </a:xfrm>
          <a:prstGeom prst="ellipse">
            <a:avLst/>
          </a:prstGeom>
          <a:solidFill>
            <a:srgbClr val="EA4335"/>
          </a:solidFill>
          <a:ln/>
        </p:spPr>
      </p:sp>
      <p:sp>
        <p:nvSpPr>
          <p:cNvPr id="6" name="Shape 4"/>
          <p:cNvSpPr/>
          <p:nvPr/>
        </p:nvSpPr>
        <p:spPr>
          <a:xfrm>
            <a:off x="1344168" y="2514600"/>
            <a:ext cx="146304" cy="146304"/>
          </a:xfrm>
          <a:prstGeom prst="ellipse">
            <a:avLst/>
          </a:prstGeom>
          <a:solidFill>
            <a:srgbClr val="FBBC04"/>
          </a:solidFill>
          <a:ln/>
        </p:spPr>
      </p:sp>
      <p:sp>
        <p:nvSpPr>
          <p:cNvPr id="7" name="Shape 5"/>
          <p:cNvSpPr/>
          <p:nvPr/>
        </p:nvSpPr>
        <p:spPr>
          <a:xfrm>
            <a:off x="1581912" y="2514600"/>
            <a:ext cx="146304" cy="146304"/>
          </a:xfrm>
          <a:prstGeom prst="ellipse">
            <a:avLst/>
          </a:prstGeom>
          <a:solidFill>
            <a:srgbClr val="34A853"/>
          </a:solidFill>
          <a:ln/>
        </p:spPr>
      </p:sp>
      <p:sp>
        <p:nvSpPr>
          <p:cNvPr id="8" name="Text 6"/>
          <p:cNvSpPr/>
          <p:nvPr/>
        </p:nvSpPr>
        <p:spPr>
          <a:xfrm>
            <a:off x="868680" y="2788920"/>
            <a:ext cx="10058400" cy="365760"/>
          </a:xfrm>
          <a:prstGeom prst="rect">
            <a:avLst/>
          </a:prstGeom>
          <a:noFill/>
          <a:ln/>
        </p:spPr>
        <p:txBody>
          <a:bodyPr wrap="square" lIns="0" tIns="0" rIns="0" bIns="0" rtlCol="0" anchor="ctr"/>
          <a:lstStyle/>
          <a:p>
            <a:pPr algn="l" indent="0" marL="0">
              <a:buNone/>
            </a:pPr>
            <a:r>
              <a:rPr lang="en-US" sz="1300" b="1" spc="300" kern="0" dirty="0">
                <a:solidFill>
                  <a:srgbClr val="9AA0A6"/>
                </a:solidFill>
                <a:latin typeface="Calibri" pitchFamily="34" charset="0"/>
                <a:ea typeface="Calibri" pitchFamily="34" charset="-122"/>
                <a:cs typeface="Calibri" pitchFamily="34" charset="-120"/>
              </a:rPr>
              <a:t>PART 1</a:t>
            </a:r>
            <a:endParaRPr lang="en-US" sz="1300" dirty="0"/>
          </a:p>
        </p:txBody>
      </p:sp>
      <p:sp>
        <p:nvSpPr>
          <p:cNvPr id="9" name="Text 7"/>
          <p:cNvSpPr/>
          <p:nvPr/>
        </p:nvSpPr>
        <p:spPr>
          <a:xfrm>
            <a:off x="822960" y="3200400"/>
            <a:ext cx="10607040" cy="1005840"/>
          </a:xfrm>
          <a:prstGeom prst="rect">
            <a:avLst/>
          </a:prstGeom>
          <a:noFill/>
          <a:ln/>
        </p:spPr>
        <p:txBody>
          <a:bodyPr wrap="square" lIns="0" tIns="0" rIns="0" bIns="0" rtlCol="0" anchor="ctr"/>
          <a:lstStyle/>
          <a:p>
            <a:pPr algn="l" indent="0" marL="0">
              <a:buNone/>
            </a:pPr>
            <a:r>
              <a:rPr lang="en-US" sz="4400" b="1" dirty="0">
                <a:solidFill>
                  <a:srgbClr val="FFFFFF"/>
                </a:solidFill>
                <a:latin typeface="Georgia" pitchFamily="34" charset="0"/>
                <a:ea typeface="Georgia" pitchFamily="34" charset="-122"/>
                <a:cs typeface="Georgia" pitchFamily="34" charset="-120"/>
              </a:rPr>
              <a:t>A Quick History of Code</a:t>
            </a:r>
            <a:endParaRPr lang="en-US" sz="4400" dirty="0"/>
          </a:p>
        </p:txBody>
      </p:sp>
      <p:sp>
        <p:nvSpPr>
          <p:cNvPr id="10" name="Text 8"/>
          <p:cNvSpPr/>
          <p:nvPr/>
        </p:nvSpPr>
        <p:spPr>
          <a:xfrm>
            <a:off x="868680" y="4343400"/>
            <a:ext cx="9875520" cy="731520"/>
          </a:xfrm>
          <a:prstGeom prst="rect">
            <a:avLst/>
          </a:prstGeom>
          <a:noFill/>
          <a:ln/>
        </p:spPr>
        <p:txBody>
          <a:bodyPr wrap="square" lIns="0" tIns="0" rIns="0" bIns="0" rtlCol="0" anchor="ctr"/>
          <a:lstStyle/>
          <a:p>
            <a:pPr algn="l" indent="0" marL="0">
              <a:lnSpc>
                <a:spcPct val="110000"/>
              </a:lnSpc>
              <a:buNone/>
            </a:pPr>
            <a:r>
              <a:rPr lang="en-US" sz="1700" dirty="0">
                <a:solidFill>
                  <a:srgbClr val="E8EAED"/>
                </a:solidFill>
                <a:latin typeface="Calibri" pitchFamily="34" charset="0"/>
                <a:ea typeface="Calibri" pitchFamily="34" charset="-122"/>
                <a:cs typeface="Calibri" pitchFamily="34" charset="-120"/>
              </a:rPr>
              <a:t>How did we get from clunky machines to writing apps in a browser?</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4285F4"/>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4285F4"/>
                </a:solidFill>
                <a:latin typeface="Calibri" pitchFamily="34" charset="0"/>
                <a:ea typeface="Calibri" pitchFamily="34" charset="-122"/>
                <a:cs typeface="Calibri" pitchFamily="34" charset="-120"/>
              </a:rPr>
              <a:t>HISTORY</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The very first programmer (1843!)</a:t>
            </a:r>
            <a:endParaRPr lang="en-US" sz="2900" dirty="0"/>
          </a:p>
        </p:txBody>
      </p:sp>
      <p:sp>
        <p:nvSpPr>
          <p:cNvPr id="9" name="Shape 7"/>
          <p:cNvSpPr/>
          <p:nvPr/>
        </p:nvSpPr>
        <p:spPr>
          <a:xfrm>
            <a:off x="548640" y="1691640"/>
            <a:ext cx="5212080" cy="3566160"/>
          </a:xfrm>
          <a:prstGeom prst="roundRect">
            <a:avLst>
              <a:gd name="adj" fmla="val 2308"/>
            </a:avLst>
          </a:prstGeom>
          <a:solidFill>
            <a:srgbClr val="F8F9FA"/>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0" name="Shape 8"/>
          <p:cNvSpPr/>
          <p:nvPr/>
        </p:nvSpPr>
        <p:spPr>
          <a:xfrm>
            <a:off x="822960" y="1993392"/>
            <a:ext cx="713232" cy="713232"/>
          </a:xfrm>
          <a:prstGeom prst="ellipse">
            <a:avLst/>
          </a:prstGeom>
          <a:solidFill>
            <a:srgbClr val="4285F4"/>
          </a:solidFill>
          <a:ln/>
        </p:spPr>
      </p:sp>
      <p:sp>
        <p:nvSpPr>
          <p:cNvPr id="11" name="Text 9"/>
          <p:cNvSpPr/>
          <p:nvPr/>
        </p:nvSpPr>
        <p:spPr>
          <a:xfrm>
            <a:off x="822960" y="1993392"/>
            <a:ext cx="713232" cy="713232"/>
          </a:xfrm>
          <a:prstGeom prst="rect">
            <a:avLst/>
          </a:prstGeom>
          <a:noFill/>
          <a:ln/>
        </p:spPr>
        <p:txBody>
          <a:bodyPr wrap="square" lIns="0" tIns="0" rIns="0" bIns="0" rtlCol="0" anchor="ctr"/>
          <a:lstStyle/>
          <a:p>
            <a:pPr algn="ctr" indent="0" marL="0">
              <a:buNone/>
            </a:pPr>
            <a:r>
              <a:rPr lang="en-US" sz="1638" b="1" dirty="0">
                <a:solidFill>
                  <a:srgbClr val="FFFFFF"/>
                </a:solidFill>
                <a:latin typeface="Georgia" pitchFamily="34" charset="0"/>
                <a:ea typeface="Georgia" pitchFamily="34" charset="-122"/>
                <a:cs typeface="Georgia" pitchFamily="34" charset="-120"/>
              </a:rPr>
              <a:t>AL</a:t>
            </a:r>
            <a:endParaRPr lang="en-US" sz="1638" dirty="0"/>
          </a:p>
        </p:txBody>
      </p:sp>
      <p:sp>
        <p:nvSpPr>
          <p:cNvPr id="12" name="Text 10"/>
          <p:cNvSpPr/>
          <p:nvPr/>
        </p:nvSpPr>
        <p:spPr>
          <a:xfrm>
            <a:off x="1737360" y="2011680"/>
            <a:ext cx="3840480" cy="457200"/>
          </a:xfrm>
          <a:prstGeom prst="rect">
            <a:avLst/>
          </a:prstGeom>
          <a:noFill/>
          <a:ln/>
        </p:spPr>
        <p:txBody>
          <a:bodyPr wrap="square" lIns="0" tIns="0" rIns="0" bIns="0" rtlCol="0" anchor="ctr"/>
          <a:lstStyle/>
          <a:p>
            <a:pPr algn="l" indent="0" marL="0">
              <a:buNone/>
            </a:pPr>
            <a:r>
              <a:rPr lang="en-US" sz="2200" b="1" dirty="0">
                <a:solidFill>
                  <a:srgbClr val="202124"/>
                </a:solidFill>
                <a:latin typeface="Georgia" pitchFamily="34" charset="0"/>
                <a:ea typeface="Georgia" pitchFamily="34" charset="-122"/>
                <a:cs typeface="Georgia" pitchFamily="34" charset="-120"/>
              </a:rPr>
              <a:t>Ada Lovelace</a:t>
            </a:r>
            <a:endParaRPr lang="en-US" sz="2200" dirty="0"/>
          </a:p>
        </p:txBody>
      </p:sp>
      <p:sp>
        <p:nvSpPr>
          <p:cNvPr id="13" name="Text 11"/>
          <p:cNvSpPr/>
          <p:nvPr/>
        </p:nvSpPr>
        <p:spPr>
          <a:xfrm>
            <a:off x="1737360" y="2487168"/>
            <a:ext cx="3840480" cy="320040"/>
          </a:xfrm>
          <a:prstGeom prst="rect">
            <a:avLst/>
          </a:prstGeom>
          <a:noFill/>
          <a:ln/>
        </p:spPr>
        <p:txBody>
          <a:bodyPr wrap="square" lIns="0" tIns="0" rIns="0" bIns="0" rtlCol="0" anchor="ctr"/>
          <a:lstStyle/>
          <a:p>
            <a:pPr algn="l" indent="0" marL="0">
              <a:buNone/>
            </a:pPr>
            <a:r>
              <a:rPr lang="en-US" sz="1250" i="1" dirty="0">
                <a:solidFill>
                  <a:srgbClr val="5F6368"/>
                </a:solidFill>
                <a:latin typeface="Calibri" pitchFamily="34" charset="0"/>
                <a:ea typeface="Calibri" pitchFamily="34" charset="-122"/>
                <a:cs typeface="Calibri" pitchFamily="34" charset="-120"/>
              </a:rPr>
              <a:t>English mathematician, 1815–1852</a:t>
            </a:r>
            <a:endParaRPr lang="en-US" sz="1250" dirty="0"/>
          </a:p>
        </p:txBody>
      </p:sp>
      <p:sp>
        <p:nvSpPr>
          <p:cNvPr id="14" name="Text 12"/>
          <p:cNvSpPr/>
          <p:nvPr/>
        </p:nvSpPr>
        <p:spPr>
          <a:xfrm>
            <a:off x="822960" y="3063240"/>
            <a:ext cx="4663440" cy="2011680"/>
          </a:xfrm>
          <a:prstGeom prst="rect">
            <a:avLst/>
          </a:prstGeom>
          <a:noFill/>
          <a:ln/>
        </p:spPr>
        <p:txBody>
          <a:bodyPr wrap="square" lIns="0" tIns="0" rIns="0" bIns="0" rtlCol="0" anchor="t"/>
          <a:lstStyle/>
          <a:p>
            <a:pPr algn="l" indent="0" marL="0">
              <a:lnSpc>
                <a:spcPct val="118000"/>
              </a:lnSpc>
              <a:buNone/>
            </a:pPr>
            <a:r>
              <a:rPr lang="en-US" sz="1450" b="1" dirty="0">
                <a:solidFill>
                  <a:srgbClr val="5F6368"/>
                </a:solidFill>
                <a:latin typeface="Calibri" pitchFamily="34" charset="0"/>
                <a:ea typeface="Calibri" pitchFamily="34" charset="-122"/>
                <a:cs typeface="Calibri" pitchFamily="34" charset="-120"/>
              </a:rPr>
              <a:t>Over 100 years before modern computers existed</a:t>
            </a:r>
            <a:pPr algn="l" indent="0" marL="0">
              <a:lnSpc>
                <a:spcPct val="118000"/>
              </a:lnSpc>
              <a:buNone/>
            </a:pPr>
            <a:r>
              <a:rPr lang="en-US" sz="1450" dirty="0">
                <a:solidFill>
                  <a:srgbClr val="5F6368"/>
                </a:solidFill>
                <a:latin typeface="Calibri" pitchFamily="34" charset="0"/>
                <a:ea typeface="Calibri" pitchFamily="34" charset="-122"/>
                <a:cs typeface="Calibri" pitchFamily="34" charset="-120"/>
              </a:rPr>
              <a:t>, Ada wrote the first algorithm meant to be run by a machine. She imagined computers could do far more than math — they could work with music, art, and symbols. She was right, just a century early.</a:t>
            </a:r>
            <a:endParaRPr lang="en-US" sz="1450" dirty="0"/>
          </a:p>
        </p:txBody>
      </p:sp>
      <p:sp>
        <p:nvSpPr>
          <p:cNvPr id="15" name="Shape 13"/>
          <p:cNvSpPr/>
          <p:nvPr/>
        </p:nvSpPr>
        <p:spPr>
          <a:xfrm>
            <a:off x="6035040" y="1691640"/>
            <a:ext cx="5577840" cy="3566160"/>
          </a:xfrm>
          <a:prstGeom prst="roundRect">
            <a:avLst>
              <a:gd name="adj" fmla="val 2308"/>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6" name="Text 14"/>
          <p:cNvSpPr/>
          <p:nvPr/>
        </p:nvSpPr>
        <p:spPr>
          <a:xfrm>
            <a:off x="6309360" y="1965960"/>
            <a:ext cx="5029200" cy="411480"/>
          </a:xfrm>
          <a:prstGeom prst="rect">
            <a:avLst/>
          </a:prstGeom>
          <a:noFill/>
          <a:ln/>
        </p:spPr>
        <p:txBody>
          <a:bodyPr wrap="square" lIns="0" tIns="0" rIns="0" bIns="0" rtlCol="0" anchor="ctr"/>
          <a:lstStyle/>
          <a:p>
            <a:pPr algn="l" indent="0" marL="0">
              <a:buNone/>
            </a:pPr>
            <a:r>
              <a:rPr lang="en-US" sz="1700" b="1" dirty="0">
                <a:solidFill>
                  <a:srgbClr val="4285F4"/>
                </a:solidFill>
                <a:latin typeface="Georgia" pitchFamily="34" charset="0"/>
                <a:ea typeface="Georgia" pitchFamily="34" charset="-122"/>
                <a:cs typeface="Georgia" pitchFamily="34" charset="-120"/>
              </a:rPr>
              <a:t>Why this matters to YOU</a:t>
            </a:r>
            <a:endParaRPr lang="en-US" sz="1700" dirty="0"/>
          </a:p>
        </p:txBody>
      </p:sp>
      <p:sp>
        <p:nvSpPr>
          <p:cNvPr id="17" name="Text 15"/>
          <p:cNvSpPr/>
          <p:nvPr/>
        </p:nvSpPr>
        <p:spPr>
          <a:xfrm>
            <a:off x="6400800" y="2514600"/>
            <a:ext cx="4937760" cy="2560320"/>
          </a:xfrm>
          <a:prstGeom prst="rect">
            <a:avLst/>
          </a:prstGeom>
          <a:noFill/>
          <a:ln/>
        </p:spPr>
        <p:txBody>
          <a:bodyPr wrap="square" lIns="0" tIns="0" rIns="0" bIns="0" rtlCol="0" anchor="t"/>
          <a:lstStyle/>
          <a:p>
            <a:pPr algn="l" marL="228600" indent="-228600">
              <a:lnSpc>
                <a:spcPct val="110000"/>
              </a:lnSpc>
              <a:spcAft>
                <a:spcPts val="1200"/>
              </a:spcAft>
              <a:buSzPct val="100000"/>
              <a:buChar char="•"/>
            </a:pPr>
            <a:r>
              <a:rPr lang="en-US" sz="1500" dirty="0">
                <a:solidFill>
                  <a:srgbClr val="5F6368"/>
                </a:solidFill>
                <a:latin typeface="Calibri" pitchFamily="34" charset="0"/>
                <a:ea typeface="Calibri" pitchFamily="34" charset="-122"/>
                <a:cs typeface="Calibri" pitchFamily="34" charset="-120"/>
              </a:rPr>
              <a:t>Coding is about IDEAS, not just fancy computers.</a:t>
            </a:r>
            <a:endParaRPr lang="en-US" sz="1500" dirty="0"/>
          </a:p>
          <a:p>
            <a:pPr algn="l" marL="228600" indent="-228600">
              <a:lnSpc>
                <a:spcPct val="110000"/>
              </a:lnSpc>
              <a:spcAft>
                <a:spcPts val="1200"/>
              </a:spcAft>
              <a:buSzPct val="100000"/>
              <a:buChar char="•"/>
            </a:pPr>
            <a:r>
              <a:rPr lang="en-US" sz="1500" dirty="0">
                <a:solidFill>
                  <a:srgbClr val="5F6368"/>
                </a:solidFill>
                <a:latin typeface="Calibri" pitchFamily="34" charset="0"/>
                <a:ea typeface="Calibri" pitchFamily="34" charset="-122"/>
                <a:cs typeface="Calibri" pitchFamily="34" charset="-120"/>
              </a:rPr>
              <a:t>The first programmer imagined possibilities nobody else could see.</a:t>
            </a:r>
            <a:endParaRPr lang="en-US" sz="1500" dirty="0"/>
          </a:p>
          <a:p>
            <a:pPr algn="l" marL="228600" indent="-228600">
              <a:lnSpc>
                <a:spcPct val="110000"/>
              </a:lnSpc>
              <a:spcAft>
                <a:spcPts val="1200"/>
              </a:spcAft>
              <a:buSzPct val="100000"/>
              <a:buChar char="•"/>
            </a:pPr>
            <a:r>
              <a:rPr lang="en-US" sz="1500" dirty="0">
                <a:solidFill>
                  <a:srgbClr val="5F6368"/>
                </a:solidFill>
                <a:latin typeface="Calibri" pitchFamily="34" charset="0"/>
                <a:ea typeface="Calibri" pitchFamily="34" charset="-122"/>
                <a:cs typeface="Calibri" pitchFamily="34" charset="-120"/>
              </a:rPr>
              <a:t>You don't need to be a genius — you need curiosity and patience.</a:t>
            </a:r>
            <a:endParaRPr lang="en-US" sz="1500" dirty="0"/>
          </a:p>
        </p:txBody>
      </p:sp>
      <p:sp>
        <p:nvSpPr>
          <p:cNvPr id="18" name="Text 1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19" name="Text 17"/>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EA4335"/>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EA4335"/>
                </a:solidFill>
                <a:latin typeface="Calibri" pitchFamily="34" charset="0"/>
                <a:ea typeface="Calibri" pitchFamily="34" charset="-122"/>
                <a:cs typeface="Calibri" pitchFamily="34" charset="-120"/>
              </a:rPr>
              <a:t>HISTORY</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From room-sized machines to your laptop</a:t>
            </a:r>
            <a:endParaRPr lang="en-US" sz="2900" dirty="0"/>
          </a:p>
        </p:txBody>
      </p:sp>
      <p:sp>
        <p:nvSpPr>
          <p:cNvPr id="9" name="Shape 7"/>
          <p:cNvSpPr/>
          <p:nvPr/>
        </p:nvSpPr>
        <p:spPr>
          <a:xfrm>
            <a:off x="548640" y="1828800"/>
            <a:ext cx="3474720" cy="3017520"/>
          </a:xfrm>
          <a:prstGeom prst="roundRect">
            <a:avLst>
              <a:gd name="adj" fmla="val 2727"/>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0" name="Shape 8"/>
          <p:cNvSpPr/>
          <p:nvPr/>
        </p:nvSpPr>
        <p:spPr>
          <a:xfrm>
            <a:off x="548640" y="1828800"/>
            <a:ext cx="3474720" cy="640080"/>
          </a:xfrm>
          <a:prstGeom prst="rect">
            <a:avLst/>
          </a:prstGeom>
          <a:solidFill>
            <a:srgbClr val="4285F4"/>
          </a:solidFill>
          <a:ln/>
        </p:spPr>
      </p:sp>
      <p:sp>
        <p:nvSpPr>
          <p:cNvPr id="11" name="Text 9"/>
          <p:cNvSpPr/>
          <p:nvPr/>
        </p:nvSpPr>
        <p:spPr>
          <a:xfrm>
            <a:off x="548640" y="1828800"/>
            <a:ext cx="347472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1940s</a:t>
            </a:r>
            <a:endParaRPr lang="en-US" sz="2000" dirty="0"/>
          </a:p>
        </p:txBody>
      </p:sp>
      <p:sp>
        <p:nvSpPr>
          <p:cNvPr id="12" name="Text 10"/>
          <p:cNvSpPr/>
          <p:nvPr/>
        </p:nvSpPr>
        <p:spPr>
          <a:xfrm>
            <a:off x="777240" y="2651760"/>
            <a:ext cx="3017520" cy="457200"/>
          </a:xfrm>
          <a:prstGeom prst="rect">
            <a:avLst/>
          </a:prstGeom>
          <a:noFill/>
          <a:ln/>
        </p:spPr>
        <p:txBody>
          <a:bodyPr wrap="square" lIns="0" tIns="0" rIns="0" bIns="0" rtlCol="0" anchor="ctr"/>
          <a:lstStyle/>
          <a:p>
            <a:pPr algn="l" indent="0" marL="0">
              <a:buNone/>
            </a:pPr>
            <a:r>
              <a:rPr lang="en-US" sz="1600" b="1" dirty="0">
                <a:solidFill>
                  <a:srgbClr val="202124"/>
                </a:solidFill>
                <a:latin typeface="Calibri" pitchFamily="34" charset="0"/>
                <a:ea typeface="Calibri" pitchFamily="34" charset="-122"/>
                <a:cs typeface="Calibri" pitchFamily="34" charset="-120"/>
              </a:rPr>
              <a:t>Room-sized</a:t>
            </a:r>
            <a:endParaRPr lang="en-US" sz="1600" dirty="0"/>
          </a:p>
        </p:txBody>
      </p:sp>
      <p:sp>
        <p:nvSpPr>
          <p:cNvPr id="13" name="Text 11"/>
          <p:cNvSpPr/>
          <p:nvPr/>
        </p:nvSpPr>
        <p:spPr>
          <a:xfrm>
            <a:off x="777240" y="3154680"/>
            <a:ext cx="3063240" cy="1554480"/>
          </a:xfrm>
          <a:prstGeom prst="rect">
            <a:avLst/>
          </a:prstGeom>
          <a:noFill/>
          <a:ln/>
        </p:spPr>
        <p:txBody>
          <a:bodyPr wrap="square" lIns="0" tIns="0" rIns="0" bIns="0" rtlCol="0" anchor="t"/>
          <a:lstStyle/>
          <a:p>
            <a:pPr algn="l" indent="0" marL="0">
              <a:lnSpc>
                <a:spcPct val="115000"/>
              </a:lnSpc>
              <a:buNone/>
            </a:pPr>
            <a:r>
              <a:rPr lang="en-US" sz="1350" dirty="0">
                <a:solidFill>
                  <a:srgbClr val="5F6368"/>
                </a:solidFill>
                <a:latin typeface="Calibri" pitchFamily="34" charset="0"/>
                <a:ea typeface="Calibri" pitchFamily="34" charset="-122"/>
                <a:cs typeface="Calibri" pitchFamily="34" charset="-120"/>
              </a:rPr>
              <a:t>Computers filled entire rooms and were programmed with switches and punch cards.</a:t>
            </a:r>
            <a:endParaRPr lang="en-US" sz="1350" dirty="0"/>
          </a:p>
        </p:txBody>
      </p:sp>
      <p:sp>
        <p:nvSpPr>
          <p:cNvPr id="14" name="Shape 12"/>
          <p:cNvSpPr/>
          <p:nvPr/>
        </p:nvSpPr>
        <p:spPr>
          <a:xfrm>
            <a:off x="4251960" y="1828800"/>
            <a:ext cx="3474720" cy="3017520"/>
          </a:xfrm>
          <a:prstGeom prst="roundRect">
            <a:avLst>
              <a:gd name="adj" fmla="val 2727"/>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5" name="Shape 13"/>
          <p:cNvSpPr/>
          <p:nvPr/>
        </p:nvSpPr>
        <p:spPr>
          <a:xfrm>
            <a:off x="4251960" y="1828800"/>
            <a:ext cx="3474720" cy="640080"/>
          </a:xfrm>
          <a:prstGeom prst="rect">
            <a:avLst/>
          </a:prstGeom>
          <a:solidFill>
            <a:srgbClr val="EA4335"/>
          </a:solidFill>
          <a:ln/>
        </p:spPr>
      </p:sp>
      <p:sp>
        <p:nvSpPr>
          <p:cNvPr id="16" name="Text 14"/>
          <p:cNvSpPr/>
          <p:nvPr/>
        </p:nvSpPr>
        <p:spPr>
          <a:xfrm>
            <a:off x="4251960" y="1828800"/>
            <a:ext cx="347472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1970s</a:t>
            </a:r>
            <a:endParaRPr lang="en-US" sz="2000" dirty="0"/>
          </a:p>
        </p:txBody>
      </p:sp>
      <p:sp>
        <p:nvSpPr>
          <p:cNvPr id="17" name="Text 15"/>
          <p:cNvSpPr/>
          <p:nvPr/>
        </p:nvSpPr>
        <p:spPr>
          <a:xfrm>
            <a:off x="4480560" y="2651760"/>
            <a:ext cx="3017520" cy="457200"/>
          </a:xfrm>
          <a:prstGeom prst="rect">
            <a:avLst/>
          </a:prstGeom>
          <a:noFill/>
          <a:ln/>
        </p:spPr>
        <p:txBody>
          <a:bodyPr wrap="square" lIns="0" tIns="0" rIns="0" bIns="0" rtlCol="0" anchor="ctr"/>
          <a:lstStyle/>
          <a:p>
            <a:pPr algn="l" indent="0" marL="0">
              <a:buNone/>
            </a:pPr>
            <a:r>
              <a:rPr lang="en-US" sz="1600" b="1" dirty="0">
                <a:solidFill>
                  <a:srgbClr val="202124"/>
                </a:solidFill>
                <a:latin typeface="Calibri" pitchFamily="34" charset="0"/>
                <a:ea typeface="Calibri" pitchFamily="34" charset="-122"/>
                <a:cs typeface="Calibri" pitchFamily="34" charset="-120"/>
              </a:rPr>
              <a:t>Personal PCs</a:t>
            </a:r>
            <a:endParaRPr lang="en-US" sz="1600" dirty="0"/>
          </a:p>
        </p:txBody>
      </p:sp>
      <p:sp>
        <p:nvSpPr>
          <p:cNvPr id="18" name="Text 16"/>
          <p:cNvSpPr/>
          <p:nvPr/>
        </p:nvSpPr>
        <p:spPr>
          <a:xfrm>
            <a:off x="4480560" y="3154680"/>
            <a:ext cx="3063240" cy="1554480"/>
          </a:xfrm>
          <a:prstGeom prst="rect">
            <a:avLst/>
          </a:prstGeom>
          <a:noFill/>
          <a:ln/>
        </p:spPr>
        <p:txBody>
          <a:bodyPr wrap="square" lIns="0" tIns="0" rIns="0" bIns="0" rtlCol="0" anchor="t"/>
          <a:lstStyle/>
          <a:p>
            <a:pPr algn="l" indent="0" marL="0">
              <a:lnSpc>
                <a:spcPct val="115000"/>
              </a:lnSpc>
              <a:buNone/>
            </a:pPr>
            <a:r>
              <a:rPr lang="en-US" sz="1350" dirty="0">
                <a:solidFill>
                  <a:srgbClr val="5F6368"/>
                </a:solidFill>
                <a:latin typeface="Calibri" pitchFamily="34" charset="0"/>
                <a:ea typeface="Calibri" pitchFamily="34" charset="-122"/>
                <a:cs typeface="Calibri" pitchFamily="34" charset="-120"/>
              </a:rPr>
              <a:t>Computers shrank to fit on a desk. Regular people could own one.</a:t>
            </a:r>
            <a:endParaRPr lang="en-US" sz="1350" dirty="0"/>
          </a:p>
        </p:txBody>
      </p:sp>
      <p:sp>
        <p:nvSpPr>
          <p:cNvPr id="19" name="Shape 17"/>
          <p:cNvSpPr/>
          <p:nvPr/>
        </p:nvSpPr>
        <p:spPr>
          <a:xfrm>
            <a:off x="7955280" y="1828800"/>
            <a:ext cx="3474720" cy="3017520"/>
          </a:xfrm>
          <a:prstGeom prst="roundRect">
            <a:avLst>
              <a:gd name="adj" fmla="val 2727"/>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20" name="Shape 18"/>
          <p:cNvSpPr/>
          <p:nvPr/>
        </p:nvSpPr>
        <p:spPr>
          <a:xfrm>
            <a:off x="7955280" y="1828800"/>
            <a:ext cx="3474720" cy="640080"/>
          </a:xfrm>
          <a:prstGeom prst="rect">
            <a:avLst/>
          </a:prstGeom>
          <a:solidFill>
            <a:srgbClr val="34A853"/>
          </a:solidFill>
          <a:ln/>
        </p:spPr>
      </p:sp>
      <p:sp>
        <p:nvSpPr>
          <p:cNvPr id="21" name="Text 19"/>
          <p:cNvSpPr/>
          <p:nvPr/>
        </p:nvSpPr>
        <p:spPr>
          <a:xfrm>
            <a:off x="7955280" y="1828800"/>
            <a:ext cx="347472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2000s</a:t>
            </a:r>
            <a:endParaRPr lang="en-US" sz="2000" dirty="0"/>
          </a:p>
        </p:txBody>
      </p:sp>
      <p:sp>
        <p:nvSpPr>
          <p:cNvPr id="22" name="Text 20"/>
          <p:cNvSpPr/>
          <p:nvPr/>
        </p:nvSpPr>
        <p:spPr>
          <a:xfrm>
            <a:off x="8183880" y="2651760"/>
            <a:ext cx="3017520" cy="457200"/>
          </a:xfrm>
          <a:prstGeom prst="rect">
            <a:avLst/>
          </a:prstGeom>
          <a:noFill/>
          <a:ln/>
        </p:spPr>
        <p:txBody>
          <a:bodyPr wrap="square" lIns="0" tIns="0" rIns="0" bIns="0" rtlCol="0" anchor="ctr"/>
          <a:lstStyle/>
          <a:p>
            <a:pPr algn="l" indent="0" marL="0">
              <a:buNone/>
            </a:pPr>
            <a:r>
              <a:rPr lang="en-US" sz="1600" b="1" dirty="0">
                <a:solidFill>
                  <a:srgbClr val="202124"/>
                </a:solidFill>
                <a:latin typeface="Calibri" pitchFamily="34" charset="0"/>
                <a:ea typeface="Calibri" pitchFamily="34" charset="-122"/>
                <a:cs typeface="Calibri" pitchFamily="34" charset="-120"/>
              </a:rPr>
              <a:t>Pocket-sized</a:t>
            </a:r>
            <a:endParaRPr lang="en-US" sz="1600" dirty="0"/>
          </a:p>
        </p:txBody>
      </p:sp>
      <p:sp>
        <p:nvSpPr>
          <p:cNvPr id="23" name="Text 21"/>
          <p:cNvSpPr/>
          <p:nvPr/>
        </p:nvSpPr>
        <p:spPr>
          <a:xfrm>
            <a:off x="8183880" y="3154680"/>
            <a:ext cx="3063240" cy="1554480"/>
          </a:xfrm>
          <a:prstGeom prst="rect">
            <a:avLst/>
          </a:prstGeom>
          <a:noFill/>
          <a:ln/>
        </p:spPr>
        <p:txBody>
          <a:bodyPr wrap="square" lIns="0" tIns="0" rIns="0" bIns="0" rtlCol="0" anchor="t"/>
          <a:lstStyle/>
          <a:p>
            <a:pPr algn="l" indent="0" marL="0">
              <a:lnSpc>
                <a:spcPct val="115000"/>
              </a:lnSpc>
              <a:buNone/>
            </a:pPr>
            <a:r>
              <a:rPr lang="en-US" sz="1350" dirty="0">
                <a:solidFill>
                  <a:srgbClr val="5F6368"/>
                </a:solidFill>
                <a:latin typeface="Calibri" pitchFamily="34" charset="0"/>
                <a:ea typeface="Calibri" pitchFamily="34" charset="-122"/>
                <a:cs typeface="Calibri" pitchFamily="34" charset="-120"/>
              </a:rPr>
              <a:t>Your phone today is millions of times more powerful than 1969 NASA computers.</a:t>
            </a:r>
            <a:endParaRPr lang="en-US" sz="1350" dirty="0"/>
          </a:p>
        </p:txBody>
      </p:sp>
      <p:sp>
        <p:nvSpPr>
          <p:cNvPr id="24" name="Text 22"/>
          <p:cNvSpPr/>
          <p:nvPr/>
        </p:nvSpPr>
        <p:spPr>
          <a:xfrm>
            <a:off x="548640" y="5074920"/>
            <a:ext cx="10972800" cy="457200"/>
          </a:xfrm>
          <a:prstGeom prst="rect">
            <a:avLst/>
          </a:prstGeom>
          <a:noFill/>
          <a:ln/>
        </p:spPr>
        <p:txBody>
          <a:bodyPr wrap="square" lIns="0" tIns="0" rIns="0" bIns="0" rtlCol="0" anchor="ctr"/>
          <a:lstStyle/>
          <a:p>
            <a:pPr algn="ctr" indent="0" marL="0">
              <a:buNone/>
            </a:pPr>
            <a:r>
              <a:rPr lang="en-US" sz="1400" i="1" dirty="0">
                <a:solidFill>
                  <a:srgbClr val="80868B"/>
                </a:solidFill>
                <a:latin typeface="Calibri" pitchFamily="34" charset="0"/>
                <a:ea typeface="Calibri" pitchFamily="34" charset="-122"/>
                <a:cs typeface="Calibri" pitchFamily="34" charset="-120"/>
              </a:rPr>
              <a:t>The machines got smaller and faster — but the big leap was making them easier to PROGRAM.</a:t>
            </a:r>
            <a:endParaRPr lang="en-US" sz="1400" dirty="0"/>
          </a:p>
        </p:txBody>
      </p:sp>
      <p:sp>
        <p:nvSpPr>
          <p:cNvPr id="25" name="Text 23"/>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26" name="Text 24"/>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FBBC04"/>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FBBC04"/>
                </a:solidFill>
                <a:latin typeface="Calibri" pitchFamily="34" charset="0"/>
                <a:ea typeface="Calibri" pitchFamily="34" charset="-122"/>
                <a:cs typeface="Calibri" pitchFamily="34" charset="-120"/>
              </a:rPr>
              <a:t>HISTORY</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Languages that changed everything</a:t>
            </a:r>
            <a:endParaRPr lang="en-US" sz="2900" dirty="0"/>
          </a:p>
        </p:txBody>
      </p:sp>
      <p:sp>
        <p:nvSpPr>
          <p:cNvPr id="9" name="Shape 7"/>
          <p:cNvSpPr/>
          <p:nvPr/>
        </p:nvSpPr>
        <p:spPr>
          <a:xfrm>
            <a:off x="914400" y="2286000"/>
            <a:ext cx="10332720" cy="0"/>
          </a:xfrm>
          <a:prstGeom prst="line">
            <a:avLst/>
          </a:prstGeom>
          <a:noFill/>
          <a:ln w="25400">
            <a:solidFill>
              <a:srgbClr val="E8EAED"/>
            </a:solidFill>
            <a:prstDash val="solid"/>
          </a:ln>
        </p:spPr>
      </p:sp>
      <p:sp>
        <p:nvSpPr>
          <p:cNvPr id="10" name="Shape 8"/>
          <p:cNvSpPr/>
          <p:nvPr/>
        </p:nvSpPr>
        <p:spPr>
          <a:xfrm>
            <a:off x="1755648" y="2157984"/>
            <a:ext cx="256032" cy="256032"/>
          </a:xfrm>
          <a:prstGeom prst="ellipse">
            <a:avLst/>
          </a:prstGeom>
          <a:solidFill>
            <a:srgbClr val="4285F4"/>
          </a:solidFill>
          <a:ln w="25400">
            <a:solidFill>
              <a:srgbClr val="FFFFFF"/>
            </a:solidFill>
            <a:prstDash val="solid"/>
          </a:ln>
        </p:spPr>
      </p:sp>
      <p:sp>
        <p:nvSpPr>
          <p:cNvPr id="11" name="Shape 9"/>
          <p:cNvSpPr/>
          <p:nvPr/>
        </p:nvSpPr>
        <p:spPr>
          <a:xfrm>
            <a:off x="548640" y="2697480"/>
            <a:ext cx="2606040" cy="2286000"/>
          </a:xfrm>
          <a:prstGeom prst="roundRect">
            <a:avLst>
              <a:gd name="adj" fmla="val 3600"/>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2" name="Text 10"/>
          <p:cNvSpPr/>
          <p:nvPr/>
        </p:nvSpPr>
        <p:spPr>
          <a:xfrm>
            <a:off x="731520" y="2880360"/>
            <a:ext cx="2286000" cy="365760"/>
          </a:xfrm>
          <a:prstGeom prst="rect">
            <a:avLst/>
          </a:prstGeom>
          <a:noFill/>
          <a:ln/>
        </p:spPr>
        <p:txBody>
          <a:bodyPr wrap="square" lIns="0" tIns="0" rIns="0" bIns="0" rtlCol="0" anchor="ctr"/>
          <a:lstStyle/>
          <a:p>
            <a:pPr algn="l" indent="0" marL="0">
              <a:buNone/>
            </a:pPr>
            <a:r>
              <a:rPr lang="en-US" sz="1300" b="1" dirty="0">
                <a:solidFill>
                  <a:srgbClr val="4285F4"/>
                </a:solidFill>
                <a:latin typeface="Calibri" pitchFamily="34" charset="0"/>
                <a:ea typeface="Calibri" pitchFamily="34" charset="-122"/>
                <a:cs typeface="Calibri" pitchFamily="34" charset="-120"/>
              </a:rPr>
              <a:t>1957</a:t>
            </a:r>
            <a:endParaRPr lang="en-US" sz="1300" dirty="0"/>
          </a:p>
        </p:txBody>
      </p:sp>
      <p:sp>
        <p:nvSpPr>
          <p:cNvPr id="13" name="Text 11"/>
          <p:cNvSpPr/>
          <p:nvPr/>
        </p:nvSpPr>
        <p:spPr>
          <a:xfrm>
            <a:off x="731520" y="3200400"/>
            <a:ext cx="2286000" cy="502920"/>
          </a:xfrm>
          <a:prstGeom prst="rect">
            <a:avLst/>
          </a:prstGeom>
          <a:noFill/>
          <a:ln/>
        </p:spPr>
        <p:txBody>
          <a:bodyPr wrap="square" lIns="0" tIns="0" rIns="0" bIns="0" rtlCol="0" anchor="ctr"/>
          <a:lstStyle/>
          <a:p>
            <a:pPr algn="l" indent="0" marL="0">
              <a:buNone/>
            </a:pPr>
            <a:r>
              <a:rPr lang="en-US" sz="1900" b="1" dirty="0">
                <a:solidFill>
                  <a:srgbClr val="202124"/>
                </a:solidFill>
                <a:latin typeface="Georgia" pitchFamily="34" charset="0"/>
                <a:ea typeface="Georgia" pitchFamily="34" charset="-122"/>
                <a:cs typeface="Georgia" pitchFamily="34" charset="-120"/>
              </a:rPr>
              <a:t>FORTRAN</a:t>
            </a:r>
            <a:endParaRPr lang="en-US" sz="1900" dirty="0"/>
          </a:p>
        </p:txBody>
      </p:sp>
      <p:sp>
        <p:nvSpPr>
          <p:cNvPr id="14" name="Text 12"/>
          <p:cNvSpPr/>
          <p:nvPr/>
        </p:nvSpPr>
        <p:spPr>
          <a:xfrm>
            <a:off x="731520" y="3730752"/>
            <a:ext cx="2286000" cy="1188720"/>
          </a:xfrm>
          <a:prstGeom prst="rect">
            <a:avLst/>
          </a:prstGeom>
          <a:noFill/>
          <a:ln/>
        </p:spPr>
        <p:txBody>
          <a:bodyPr wrap="square" lIns="0" tIns="0" rIns="0" bIns="0" rtlCol="0" anchor="t"/>
          <a:lstStyle/>
          <a:p>
            <a:pPr algn="l" indent="0" marL="0">
              <a:lnSpc>
                <a:spcPct val="112000"/>
              </a:lnSpc>
              <a:buNone/>
            </a:pPr>
            <a:r>
              <a:rPr lang="en-US" sz="1250" dirty="0">
                <a:solidFill>
                  <a:srgbClr val="5F6368"/>
                </a:solidFill>
                <a:latin typeface="Calibri" pitchFamily="34" charset="0"/>
                <a:ea typeface="Calibri" pitchFamily="34" charset="-122"/>
                <a:cs typeface="Calibri" pitchFamily="34" charset="-120"/>
              </a:rPr>
              <a:t>First popular high-level language — real words instead of raw machine code.</a:t>
            </a:r>
            <a:endParaRPr lang="en-US" sz="1250" dirty="0"/>
          </a:p>
        </p:txBody>
      </p:sp>
      <p:sp>
        <p:nvSpPr>
          <p:cNvPr id="15" name="Shape 13"/>
          <p:cNvSpPr/>
          <p:nvPr/>
        </p:nvSpPr>
        <p:spPr>
          <a:xfrm>
            <a:off x="4544568" y="2157984"/>
            <a:ext cx="256032" cy="256032"/>
          </a:xfrm>
          <a:prstGeom prst="ellipse">
            <a:avLst/>
          </a:prstGeom>
          <a:solidFill>
            <a:srgbClr val="EA4335"/>
          </a:solidFill>
          <a:ln w="25400">
            <a:solidFill>
              <a:srgbClr val="FFFFFF"/>
            </a:solidFill>
            <a:prstDash val="solid"/>
          </a:ln>
        </p:spPr>
      </p:sp>
      <p:sp>
        <p:nvSpPr>
          <p:cNvPr id="16" name="Shape 14"/>
          <p:cNvSpPr/>
          <p:nvPr/>
        </p:nvSpPr>
        <p:spPr>
          <a:xfrm>
            <a:off x="3337560" y="2697480"/>
            <a:ext cx="2606040" cy="2286000"/>
          </a:xfrm>
          <a:prstGeom prst="roundRect">
            <a:avLst>
              <a:gd name="adj" fmla="val 3600"/>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7" name="Text 15"/>
          <p:cNvSpPr/>
          <p:nvPr/>
        </p:nvSpPr>
        <p:spPr>
          <a:xfrm>
            <a:off x="3520440" y="2880360"/>
            <a:ext cx="2286000" cy="365760"/>
          </a:xfrm>
          <a:prstGeom prst="rect">
            <a:avLst/>
          </a:prstGeom>
          <a:noFill/>
          <a:ln/>
        </p:spPr>
        <p:txBody>
          <a:bodyPr wrap="square" lIns="0" tIns="0" rIns="0" bIns="0" rtlCol="0" anchor="ctr"/>
          <a:lstStyle/>
          <a:p>
            <a:pPr algn="l" indent="0" marL="0">
              <a:buNone/>
            </a:pPr>
            <a:r>
              <a:rPr lang="en-US" sz="1300" b="1" dirty="0">
                <a:solidFill>
                  <a:srgbClr val="EA4335"/>
                </a:solidFill>
                <a:latin typeface="Calibri" pitchFamily="34" charset="0"/>
                <a:ea typeface="Calibri" pitchFamily="34" charset="-122"/>
                <a:cs typeface="Calibri" pitchFamily="34" charset="-120"/>
              </a:rPr>
              <a:t>1972</a:t>
            </a:r>
            <a:endParaRPr lang="en-US" sz="1300" dirty="0"/>
          </a:p>
        </p:txBody>
      </p:sp>
      <p:sp>
        <p:nvSpPr>
          <p:cNvPr id="18" name="Text 16"/>
          <p:cNvSpPr/>
          <p:nvPr/>
        </p:nvSpPr>
        <p:spPr>
          <a:xfrm>
            <a:off x="3520440" y="3200400"/>
            <a:ext cx="2286000" cy="502920"/>
          </a:xfrm>
          <a:prstGeom prst="rect">
            <a:avLst/>
          </a:prstGeom>
          <a:noFill/>
          <a:ln/>
        </p:spPr>
        <p:txBody>
          <a:bodyPr wrap="square" lIns="0" tIns="0" rIns="0" bIns="0" rtlCol="0" anchor="ctr"/>
          <a:lstStyle/>
          <a:p>
            <a:pPr algn="l" indent="0" marL="0">
              <a:buNone/>
            </a:pPr>
            <a:r>
              <a:rPr lang="en-US" sz="1900" b="1" dirty="0">
                <a:solidFill>
                  <a:srgbClr val="202124"/>
                </a:solidFill>
                <a:latin typeface="Georgia" pitchFamily="34" charset="0"/>
                <a:ea typeface="Georgia" pitchFamily="34" charset="-122"/>
                <a:cs typeface="Georgia" pitchFamily="34" charset="-120"/>
              </a:rPr>
              <a:t>C</a:t>
            </a:r>
            <a:endParaRPr lang="en-US" sz="1900" dirty="0"/>
          </a:p>
        </p:txBody>
      </p:sp>
      <p:sp>
        <p:nvSpPr>
          <p:cNvPr id="19" name="Text 17"/>
          <p:cNvSpPr/>
          <p:nvPr/>
        </p:nvSpPr>
        <p:spPr>
          <a:xfrm>
            <a:off x="3520440" y="3730752"/>
            <a:ext cx="2286000" cy="1188720"/>
          </a:xfrm>
          <a:prstGeom prst="rect">
            <a:avLst/>
          </a:prstGeom>
          <a:noFill/>
          <a:ln/>
        </p:spPr>
        <p:txBody>
          <a:bodyPr wrap="square" lIns="0" tIns="0" rIns="0" bIns="0" rtlCol="0" anchor="t"/>
          <a:lstStyle/>
          <a:p>
            <a:pPr algn="l" indent="0" marL="0">
              <a:lnSpc>
                <a:spcPct val="112000"/>
              </a:lnSpc>
              <a:buNone/>
            </a:pPr>
            <a:r>
              <a:rPr lang="en-US" sz="1250" dirty="0">
                <a:solidFill>
                  <a:srgbClr val="5F6368"/>
                </a:solidFill>
                <a:latin typeface="Calibri" pitchFamily="34" charset="0"/>
                <a:ea typeface="Calibri" pitchFamily="34" charset="-122"/>
                <a:cs typeface="Calibri" pitchFamily="34" charset="-120"/>
              </a:rPr>
              <a:t>Fast and powerful. Still used for operating systems today.</a:t>
            </a:r>
            <a:endParaRPr lang="en-US" sz="1250" dirty="0"/>
          </a:p>
        </p:txBody>
      </p:sp>
      <p:sp>
        <p:nvSpPr>
          <p:cNvPr id="20" name="Shape 18"/>
          <p:cNvSpPr/>
          <p:nvPr/>
        </p:nvSpPr>
        <p:spPr>
          <a:xfrm>
            <a:off x="7333488" y="2157984"/>
            <a:ext cx="256032" cy="256032"/>
          </a:xfrm>
          <a:prstGeom prst="ellipse">
            <a:avLst/>
          </a:prstGeom>
          <a:solidFill>
            <a:srgbClr val="34A853"/>
          </a:solidFill>
          <a:ln w="25400">
            <a:solidFill>
              <a:srgbClr val="FFFFFF"/>
            </a:solidFill>
            <a:prstDash val="solid"/>
          </a:ln>
        </p:spPr>
      </p:sp>
      <p:sp>
        <p:nvSpPr>
          <p:cNvPr id="21" name="Shape 19"/>
          <p:cNvSpPr/>
          <p:nvPr/>
        </p:nvSpPr>
        <p:spPr>
          <a:xfrm>
            <a:off x="6126480" y="2697480"/>
            <a:ext cx="2606040" cy="2286000"/>
          </a:xfrm>
          <a:prstGeom prst="roundRect">
            <a:avLst>
              <a:gd name="adj" fmla="val 3600"/>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22" name="Text 20"/>
          <p:cNvSpPr/>
          <p:nvPr/>
        </p:nvSpPr>
        <p:spPr>
          <a:xfrm>
            <a:off x="6309360" y="2880360"/>
            <a:ext cx="2286000" cy="365760"/>
          </a:xfrm>
          <a:prstGeom prst="rect">
            <a:avLst/>
          </a:prstGeom>
          <a:noFill/>
          <a:ln/>
        </p:spPr>
        <p:txBody>
          <a:bodyPr wrap="square" lIns="0" tIns="0" rIns="0" bIns="0" rtlCol="0" anchor="ctr"/>
          <a:lstStyle/>
          <a:p>
            <a:pPr algn="l" indent="0" marL="0">
              <a:buNone/>
            </a:pPr>
            <a:r>
              <a:rPr lang="en-US" sz="1300" b="1" dirty="0">
                <a:solidFill>
                  <a:srgbClr val="34A853"/>
                </a:solidFill>
                <a:latin typeface="Calibri" pitchFamily="34" charset="0"/>
                <a:ea typeface="Calibri" pitchFamily="34" charset="-122"/>
                <a:cs typeface="Calibri" pitchFamily="34" charset="-120"/>
              </a:rPr>
              <a:t>1991</a:t>
            </a:r>
            <a:endParaRPr lang="en-US" sz="1300" dirty="0"/>
          </a:p>
        </p:txBody>
      </p:sp>
      <p:sp>
        <p:nvSpPr>
          <p:cNvPr id="23" name="Text 21"/>
          <p:cNvSpPr/>
          <p:nvPr/>
        </p:nvSpPr>
        <p:spPr>
          <a:xfrm>
            <a:off x="6309360" y="3200400"/>
            <a:ext cx="2286000" cy="502920"/>
          </a:xfrm>
          <a:prstGeom prst="rect">
            <a:avLst/>
          </a:prstGeom>
          <a:noFill/>
          <a:ln/>
        </p:spPr>
        <p:txBody>
          <a:bodyPr wrap="square" lIns="0" tIns="0" rIns="0" bIns="0" rtlCol="0" anchor="ctr"/>
          <a:lstStyle/>
          <a:p>
            <a:pPr algn="l" indent="0" marL="0">
              <a:buNone/>
            </a:pPr>
            <a:r>
              <a:rPr lang="en-US" sz="1900" b="1" dirty="0">
                <a:solidFill>
                  <a:srgbClr val="202124"/>
                </a:solidFill>
                <a:latin typeface="Georgia" pitchFamily="34" charset="0"/>
                <a:ea typeface="Georgia" pitchFamily="34" charset="-122"/>
                <a:cs typeface="Georgia" pitchFamily="34" charset="-120"/>
              </a:rPr>
              <a:t>Python</a:t>
            </a:r>
            <a:endParaRPr lang="en-US" sz="1900" dirty="0"/>
          </a:p>
        </p:txBody>
      </p:sp>
      <p:sp>
        <p:nvSpPr>
          <p:cNvPr id="24" name="Text 22"/>
          <p:cNvSpPr/>
          <p:nvPr/>
        </p:nvSpPr>
        <p:spPr>
          <a:xfrm>
            <a:off x="6309360" y="3730752"/>
            <a:ext cx="2286000" cy="1188720"/>
          </a:xfrm>
          <a:prstGeom prst="rect">
            <a:avLst/>
          </a:prstGeom>
          <a:noFill/>
          <a:ln/>
        </p:spPr>
        <p:txBody>
          <a:bodyPr wrap="square" lIns="0" tIns="0" rIns="0" bIns="0" rtlCol="0" anchor="t"/>
          <a:lstStyle/>
          <a:p>
            <a:pPr algn="l" indent="0" marL="0">
              <a:lnSpc>
                <a:spcPct val="112000"/>
              </a:lnSpc>
              <a:buNone/>
            </a:pPr>
            <a:r>
              <a:rPr lang="en-US" sz="1250" dirty="0">
                <a:solidFill>
                  <a:srgbClr val="5F6368"/>
                </a:solidFill>
                <a:latin typeface="Calibri" pitchFamily="34" charset="0"/>
                <a:ea typeface="Calibri" pitchFamily="34" charset="-122"/>
                <a:cs typeface="Calibri" pitchFamily="34" charset="-120"/>
              </a:rPr>
              <a:t>Designed to be easy to read. Huge in AI and science now.</a:t>
            </a:r>
            <a:endParaRPr lang="en-US" sz="1250" dirty="0"/>
          </a:p>
        </p:txBody>
      </p:sp>
      <p:sp>
        <p:nvSpPr>
          <p:cNvPr id="25" name="Shape 23"/>
          <p:cNvSpPr/>
          <p:nvPr/>
        </p:nvSpPr>
        <p:spPr>
          <a:xfrm>
            <a:off x="10122408" y="2157984"/>
            <a:ext cx="256032" cy="256032"/>
          </a:xfrm>
          <a:prstGeom prst="ellipse">
            <a:avLst/>
          </a:prstGeom>
          <a:solidFill>
            <a:srgbClr val="FBBC04"/>
          </a:solidFill>
          <a:ln w="25400">
            <a:solidFill>
              <a:srgbClr val="FFFFFF"/>
            </a:solidFill>
            <a:prstDash val="solid"/>
          </a:ln>
        </p:spPr>
      </p:sp>
      <p:sp>
        <p:nvSpPr>
          <p:cNvPr id="26" name="Shape 24"/>
          <p:cNvSpPr/>
          <p:nvPr/>
        </p:nvSpPr>
        <p:spPr>
          <a:xfrm>
            <a:off x="8915400" y="2697480"/>
            <a:ext cx="2606040" cy="2286000"/>
          </a:xfrm>
          <a:prstGeom prst="roundRect">
            <a:avLst>
              <a:gd name="adj" fmla="val 3600"/>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27" name="Text 25"/>
          <p:cNvSpPr/>
          <p:nvPr/>
        </p:nvSpPr>
        <p:spPr>
          <a:xfrm>
            <a:off x="9098280" y="2880360"/>
            <a:ext cx="2286000" cy="365760"/>
          </a:xfrm>
          <a:prstGeom prst="rect">
            <a:avLst/>
          </a:prstGeom>
          <a:noFill/>
          <a:ln/>
        </p:spPr>
        <p:txBody>
          <a:bodyPr wrap="square" lIns="0" tIns="0" rIns="0" bIns="0" rtlCol="0" anchor="ctr"/>
          <a:lstStyle/>
          <a:p>
            <a:pPr algn="l" indent="0" marL="0">
              <a:buNone/>
            </a:pPr>
            <a:r>
              <a:rPr lang="en-US" sz="1300" b="1" dirty="0">
                <a:solidFill>
                  <a:srgbClr val="FBBC04"/>
                </a:solidFill>
                <a:latin typeface="Calibri" pitchFamily="34" charset="0"/>
                <a:ea typeface="Calibri" pitchFamily="34" charset="-122"/>
                <a:cs typeface="Calibri" pitchFamily="34" charset="-120"/>
              </a:rPr>
              <a:t>1995</a:t>
            </a:r>
            <a:endParaRPr lang="en-US" sz="1300" dirty="0"/>
          </a:p>
        </p:txBody>
      </p:sp>
      <p:sp>
        <p:nvSpPr>
          <p:cNvPr id="28" name="Text 26"/>
          <p:cNvSpPr/>
          <p:nvPr/>
        </p:nvSpPr>
        <p:spPr>
          <a:xfrm>
            <a:off x="9098280" y="3200400"/>
            <a:ext cx="2286000" cy="502920"/>
          </a:xfrm>
          <a:prstGeom prst="rect">
            <a:avLst/>
          </a:prstGeom>
          <a:noFill/>
          <a:ln/>
        </p:spPr>
        <p:txBody>
          <a:bodyPr wrap="square" lIns="0" tIns="0" rIns="0" bIns="0" rtlCol="0" anchor="ctr"/>
          <a:lstStyle/>
          <a:p>
            <a:pPr algn="l" indent="0" marL="0">
              <a:buNone/>
            </a:pPr>
            <a:r>
              <a:rPr lang="en-US" sz="1900" b="1" dirty="0">
                <a:solidFill>
                  <a:srgbClr val="202124"/>
                </a:solidFill>
                <a:latin typeface="Georgia" pitchFamily="34" charset="0"/>
                <a:ea typeface="Georgia" pitchFamily="34" charset="-122"/>
                <a:cs typeface="Georgia" pitchFamily="34" charset="-120"/>
              </a:rPr>
              <a:t>JavaScript</a:t>
            </a:r>
            <a:endParaRPr lang="en-US" sz="1900" dirty="0"/>
          </a:p>
        </p:txBody>
      </p:sp>
      <p:sp>
        <p:nvSpPr>
          <p:cNvPr id="29" name="Text 27"/>
          <p:cNvSpPr/>
          <p:nvPr/>
        </p:nvSpPr>
        <p:spPr>
          <a:xfrm>
            <a:off x="9098280" y="3730752"/>
            <a:ext cx="2286000" cy="1188720"/>
          </a:xfrm>
          <a:prstGeom prst="rect">
            <a:avLst/>
          </a:prstGeom>
          <a:noFill/>
          <a:ln/>
        </p:spPr>
        <p:txBody>
          <a:bodyPr wrap="square" lIns="0" tIns="0" rIns="0" bIns="0" rtlCol="0" anchor="t"/>
          <a:lstStyle/>
          <a:p>
            <a:pPr algn="l" indent="0" marL="0">
              <a:lnSpc>
                <a:spcPct val="112000"/>
              </a:lnSpc>
              <a:buNone/>
            </a:pPr>
            <a:r>
              <a:rPr lang="en-US" sz="1250" dirty="0">
                <a:solidFill>
                  <a:srgbClr val="5F6368"/>
                </a:solidFill>
                <a:latin typeface="Calibri" pitchFamily="34" charset="0"/>
                <a:ea typeface="Calibri" pitchFamily="34" charset="-122"/>
                <a:cs typeface="Calibri" pitchFamily="34" charset="-120"/>
              </a:rPr>
              <a:t>Made web pages interactive. The seed that TypeScript grows from.</a:t>
            </a:r>
            <a:endParaRPr lang="en-US" sz="1250" dirty="0"/>
          </a:p>
        </p:txBody>
      </p:sp>
      <p:sp>
        <p:nvSpPr>
          <p:cNvPr id="30" name="Text 28"/>
          <p:cNvSpPr/>
          <p:nvPr/>
        </p:nvSpPr>
        <p:spPr>
          <a:xfrm>
            <a:off x="548640" y="5212080"/>
            <a:ext cx="10972800" cy="365760"/>
          </a:xfrm>
          <a:prstGeom prst="rect">
            <a:avLst/>
          </a:prstGeom>
          <a:noFill/>
          <a:ln/>
        </p:spPr>
        <p:txBody>
          <a:bodyPr wrap="square" lIns="0" tIns="0" rIns="0" bIns="0" rtlCol="0" anchor="ctr"/>
          <a:lstStyle/>
          <a:p>
            <a:pPr algn="ctr" indent="0" marL="0">
              <a:buNone/>
            </a:pPr>
            <a:r>
              <a:rPr lang="en-US" sz="1400" b="1" dirty="0">
                <a:solidFill>
                  <a:srgbClr val="5F6368"/>
                </a:solidFill>
                <a:latin typeface="Calibri" pitchFamily="34" charset="0"/>
                <a:ea typeface="Calibri" pitchFamily="34" charset="-122"/>
                <a:cs typeface="Calibri" pitchFamily="34" charset="-120"/>
              </a:rPr>
              <a:t>Notice the trend — each new language made coding a little more human-friendly.</a:t>
            </a:r>
            <a:endParaRPr lang="en-US" sz="1400" dirty="0"/>
          </a:p>
        </p:txBody>
      </p:sp>
      <p:sp>
        <p:nvSpPr>
          <p:cNvPr id="31" name="Text 29"/>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32" name="Text 30"/>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4285F4"/>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4285F4"/>
                </a:solidFill>
                <a:latin typeface="Calibri" pitchFamily="34" charset="0"/>
                <a:ea typeface="Calibri" pitchFamily="34" charset="-122"/>
                <a:cs typeface="Calibri" pitchFamily="34" charset="-120"/>
              </a:rPr>
              <a:t>HISTORY</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The web changed the game</a:t>
            </a:r>
            <a:endParaRPr lang="en-US" sz="2900" dirty="0"/>
          </a:p>
        </p:txBody>
      </p:sp>
      <p:sp>
        <p:nvSpPr>
          <p:cNvPr id="9" name="Text 7"/>
          <p:cNvSpPr/>
          <p:nvPr/>
        </p:nvSpPr>
        <p:spPr>
          <a:xfrm>
            <a:off x="548640" y="1691640"/>
            <a:ext cx="6492240" cy="1463040"/>
          </a:xfrm>
          <a:prstGeom prst="rect">
            <a:avLst/>
          </a:prstGeom>
          <a:noFill/>
          <a:ln/>
        </p:spPr>
        <p:txBody>
          <a:bodyPr wrap="square" lIns="0" tIns="0" rIns="0" bIns="0" rtlCol="0" anchor="t"/>
          <a:lstStyle/>
          <a:p>
            <a:pPr algn="l" indent="0" marL="0">
              <a:lnSpc>
                <a:spcPct val="118000"/>
              </a:lnSpc>
              <a:buNone/>
            </a:pPr>
            <a:r>
              <a:rPr lang="en-US" sz="1600" dirty="0">
                <a:solidFill>
                  <a:srgbClr val="5F6368"/>
                </a:solidFill>
                <a:latin typeface="Calibri" pitchFamily="34" charset="0"/>
                <a:ea typeface="Calibri" pitchFamily="34" charset="-122"/>
                <a:cs typeface="Calibri" pitchFamily="34" charset="-120"/>
              </a:rPr>
              <a:t>In 1995, a brand-new language called JavaScript was created in just 10 days. Its job: make web pages come alive — buttons that click, menus that pop, games that play — right inside your browser.</a:t>
            </a:r>
            <a:endParaRPr lang="en-US" sz="1600" dirty="0"/>
          </a:p>
        </p:txBody>
      </p:sp>
      <p:sp>
        <p:nvSpPr>
          <p:cNvPr id="10" name="Shape 8"/>
          <p:cNvSpPr/>
          <p:nvPr/>
        </p:nvSpPr>
        <p:spPr>
          <a:xfrm>
            <a:off x="548640" y="3200400"/>
            <a:ext cx="6492240" cy="1828800"/>
          </a:xfrm>
          <a:prstGeom prst="roundRect">
            <a:avLst>
              <a:gd name="adj" fmla="val 4500"/>
            </a:avLst>
          </a:prstGeom>
          <a:solidFill>
            <a:srgbClr val="F8F9FA"/>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1" name="Text 9"/>
          <p:cNvSpPr/>
          <p:nvPr/>
        </p:nvSpPr>
        <p:spPr>
          <a:xfrm>
            <a:off x="822960" y="3383280"/>
            <a:ext cx="5943600" cy="411480"/>
          </a:xfrm>
          <a:prstGeom prst="rect">
            <a:avLst/>
          </a:prstGeom>
          <a:noFill/>
          <a:ln/>
        </p:spPr>
        <p:txBody>
          <a:bodyPr wrap="square" lIns="0" tIns="0" rIns="0" bIns="0" rtlCol="0" anchor="ctr"/>
          <a:lstStyle/>
          <a:p>
            <a:pPr algn="l" indent="0" marL="0">
              <a:buNone/>
            </a:pPr>
            <a:r>
              <a:rPr lang="en-US" sz="1600" b="1" dirty="0">
                <a:solidFill>
                  <a:srgbClr val="202124"/>
                </a:solidFill>
                <a:latin typeface="Georgia" pitchFamily="34" charset="0"/>
                <a:ea typeface="Georgia" pitchFamily="34" charset="-122"/>
                <a:cs typeface="Georgia" pitchFamily="34" charset="-120"/>
              </a:rPr>
              <a:t>Every website you use runs JavaScript.</a:t>
            </a:r>
            <a:endParaRPr lang="en-US" sz="1600" dirty="0"/>
          </a:p>
        </p:txBody>
      </p:sp>
      <p:sp>
        <p:nvSpPr>
          <p:cNvPr id="12" name="Text 10"/>
          <p:cNvSpPr/>
          <p:nvPr/>
        </p:nvSpPr>
        <p:spPr>
          <a:xfrm>
            <a:off x="822960" y="3840480"/>
            <a:ext cx="5943600" cy="1005840"/>
          </a:xfrm>
          <a:prstGeom prst="rect">
            <a:avLst/>
          </a:prstGeom>
          <a:noFill/>
          <a:ln/>
        </p:spPr>
        <p:txBody>
          <a:bodyPr wrap="square" lIns="0" tIns="0" rIns="0" bIns="0" rtlCol="0" anchor="t"/>
          <a:lstStyle/>
          <a:p>
            <a:pPr algn="l" indent="0" marL="0">
              <a:lnSpc>
                <a:spcPct val="115000"/>
              </a:lnSpc>
              <a:buNone/>
            </a:pPr>
            <a:r>
              <a:rPr lang="en-US" sz="1400" dirty="0">
                <a:solidFill>
                  <a:srgbClr val="5F6368"/>
                </a:solidFill>
                <a:latin typeface="Calibri" pitchFamily="34" charset="0"/>
                <a:ea typeface="Calibri" pitchFamily="34" charset="-122"/>
                <a:cs typeface="Calibri" pitchFamily="34" charset="-120"/>
              </a:rPr>
              <a:t>YouTube · Instagram · Google Docs · online games · school portals — all of them use JavaScript to respond to what you do.</a:t>
            </a:r>
            <a:endParaRPr lang="en-US" sz="1400" dirty="0"/>
          </a:p>
        </p:txBody>
      </p:sp>
      <p:sp>
        <p:nvSpPr>
          <p:cNvPr id="13" name="Shape 11"/>
          <p:cNvSpPr/>
          <p:nvPr/>
        </p:nvSpPr>
        <p:spPr>
          <a:xfrm>
            <a:off x="7315200" y="1691640"/>
            <a:ext cx="4297680" cy="3337560"/>
          </a:xfrm>
          <a:prstGeom prst="roundRect">
            <a:avLst>
              <a:gd name="adj" fmla="val 2466"/>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4" name="Text 12"/>
          <p:cNvSpPr/>
          <p:nvPr/>
        </p:nvSpPr>
        <p:spPr>
          <a:xfrm>
            <a:off x="7589520" y="1920240"/>
            <a:ext cx="3749040" cy="411480"/>
          </a:xfrm>
          <a:prstGeom prst="rect">
            <a:avLst/>
          </a:prstGeom>
          <a:noFill/>
          <a:ln/>
        </p:spPr>
        <p:txBody>
          <a:bodyPr wrap="square" lIns="0" tIns="0" rIns="0" bIns="0" rtlCol="0" anchor="ctr"/>
          <a:lstStyle/>
          <a:p>
            <a:pPr algn="l" indent="0" marL="0">
              <a:buNone/>
            </a:pPr>
            <a:r>
              <a:rPr lang="en-US" sz="1600" b="1" dirty="0">
                <a:solidFill>
                  <a:srgbClr val="EA4335"/>
                </a:solidFill>
                <a:latin typeface="Georgia" pitchFamily="34" charset="0"/>
                <a:ea typeface="Georgia" pitchFamily="34" charset="-122"/>
                <a:cs typeface="Georgia" pitchFamily="34" charset="-120"/>
              </a:rPr>
              <a:t>But there was a problem…</a:t>
            </a:r>
            <a:endParaRPr lang="en-US" sz="1600" dirty="0"/>
          </a:p>
        </p:txBody>
      </p:sp>
      <p:sp>
        <p:nvSpPr>
          <p:cNvPr id="15" name="Text 13"/>
          <p:cNvSpPr/>
          <p:nvPr/>
        </p:nvSpPr>
        <p:spPr>
          <a:xfrm>
            <a:off x="7589520" y="2377440"/>
            <a:ext cx="3749040" cy="2468880"/>
          </a:xfrm>
          <a:prstGeom prst="rect">
            <a:avLst/>
          </a:prstGeom>
          <a:noFill/>
          <a:ln/>
        </p:spPr>
        <p:txBody>
          <a:bodyPr wrap="square" lIns="0" tIns="0" rIns="0" bIns="0" rtlCol="0" anchor="t"/>
          <a:lstStyle/>
          <a:p>
            <a:pPr algn="l" indent="0" marL="0">
              <a:lnSpc>
                <a:spcPct val="115000"/>
              </a:lnSpc>
              <a:buNone/>
            </a:pPr>
            <a:r>
              <a:rPr lang="en-US" sz="1350" dirty="0">
                <a:solidFill>
                  <a:srgbClr val="5F6368"/>
                </a:solidFill>
                <a:latin typeface="Calibri" pitchFamily="34" charset="0"/>
                <a:ea typeface="Calibri" pitchFamily="34" charset="-122"/>
                <a:cs typeface="Calibri" pitchFamily="34" charset="-120"/>
              </a:rPr>
              <a:t>JavaScript was built fast and loose. On big projects it let tiny mistakes slip through — a typo could crash a whole website and nobody would notice until users did.</a:t>
            </a:r>
            <a:pPr algn="l" indent="0" marL="0">
              <a:lnSpc>
                <a:spcPct val="115000"/>
              </a:lnSpc>
              <a:buNone/>
            </a:pPr>
            <a:endParaRPr lang="en-US" sz="1350" dirty="0"/>
          </a:p>
          <a:p>
            <a:pPr algn="l" indent="0" marL="0">
              <a:lnSpc>
                <a:spcPct val="115000"/>
              </a:lnSpc>
              <a:buNone/>
            </a:pPr>
            <a:endParaRPr lang="en-US" sz="1350" dirty="0"/>
          </a:p>
          <a:p>
            <a:pPr algn="l" indent="0" marL="0">
              <a:lnSpc>
                <a:spcPct val="115000"/>
              </a:lnSpc>
              <a:buNone/>
            </a:pPr>
            <a:r>
              <a:rPr lang="en-US" sz="1350" dirty="0">
                <a:solidFill>
                  <a:srgbClr val="5F6368"/>
                </a:solidFill>
                <a:latin typeface="Calibri" pitchFamily="34" charset="0"/>
                <a:ea typeface="Calibri" pitchFamily="34" charset="-122"/>
                <a:cs typeface="Calibri" pitchFamily="34" charset="-120"/>
              </a:rPr>
              <a:t>Hold that thought. This exact problem is why </a:t>
            </a:r>
            <a:endParaRPr lang="en-US" sz="1350" dirty="0"/>
          </a:p>
          <a:p>
            <a:pPr algn="l" indent="0" marL="0">
              <a:lnSpc>
                <a:spcPct val="115000"/>
              </a:lnSpc>
              <a:buNone/>
            </a:pPr>
            <a:r>
              <a:rPr lang="en-US" sz="1350" b="1" dirty="0">
                <a:solidFill>
                  <a:srgbClr val="4285F4"/>
                </a:solidFill>
                <a:latin typeface="Calibri" pitchFamily="34" charset="0"/>
                <a:ea typeface="Calibri" pitchFamily="34" charset="-122"/>
                <a:cs typeface="Calibri" pitchFamily="34" charset="-120"/>
              </a:rPr>
              <a:t>TypeScript</a:t>
            </a:r>
            <a:pPr algn="l" indent="0" marL="0">
              <a:lnSpc>
                <a:spcPct val="115000"/>
              </a:lnSpc>
              <a:buNone/>
            </a:pPr>
            <a:r>
              <a:rPr lang="en-US" sz="1350" dirty="0">
                <a:solidFill>
                  <a:srgbClr val="5F6368"/>
                </a:solidFill>
                <a:latin typeface="Calibri" pitchFamily="34" charset="0"/>
                <a:ea typeface="Calibri" pitchFamily="34" charset="-122"/>
                <a:cs typeface="Calibri" pitchFamily="34" charset="-120"/>
              </a:rPr>
              <a:t> was invented.</a:t>
            </a:r>
            <a:endParaRPr lang="en-US" sz="1350" dirty="0"/>
          </a:p>
        </p:txBody>
      </p:sp>
      <p:sp>
        <p:nvSpPr>
          <p:cNvPr id="16" name="Text 1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17" name="Text 15"/>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02124"/>
        </a:solidFill>
      </p:bgPr>
    </p:bg>
    <p:spTree>
      <p:nvGrpSpPr>
        <p:cNvPr id="1" name=""/>
        <p:cNvGrpSpPr/>
        <p:nvPr/>
      </p:nvGrpSpPr>
      <p:grpSpPr>
        <a:xfrm>
          <a:off x="0" y="0"/>
          <a:ext cx="0" cy="0"/>
          <a:chOff x="0" y="0"/>
          <a:chExt cx="0" cy="0"/>
        </a:xfrm>
      </p:grpSpPr>
      <p:sp>
        <p:nvSpPr>
          <p:cNvPr id="2" name="Shape 0"/>
          <p:cNvSpPr/>
          <p:nvPr/>
        </p:nvSpPr>
        <p:spPr>
          <a:xfrm>
            <a:off x="9509760" y="-1645920"/>
            <a:ext cx="4206240" cy="4206240"/>
          </a:xfrm>
          <a:prstGeom prst="ellipse">
            <a:avLst/>
          </a:prstGeom>
          <a:solidFill>
            <a:srgbClr val="34A853">
              <a:alpha val="16000"/>
            </a:srgbClr>
          </a:solidFill>
          <a:ln/>
        </p:spPr>
      </p:sp>
      <p:sp>
        <p:nvSpPr>
          <p:cNvPr id="3" name="Shape 1"/>
          <p:cNvSpPr/>
          <p:nvPr/>
        </p:nvSpPr>
        <p:spPr>
          <a:xfrm>
            <a:off x="-1097280" y="4206240"/>
            <a:ext cx="3291840" cy="3291840"/>
          </a:xfrm>
          <a:prstGeom prst="ellipse">
            <a:avLst/>
          </a:prstGeom>
          <a:solidFill>
            <a:srgbClr val="34A853">
              <a:alpha val="12000"/>
            </a:srgbClr>
          </a:solidFill>
          <a:ln/>
        </p:spPr>
      </p:sp>
      <p:sp>
        <p:nvSpPr>
          <p:cNvPr id="4" name="Shape 2"/>
          <p:cNvSpPr/>
          <p:nvPr/>
        </p:nvSpPr>
        <p:spPr>
          <a:xfrm>
            <a:off x="868680" y="2514600"/>
            <a:ext cx="146304" cy="146304"/>
          </a:xfrm>
          <a:prstGeom prst="ellipse">
            <a:avLst/>
          </a:prstGeom>
          <a:solidFill>
            <a:srgbClr val="4285F4"/>
          </a:solidFill>
          <a:ln/>
        </p:spPr>
      </p:sp>
      <p:sp>
        <p:nvSpPr>
          <p:cNvPr id="5" name="Shape 3"/>
          <p:cNvSpPr/>
          <p:nvPr/>
        </p:nvSpPr>
        <p:spPr>
          <a:xfrm>
            <a:off x="1106424" y="2514600"/>
            <a:ext cx="146304" cy="146304"/>
          </a:xfrm>
          <a:prstGeom prst="ellipse">
            <a:avLst/>
          </a:prstGeom>
          <a:solidFill>
            <a:srgbClr val="EA4335"/>
          </a:solidFill>
          <a:ln/>
        </p:spPr>
      </p:sp>
      <p:sp>
        <p:nvSpPr>
          <p:cNvPr id="6" name="Shape 4"/>
          <p:cNvSpPr/>
          <p:nvPr/>
        </p:nvSpPr>
        <p:spPr>
          <a:xfrm>
            <a:off x="1344168" y="2514600"/>
            <a:ext cx="146304" cy="146304"/>
          </a:xfrm>
          <a:prstGeom prst="ellipse">
            <a:avLst/>
          </a:prstGeom>
          <a:solidFill>
            <a:srgbClr val="FBBC04"/>
          </a:solidFill>
          <a:ln/>
        </p:spPr>
      </p:sp>
      <p:sp>
        <p:nvSpPr>
          <p:cNvPr id="7" name="Shape 5"/>
          <p:cNvSpPr/>
          <p:nvPr/>
        </p:nvSpPr>
        <p:spPr>
          <a:xfrm>
            <a:off x="1581912" y="2514600"/>
            <a:ext cx="146304" cy="146304"/>
          </a:xfrm>
          <a:prstGeom prst="ellipse">
            <a:avLst/>
          </a:prstGeom>
          <a:solidFill>
            <a:srgbClr val="34A853"/>
          </a:solidFill>
          <a:ln/>
        </p:spPr>
      </p:sp>
      <p:sp>
        <p:nvSpPr>
          <p:cNvPr id="8" name="Text 6"/>
          <p:cNvSpPr/>
          <p:nvPr/>
        </p:nvSpPr>
        <p:spPr>
          <a:xfrm>
            <a:off x="868680" y="2788920"/>
            <a:ext cx="10058400" cy="365760"/>
          </a:xfrm>
          <a:prstGeom prst="rect">
            <a:avLst/>
          </a:prstGeom>
          <a:noFill/>
          <a:ln/>
        </p:spPr>
        <p:txBody>
          <a:bodyPr wrap="square" lIns="0" tIns="0" rIns="0" bIns="0" rtlCol="0" anchor="ctr"/>
          <a:lstStyle/>
          <a:p>
            <a:pPr algn="l" indent="0" marL="0">
              <a:buNone/>
            </a:pPr>
            <a:r>
              <a:rPr lang="en-US" sz="1300" b="1" spc="300" kern="0" dirty="0">
                <a:solidFill>
                  <a:srgbClr val="9AA0A6"/>
                </a:solidFill>
                <a:latin typeface="Calibri" pitchFamily="34" charset="0"/>
                <a:ea typeface="Calibri" pitchFamily="34" charset="-122"/>
                <a:cs typeface="Calibri" pitchFamily="34" charset="-120"/>
              </a:rPr>
              <a:t>PART 2</a:t>
            </a:r>
            <a:endParaRPr lang="en-US" sz="1300" dirty="0"/>
          </a:p>
        </p:txBody>
      </p:sp>
      <p:sp>
        <p:nvSpPr>
          <p:cNvPr id="9" name="Text 7"/>
          <p:cNvSpPr/>
          <p:nvPr/>
        </p:nvSpPr>
        <p:spPr>
          <a:xfrm>
            <a:off x="822960" y="3200400"/>
            <a:ext cx="10607040" cy="1005840"/>
          </a:xfrm>
          <a:prstGeom prst="rect">
            <a:avLst/>
          </a:prstGeom>
          <a:noFill/>
          <a:ln/>
        </p:spPr>
        <p:txBody>
          <a:bodyPr wrap="square" lIns="0" tIns="0" rIns="0" bIns="0" rtlCol="0" anchor="ctr"/>
          <a:lstStyle/>
          <a:p>
            <a:pPr algn="l" indent="0" marL="0">
              <a:buNone/>
            </a:pPr>
            <a:r>
              <a:rPr lang="en-US" sz="4400" b="1" dirty="0">
                <a:solidFill>
                  <a:srgbClr val="FFFFFF"/>
                </a:solidFill>
                <a:latin typeface="Georgia" pitchFamily="34" charset="0"/>
                <a:ea typeface="Georgia" pitchFamily="34" charset="-122"/>
                <a:cs typeface="Georgia" pitchFamily="34" charset="-120"/>
              </a:rPr>
              <a:t>Code in the Age of AI</a:t>
            </a:r>
            <a:endParaRPr lang="en-US" sz="4400" dirty="0"/>
          </a:p>
        </p:txBody>
      </p:sp>
      <p:sp>
        <p:nvSpPr>
          <p:cNvPr id="10" name="Text 8"/>
          <p:cNvSpPr/>
          <p:nvPr/>
        </p:nvSpPr>
        <p:spPr>
          <a:xfrm>
            <a:off x="868680" y="4343400"/>
            <a:ext cx="9875520" cy="731520"/>
          </a:xfrm>
          <a:prstGeom prst="rect">
            <a:avLst/>
          </a:prstGeom>
          <a:noFill/>
          <a:ln/>
        </p:spPr>
        <p:txBody>
          <a:bodyPr wrap="square" lIns="0" tIns="0" rIns="0" bIns="0" rtlCol="0" anchor="ctr"/>
          <a:lstStyle/>
          <a:p>
            <a:pPr algn="l" indent="0" marL="0">
              <a:lnSpc>
                <a:spcPct val="110000"/>
              </a:lnSpc>
              <a:buNone/>
            </a:pPr>
            <a:r>
              <a:rPr lang="en-US" sz="1700" dirty="0">
                <a:solidFill>
                  <a:srgbClr val="E8EAED"/>
                </a:solidFill>
                <a:latin typeface="Calibri" pitchFamily="34" charset="0"/>
                <a:ea typeface="Calibri" pitchFamily="34" charset="-122"/>
                <a:cs typeface="Calibri" pitchFamily="34" charset="-120"/>
              </a:rPr>
              <a:t>The biggest change to coding in decades is happening right now — and you're here for it.</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34A853"/>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34A853"/>
                </a:solidFill>
                <a:latin typeface="Calibri" pitchFamily="34" charset="0"/>
                <a:ea typeface="Calibri" pitchFamily="34" charset="-122"/>
                <a:cs typeface="Calibri" pitchFamily="34" charset="-120"/>
              </a:rPr>
              <a:t>THE AI ERA</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Something huge just changed</a:t>
            </a:r>
            <a:endParaRPr lang="en-US" sz="2900" dirty="0"/>
          </a:p>
        </p:txBody>
      </p:sp>
      <p:sp>
        <p:nvSpPr>
          <p:cNvPr id="9" name="Text 7"/>
          <p:cNvSpPr/>
          <p:nvPr/>
        </p:nvSpPr>
        <p:spPr>
          <a:xfrm>
            <a:off x="548640" y="1691640"/>
            <a:ext cx="10972800" cy="1005840"/>
          </a:xfrm>
          <a:prstGeom prst="rect">
            <a:avLst/>
          </a:prstGeom>
          <a:noFill/>
          <a:ln/>
        </p:spPr>
        <p:txBody>
          <a:bodyPr wrap="square" lIns="0" tIns="0" rIns="0" bIns="0" rtlCol="0" anchor="t"/>
          <a:lstStyle/>
          <a:p>
            <a:pPr algn="l" indent="0" marL="0">
              <a:lnSpc>
                <a:spcPct val="118000"/>
              </a:lnSpc>
              <a:buNone/>
            </a:pPr>
            <a:r>
              <a:rPr lang="en-US" sz="1650" dirty="0">
                <a:solidFill>
                  <a:srgbClr val="5F6368"/>
                </a:solidFill>
                <a:latin typeface="Calibri" pitchFamily="34" charset="0"/>
                <a:ea typeface="Calibri" pitchFamily="34" charset="-122"/>
                <a:cs typeface="Calibri" pitchFamily="34" charset="-120"/>
              </a:rPr>
              <a:t>For 70 years, humans typed every line of code by hand. Around 2022, AI tools learned to WRITE code from plain-English requests. This is the biggest shift in how software gets made in a generation.</a:t>
            </a:r>
            <a:endParaRPr lang="en-US" sz="1650" dirty="0"/>
          </a:p>
        </p:txBody>
      </p:sp>
      <p:sp>
        <p:nvSpPr>
          <p:cNvPr id="10" name="Shape 8"/>
          <p:cNvSpPr/>
          <p:nvPr/>
        </p:nvSpPr>
        <p:spPr>
          <a:xfrm>
            <a:off x="548640" y="2880360"/>
            <a:ext cx="5394960" cy="2286000"/>
          </a:xfrm>
          <a:prstGeom prst="roundRect">
            <a:avLst>
              <a:gd name="adj" fmla="val 3600"/>
            </a:avLst>
          </a:prstGeom>
          <a:solidFill>
            <a:srgbClr val="F8F9FA"/>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1" name="Text 9"/>
          <p:cNvSpPr/>
          <p:nvPr/>
        </p:nvSpPr>
        <p:spPr>
          <a:xfrm>
            <a:off x="822960" y="3063240"/>
            <a:ext cx="4846320" cy="365760"/>
          </a:xfrm>
          <a:prstGeom prst="rect">
            <a:avLst/>
          </a:prstGeom>
          <a:noFill/>
          <a:ln/>
        </p:spPr>
        <p:txBody>
          <a:bodyPr wrap="square" lIns="0" tIns="0" rIns="0" bIns="0" rtlCol="0" anchor="ctr"/>
          <a:lstStyle/>
          <a:p>
            <a:pPr algn="l" indent="0" marL="0">
              <a:buNone/>
            </a:pPr>
            <a:r>
              <a:rPr lang="en-US" sz="1300" b="1" spc="200" kern="0" dirty="0">
                <a:solidFill>
                  <a:srgbClr val="80868B"/>
                </a:solidFill>
                <a:latin typeface="Calibri" pitchFamily="34" charset="0"/>
                <a:ea typeface="Calibri" pitchFamily="34" charset="-122"/>
                <a:cs typeface="Calibri" pitchFamily="34" charset="-120"/>
              </a:rPr>
              <a:t>BEFORE</a:t>
            </a:r>
            <a:endParaRPr lang="en-US" sz="1300" dirty="0"/>
          </a:p>
        </p:txBody>
      </p:sp>
      <p:sp>
        <p:nvSpPr>
          <p:cNvPr id="12" name="Text 10"/>
          <p:cNvSpPr/>
          <p:nvPr/>
        </p:nvSpPr>
        <p:spPr>
          <a:xfrm>
            <a:off x="822960" y="3474720"/>
            <a:ext cx="4846320" cy="1554480"/>
          </a:xfrm>
          <a:prstGeom prst="rect">
            <a:avLst/>
          </a:prstGeom>
          <a:noFill/>
          <a:ln/>
        </p:spPr>
        <p:txBody>
          <a:bodyPr wrap="square" lIns="0" tIns="0" rIns="0" bIns="0" rtlCol="0" anchor="t"/>
          <a:lstStyle/>
          <a:p>
            <a:pPr algn="l" indent="0" marL="0">
              <a:lnSpc>
                <a:spcPct val="118000"/>
              </a:lnSpc>
              <a:buNone/>
            </a:pPr>
            <a:r>
              <a:rPr lang="en-US" sz="1500" dirty="0">
                <a:solidFill>
                  <a:srgbClr val="5F6368"/>
                </a:solidFill>
                <a:latin typeface="Calibri" pitchFamily="34" charset="0"/>
                <a:ea typeface="Calibri" pitchFamily="34" charset="-122"/>
                <a:cs typeface="Calibri" pitchFamily="34" charset="-120"/>
              </a:rPr>
              <a:t>You imagined an idea, then typed out every single line yourself — slowly, carefully, fixing typos for hours.</a:t>
            </a:r>
            <a:endParaRPr lang="en-US" sz="1500" dirty="0"/>
          </a:p>
        </p:txBody>
      </p:sp>
      <p:sp>
        <p:nvSpPr>
          <p:cNvPr id="13" name="Shape 11"/>
          <p:cNvSpPr/>
          <p:nvPr/>
        </p:nvSpPr>
        <p:spPr>
          <a:xfrm>
            <a:off x="6217920" y="2880360"/>
            <a:ext cx="5394960" cy="2286000"/>
          </a:xfrm>
          <a:prstGeom prst="roundRect">
            <a:avLst>
              <a:gd name="adj" fmla="val 3600"/>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4" name="Shape 12"/>
          <p:cNvSpPr/>
          <p:nvPr/>
        </p:nvSpPr>
        <p:spPr>
          <a:xfrm>
            <a:off x="6217920" y="2880360"/>
            <a:ext cx="91440" cy="2286000"/>
          </a:xfrm>
          <a:prstGeom prst="rect">
            <a:avLst/>
          </a:prstGeom>
          <a:solidFill>
            <a:srgbClr val="34A853"/>
          </a:solidFill>
          <a:ln/>
        </p:spPr>
      </p:sp>
      <p:sp>
        <p:nvSpPr>
          <p:cNvPr id="15" name="Text 13"/>
          <p:cNvSpPr/>
          <p:nvPr/>
        </p:nvSpPr>
        <p:spPr>
          <a:xfrm>
            <a:off x="6492240" y="3063240"/>
            <a:ext cx="4846320" cy="365760"/>
          </a:xfrm>
          <a:prstGeom prst="rect">
            <a:avLst/>
          </a:prstGeom>
          <a:noFill/>
          <a:ln/>
        </p:spPr>
        <p:txBody>
          <a:bodyPr wrap="square" lIns="0" tIns="0" rIns="0" bIns="0" rtlCol="0" anchor="ctr"/>
          <a:lstStyle/>
          <a:p>
            <a:pPr algn="l" indent="0" marL="0">
              <a:buNone/>
            </a:pPr>
            <a:r>
              <a:rPr lang="en-US" sz="1300" b="1" spc="200" kern="0" dirty="0">
                <a:solidFill>
                  <a:srgbClr val="34A853"/>
                </a:solidFill>
                <a:latin typeface="Calibri" pitchFamily="34" charset="0"/>
                <a:ea typeface="Calibri" pitchFamily="34" charset="-122"/>
                <a:cs typeface="Calibri" pitchFamily="34" charset="-120"/>
              </a:rPr>
              <a:t>NOW</a:t>
            </a:r>
            <a:endParaRPr lang="en-US" sz="1300" dirty="0"/>
          </a:p>
        </p:txBody>
      </p:sp>
      <p:sp>
        <p:nvSpPr>
          <p:cNvPr id="16" name="Text 14"/>
          <p:cNvSpPr/>
          <p:nvPr/>
        </p:nvSpPr>
        <p:spPr>
          <a:xfrm>
            <a:off x="6492240" y="3474720"/>
            <a:ext cx="4846320" cy="1554480"/>
          </a:xfrm>
          <a:prstGeom prst="rect">
            <a:avLst/>
          </a:prstGeom>
          <a:noFill/>
          <a:ln/>
        </p:spPr>
        <p:txBody>
          <a:bodyPr wrap="square" lIns="0" tIns="0" rIns="0" bIns="0" rtlCol="0" anchor="t"/>
          <a:lstStyle/>
          <a:p>
            <a:pPr algn="l" indent="0" marL="0">
              <a:lnSpc>
                <a:spcPct val="118000"/>
              </a:lnSpc>
              <a:buNone/>
            </a:pPr>
            <a:r>
              <a:rPr lang="en-US" sz="1500" dirty="0">
                <a:solidFill>
                  <a:srgbClr val="5F6368"/>
                </a:solidFill>
                <a:latin typeface="Calibri" pitchFamily="34" charset="0"/>
                <a:ea typeface="Calibri" pitchFamily="34" charset="-122"/>
                <a:cs typeface="Calibri" pitchFamily="34" charset="-120"/>
              </a:rPr>
              <a:t>You describe what you want, and an AI assistant drafts the code in seconds. Your job shifts to guiding, checking, and fixing it.</a:t>
            </a:r>
            <a:endParaRPr lang="en-US" sz="1500" dirty="0"/>
          </a:p>
        </p:txBody>
      </p:sp>
      <p:sp>
        <p:nvSpPr>
          <p:cNvPr id="17" name="Text 15"/>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18" name="Text 16"/>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4285F4"/>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4285F4"/>
                </a:solidFill>
                <a:latin typeface="Calibri" pitchFamily="34" charset="0"/>
                <a:ea typeface="Calibri" pitchFamily="34" charset="-122"/>
                <a:cs typeface="Calibri" pitchFamily="34" charset="-120"/>
              </a:rPr>
              <a:t>THE AI ERA</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Meet the AI coding assistants</a:t>
            </a:r>
            <a:endParaRPr lang="en-US" sz="2900" dirty="0"/>
          </a:p>
        </p:txBody>
      </p:sp>
      <p:sp>
        <p:nvSpPr>
          <p:cNvPr id="9" name="Text 7"/>
          <p:cNvSpPr/>
          <p:nvPr/>
        </p:nvSpPr>
        <p:spPr>
          <a:xfrm>
            <a:off x="548640" y="1645920"/>
            <a:ext cx="10972800" cy="640080"/>
          </a:xfrm>
          <a:prstGeom prst="rect">
            <a:avLst/>
          </a:prstGeom>
          <a:noFill/>
          <a:ln/>
        </p:spPr>
        <p:txBody>
          <a:bodyPr wrap="square" lIns="0" tIns="0" rIns="0" bIns="0" rtlCol="0" anchor="t"/>
          <a:lstStyle/>
          <a:p>
            <a:pPr algn="l" indent="0" marL="0">
              <a:buNone/>
            </a:pPr>
            <a:r>
              <a:rPr lang="en-US" sz="1550" dirty="0">
                <a:solidFill>
                  <a:srgbClr val="5F6368"/>
                </a:solidFill>
                <a:latin typeface="Calibri" pitchFamily="34" charset="0"/>
                <a:ea typeface="Calibri" pitchFamily="34" charset="-122"/>
                <a:cs typeface="Calibri" pitchFamily="34" charset="-120"/>
              </a:rPr>
              <a:t>These tools sit next to you while you code and suggest or write code for you. You've probably heard of some:</a:t>
            </a:r>
            <a:endParaRPr lang="en-US" sz="1550" dirty="0"/>
          </a:p>
        </p:txBody>
      </p:sp>
      <p:sp>
        <p:nvSpPr>
          <p:cNvPr id="10" name="Shape 8"/>
          <p:cNvSpPr/>
          <p:nvPr/>
        </p:nvSpPr>
        <p:spPr>
          <a:xfrm>
            <a:off x="548640" y="2468880"/>
            <a:ext cx="3474720" cy="2194560"/>
          </a:xfrm>
          <a:prstGeom prst="roundRect">
            <a:avLst>
              <a:gd name="adj" fmla="val 3750"/>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1" name="Shape 9"/>
          <p:cNvSpPr/>
          <p:nvPr/>
        </p:nvSpPr>
        <p:spPr>
          <a:xfrm>
            <a:off x="822960" y="2743200"/>
            <a:ext cx="457200" cy="457200"/>
          </a:xfrm>
          <a:prstGeom prst="ellipse">
            <a:avLst/>
          </a:prstGeom>
          <a:solidFill>
            <a:srgbClr val="4285F4"/>
          </a:solidFill>
          <a:ln/>
        </p:spPr>
      </p:sp>
      <p:sp>
        <p:nvSpPr>
          <p:cNvPr id="12" name="Text 10"/>
          <p:cNvSpPr/>
          <p:nvPr/>
        </p:nvSpPr>
        <p:spPr>
          <a:xfrm>
            <a:off x="822960" y="3337560"/>
            <a:ext cx="3017520" cy="457200"/>
          </a:xfrm>
          <a:prstGeom prst="rect">
            <a:avLst/>
          </a:prstGeom>
          <a:noFill/>
          <a:ln/>
        </p:spPr>
        <p:txBody>
          <a:bodyPr wrap="square" lIns="0" tIns="0" rIns="0" bIns="0" rtlCol="0" anchor="ctr"/>
          <a:lstStyle/>
          <a:p>
            <a:pPr algn="l" indent="0" marL="0">
              <a:buNone/>
            </a:pPr>
            <a:r>
              <a:rPr lang="en-US" sz="1700" b="1" dirty="0">
                <a:solidFill>
                  <a:srgbClr val="202124"/>
                </a:solidFill>
                <a:latin typeface="Georgia" pitchFamily="34" charset="0"/>
                <a:ea typeface="Georgia" pitchFamily="34" charset="-122"/>
                <a:cs typeface="Georgia" pitchFamily="34" charset="-120"/>
              </a:rPr>
              <a:t>GitHub Copilot</a:t>
            </a:r>
            <a:endParaRPr lang="en-US" sz="1700" dirty="0"/>
          </a:p>
        </p:txBody>
      </p:sp>
      <p:sp>
        <p:nvSpPr>
          <p:cNvPr id="13" name="Text 11"/>
          <p:cNvSpPr/>
          <p:nvPr/>
        </p:nvSpPr>
        <p:spPr>
          <a:xfrm>
            <a:off x="822960" y="3840480"/>
            <a:ext cx="3017520" cy="777240"/>
          </a:xfrm>
          <a:prstGeom prst="rect">
            <a:avLst/>
          </a:prstGeom>
          <a:noFill/>
          <a:ln/>
        </p:spPr>
        <p:txBody>
          <a:bodyPr wrap="square" lIns="0" tIns="0" rIns="0" bIns="0" rtlCol="0" anchor="t"/>
          <a:lstStyle/>
          <a:p>
            <a:pPr algn="l" indent="0" marL="0">
              <a:lnSpc>
                <a:spcPct val="112000"/>
              </a:lnSpc>
              <a:buNone/>
            </a:pPr>
            <a:r>
              <a:rPr lang="en-US" sz="1350" dirty="0">
                <a:solidFill>
                  <a:srgbClr val="5F6368"/>
                </a:solidFill>
                <a:latin typeface="Calibri" pitchFamily="34" charset="0"/>
                <a:ea typeface="Calibri" pitchFamily="34" charset="-122"/>
                <a:cs typeface="Calibri" pitchFamily="34" charset="-120"/>
              </a:rPr>
              <a:t>Autocompletes code as you type, like a super-smart suggestion.</a:t>
            </a:r>
            <a:endParaRPr lang="en-US" sz="1350" dirty="0"/>
          </a:p>
        </p:txBody>
      </p:sp>
      <p:sp>
        <p:nvSpPr>
          <p:cNvPr id="14" name="Shape 12"/>
          <p:cNvSpPr/>
          <p:nvPr/>
        </p:nvSpPr>
        <p:spPr>
          <a:xfrm>
            <a:off x="4251960" y="2468880"/>
            <a:ext cx="3474720" cy="2194560"/>
          </a:xfrm>
          <a:prstGeom prst="roundRect">
            <a:avLst>
              <a:gd name="adj" fmla="val 3750"/>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5" name="Shape 13"/>
          <p:cNvSpPr/>
          <p:nvPr/>
        </p:nvSpPr>
        <p:spPr>
          <a:xfrm>
            <a:off x="4526280" y="2743200"/>
            <a:ext cx="457200" cy="457200"/>
          </a:xfrm>
          <a:prstGeom prst="ellipse">
            <a:avLst/>
          </a:prstGeom>
          <a:solidFill>
            <a:srgbClr val="EA4335"/>
          </a:solidFill>
          <a:ln/>
        </p:spPr>
      </p:sp>
      <p:sp>
        <p:nvSpPr>
          <p:cNvPr id="16" name="Text 14"/>
          <p:cNvSpPr/>
          <p:nvPr/>
        </p:nvSpPr>
        <p:spPr>
          <a:xfrm>
            <a:off x="4526280" y="3337560"/>
            <a:ext cx="3017520" cy="457200"/>
          </a:xfrm>
          <a:prstGeom prst="rect">
            <a:avLst/>
          </a:prstGeom>
          <a:noFill/>
          <a:ln/>
        </p:spPr>
        <p:txBody>
          <a:bodyPr wrap="square" lIns="0" tIns="0" rIns="0" bIns="0" rtlCol="0" anchor="ctr"/>
          <a:lstStyle/>
          <a:p>
            <a:pPr algn="l" indent="0" marL="0">
              <a:buNone/>
            </a:pPr>
            <a:r>
              <a:rPr lang="en-US" sz="1700" b="1" dirty="0">
                <a:solidFill>
                  <a:srgbClr val="202124"/>
                </a:solidFill>
                <a:latin typeface="Georgia" pitchFamily="34" charset="0"/>
                <a:ea typeface="Georgia" pitchFamily="34" charset="-122"/>
                <a:cs typeface="Georgia" pitchFamily="34" charset="-120"/>
              </a:rPr>
              <a:t>Claude &amp; ChatGPT</a:t>
            </a:r>
            <a:endParaRPr lang="en-US" sz="1700" dirty="0"/>
          </a:p>
        </p:txBody>
      </p:sp>
      <p:sp>
        <p:nvSpPr>
          <p:cNvPr id="17" name="Text 15"/>
          <p:cNvSpPr/>
          <p:nvPr/>
        </p:nvSpPr>
        <p:spPr>
          <a:xfrm>
            <a:off x="4526280" y="3840480"/>
            <a:ext cx="3017520" cy="777240"/>
          </a:xfrm>
          <a:prstGeom prst="rect">
            <a:avLst/>
          </a:prstGeom>
          <a:noFill/>
          <a:ln/>
        </p:spPr>
        <p:txBody>
          <a:bodyPr wrap="square" lIns="0" tIns="0" rIns="0" bIns="0" rtlCol="0" anchor="t"/>
          <a:lstStyle/>
          <a:p>
            <a:pPr algn="l" indent="0" marL="0">
              <a:lnSpc>
                <a:spcPct val="112000"/>
              </a:lnSpc>
              <a:buNone/>
            </a:pPr>
            <a:r>
              <a:rPr lang="en-US" sz="1350" dirty="0">
                <a:solidFill>
                  <a:srgbClr val="5F6368"/>
                </a:solidFill>
                <a:latin typeface="Calibri" pitchFamily="34" charset="0"/>
                <a:ea typeface="Calibri" pitchFamily="34" charset="-122"/>
                <a:cs typeface="Calibri" pitchFamily="34" charset="-120"/>
              </a:rPr>
              <a:t>You chat in plain English; they write and explain code back.</a:t>
            </a:r>
            <a:endParaRPr lang="en-US" sz="1350" dirty="0"/>
          </a:p>
        </p:txBody>
      </p:sp>
      <p:sp>
        <p:nvSpPr>
          <p:cNvPr id="18" name="Shape 16"/>
          <p:cNvSpPr/>
          <p:nvPr/>
        </p:nvSpPr>
        <p:spPr>
          <a:xfrm>
            <a:off x="7955280" y="2468880"/>
            <a:ext cx="3474720" cy="2194560"/>
          </a:xfrm>
          <a:prstGeom prst="roundRect">
            <a:avLst>
              <a:gd name="adj" fmla="val 3750"/>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9" name="Shape 17"/>
          <p:cNvSpPr/>
          <p:nvPr/>
        </p:nvSpPr>
        <p:spPr>
          <a:xfrm>
            <a:off x="8229600" y="2743200"/>
            <a:ext cx="457200" cy="457200"/>
          </a:xfrm>
          <a:prstGeom prst="ellipse">
            <a:avLst/>
          </a:prstGeom>
          <a:solidFill>
            <a:srgbClr val="34A853"/>
          </a:solidFill>
          <a:ln/>
        </p:spPr>
      </p:sp>
      <p:sp>
        <p:nvSpPr>
          <p:cNvPr id="20" name="Text 18"/>
          <p:cNvSpPr/>
          <p:nvPr/>
        </p:nvSpPr>
        <p:spPr>
          <a:xfrm>
            <a:off x="8229600" y="3337560"/>
            <a:ext cx="3017520" cy="457200"/>
          </a:xfrm>
          <a:prstGeom prst="rect">
            <a:avLst/>
          </a:prstGeom>
          <a:noFill/>
          <a:ln/>
        </p:spPr>
        <p:txBody>
          <a:bodyPr wrap="square" lIns="0" tIns="0" rIns="0" bIns="0" rtlCol="0" anchor="ctr"/>
          <a:lstStyle/>
          <a:p>
            <a:pPr algn="l" indent="0" marL="0">
              <a:buNone/>
            </a:pPr>
            <a:r>
              <a:rPr lang="en-US" sz="1700" b="1" dirty="0">
                <a:solidFill>
                  <a:srgbClr val="202124"/>
                </a:solidFill>
                <a:latin typeface="Georgia" pitchFamily="34" charset="0"/>
                <a:ea typeface="Georgia" pitchFamily="34" charset="-122"/>
                <a:cs typeface="Georgia" pitchFamily="34" charset="-120"/>
              </a:rPr>
              <a:t>“Vibe coding”</a:t>
            </a:r>
            <a:endParaRPr lang="en-US" sz="1700" dirty="0"/>
          </a:p>
        </p:txBody>
      </p:sp>
      <p:sp>
        <p:nvSpPr>
          <p:cNvPr id="21" name="Text 19"/>
          <p:cNvSpPr/>
          <p:nvPr/>
        </p:nvSpPr>
        <p:spPr>
          <a:xfrm>
            <a:off x="8229600" y="3840480"/>
            <a:ext cx="3017520" cy="777240"/>
          </a:xfrm>
          <a:prstGeom prst="rect">
            <a:avLst/>
          </a:prstGeom>
          <a:noFill/>
          <a:ln/>
        </p:spPr>
        <p:txBody>
          <a:bodyPr wrap="square" lIns="0" tIns="0" rIns="0" bIns="0" rtlCol="0" anchor="t"/>
          <a:lstStyle/>
          <a:p>
            <a:pPr algn="l" indent="0" marL="0">
              <a:lnSpc>
                <a:spcPct val="112000"/>
              </a:lnSpc>
              <a:buNone/>
            </a:pPr>
            <a:r>
              <a:rPr lang="en-US" sz="1350" dirty="0">
                <a:solidFill>
                  <a:srgbClr val="5F6368"/>
                </a:solidFill>
                <a:latin typeface="Calibri" pitchFamily="34" charset="0"/>
                <a:ea typeface="Calibri" pitchFamily="34" charset="-122"/>
                <a:cs typeface="Calibri" pitchFamily="34" charset="-120"/>
              </a:rPr>
              <a:t>Describing an app in words and letting AI build a first version.</a:t>
            </a:r>
            <a:endParaRPr lang="en-US" sz="1350" dirty="0"/>
          </a:p>
        </p:txBody>
      </p:sp>
      <p:sp>
        <p:nvSpPr>
          <p:cNvPr id="22" name="Shape 20"/>
          <p:cNvSpPr/>
          <p:nvPr/>
        </p:nvSpPr>
        <p:spPr>
          <a:xfrm>
            <a:off x="548640" y="4892040"/>
            <a:ext cx="11064240" cy="777240"/>
          </a:xfrm>
          <a:prstGeom prst="roundRect">
            <a:avLst>
              <a:gd name="adj" fmla="val 10588"/>
            </a:avLst>
          </a:prstGeom>
          <a:solidFill>
            <a:srgbClr val="E8F0FE"/>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23" name="Text 21"/>
          <p:cNvSpPr/>
          <p:nvPr/>
        </p:nvSpPr>
        <p:spPr>
          <a:xfrm>
            <a:off x="822960" y="4892040"/>
            <a:ext cx="10515600" cy="777240"/>
          </a:xfrm>
          <a:prstGeom prst="rect">
            <a:avLst/>
          </a:prstGeom>
          <a:noFill/>
          <a:ln/>
        </p:spPr>
        <p:txBody>
          <a:bodyPr wrap="square" lIns="0" tIns="0" rIns="0" bIns="0" rtlCol="0" anchor="ctr"/>
          <a:lstStyle/>
          <a:p>
            <a:pPr algn="l" indent="0" marL="0">
              <a:buNone/>
            </a:pPr>
            <a:r>
              <a:rPr lang="en-US" sz="1350" b="1" dirty="0">
                <a:solidFill>
                  <a:srgbClr val="1A73E8"/>
                </a:solidFill>
                <a:latin typeface="Calibri" pitchFamily="34" charset="0"/>
                <a:ea typeface="Calibri" pitchFamily="34" charset="-122"/>
                <a:cs typeface="Calibri" pitchFamily="34" charset="-120"/>
              </a:rPr>
              <a:t>Reality check:  </a:t>
            </a:r>
            <a:pPr algn="l" indent="0" marL="0">
              <a:buNone/>
            </a:pPr>
            <a:r>
              <a:rPr lang="en-US" sz="1350" dirty="0">
                <a:solidFill>
                  <a:srgbClr val="202124"/>
                </a:solidFill>
                <a:latin typeface="Calibri" pitchFamily="34" charset="0"/>
                <a:ea typeface="Calibri" pitchFamily="34" charset="-122"/>
                <a:cs typeface="Calibri" pitchFamily="34" charset="-120"/>
              </a:rPr>
              <a:t>AI is amazing at drafting code fast — but it confidently makes mistakes, too. Someone still has to know if the code is actually right.</a:t>
            </a:r>
            <a:endParaRPr lang="en-US" sz="1350" dirty="0"/>
          </a:p>
        </p:txBody>
      </p:sp>
      <p:sp>
        <p:nvSpPr>
          <p:cNvPr id="24" name="Text 2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25" name="Text 23"/>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FBBC04"/>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FBBC04"/>
                </a:solidFill>
                <a:latin typeface="Calibri" pitchFamily="34" charset="0"/>
                <a:ea typeface="Calibri" pitchFamily="34" charset="-122"/>
                <a:cs typeface="Calibri" pitchFamily="34" charset="-120"/>
              </a:rPr>
              <a:t>THE AI ERA · BY THE NUMBERS</a:t>
            </a:r>
            <a:endParaRPr lang="en-US" sz="1150" dirty="0"/>
          </a:p>
        </p:txBody>
      </p:sp>
      <p:sp>
        <p:nvSpPr>
          <p:cNvPr id="8" name="Text 6"/>
          <p:cNvSpPr/>
          <p:nvPr/>
        </p:nvSpPr>
        <p:spPr>
          <a:xfrm>
            <a:off x="548640" y="1371600"/>
            <a:ext cx="5669280" cy="2011680"/>
          </a:xfrm>
          <a:prstGeom prst="rect">
            <a:avLst/>
          </a:prstGeom>
          <a:noFill/>
          <a:ln/>
        </p:spPr>
        <p:txBody>
          <a:bodyPr wrap="square" lIns="0" tIns="0" rIns="0" bIns="0" rtlCol="0" anchor="ctr"/>
          <a:lstStyle/>
          <a:p>
            <a:pPr algn="ctr" indent="0" marL="0">
              <a:buNone/>
            </a:pPr>
            <a:r>
              <a:rPr lang="en-US" sz="12000" b="1" dirty="0">
                <a:solidFill>
                  <a:srgbClr val="4285F4"/>
                </a:solidFill>
                <a:latin typeface="Georgia" pitchFamily="34" charset="0"/>
                <a:ea typeface="Georgia" pitchFamily="34" charset="-122"/>
                <a:cs typeface="Georgia" pitchFamily="34" charset="-120"/>
              </a:rPr>
              <a:t>~75%</a:t>
            </a:r>
            <a:endParaRPr lang="en-US" sz="12000" dirty="0"/>
          </a:p>
        </p:txBody>
      </p:sp>
      <p:sp>
        <p:nvSpPr>
          <p:cNvPr id="9" name="Text 7"/>
          <p:cNvSpPr/>
          <p:nvPr/>
        </p:nvSpPr>
        <p:spPr>
          <a:xfrm>
            <a:off x="640080" y="3429000"/>
            <a:ext cx="5486400" cy="1371600"/>
          </a:xfrm>
          <a:prstGeom prst="rect">
            <a:avLst/>
          </a:prstGeom>
          <a:noFill/>
          <a:ln/>
        </p:spPr>
        <p:txBody>
          <a:bodyPr wrap="square" lIns="0" tIns="0" rIns="0" bIns="0" rtlCol="0" anchor="t"/>
          <a:lstStyle/>
          <a:p>
            <a:pPr algn="ctr" indent="0" marL="0">
              <a:lnSpc>
                <a:spcPct val="115000"/>
              </a:lnSpc>
              <a:buNone/>
            </a:pPr>
            <a:r>
              <a:rPr lang="en-US" sz="1700" dirty="0">
                <a:solidFill>
                  <a:srgbClr val="5F6368"/>
                </a:solidFill>
                <a:latin typeface="Calibri" pitchFamily="34" charset="0"/>
                <a:ea typeface="Calibri" pitchFamily="34" charset="-122"/>
                <a:cs typeface="Calibri" pitchFamily="34" charset="-120"/>
              </a:rPr>
              <a:t>of new code today is drafted by AI — then read, checked, and approved by a human before it ships.</a:t>
            </a:r>
            <a:endParaRPr lang="en-US" sz="1700" dirty="0"/>
          </a:p>
        </p:txBody>
      </p:sp>
      <p:sp>
        <p:nvSpPr>
          <p:cNvPr id="10" name="Shape 8"/>
          <p:cNvSpPr/>
          <p:nvPr/>
        </p:nvSpPr>
        <p:spPr>
          <a:xfrm>
            <a:off x="6583680" y="1463040"/>
            <a:ext cx="5029200" cy="3977640"/>
          </a:xfrm>
          <a:prstGeom prst="roundRect">
            <a:avLst>
              <a:gd name="adj" fmla="val 2069"/>
            </a:avLst>
          </a:prstGeom>
          <a:solidFill>
            <a:srgbClr val="F8F9FA"/>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1" name="Text 9"/>
          <p:cNvSpPr/>
          <p:nvPr/>
        </p:nvSpPr>
        <p:spPr>
          <a:xfrm>
            <a:off x="6858000" y="1737360"/>
            <a:ext cx="4480560" cy="457200"/>
          </a:xfrm>
          <a:prstGeom prst="rect">
            <a:avLst/>
          </a:prstGeom>
          <a:noFill/>
          <a:ln/>
        </p:spPr>
        <p:txBody>
          <a:bodyPr wrap="square" lIns="0" tIns="0" rIns="0" bIns="0" rtlCol="0" anchor="ctr"/>
          <a:lstStyle/>
          <a:p>
            <a:pPr algn="l" indent="0" marL="0">
              <a:buNone/>
            </a:pPr>
            <a:r>
              <a:rPr lang="en-US" sz="1900" b="1" dirty="0">
                <a:solidFill>
                  <a:srgbClr val="202124"/>
                </a:solidFill>
                <a:latin typeface="Georgia" pitchFamily="34" charset="0"/>
                <a:ea typeface="Georgia" pitchFamily="34" charset="-122"/>
                <a:cs typeface="Georgia" pitchFamily="34" charset="-120"/>
              </a:rPr>
              <a:t>So what's left for humans?</a:t>
            </a:r>
            <a:endParaRPr lang="en-US" sz="1900" dirty="0"/>
          </a:p>
        </p:txBody>
      </p:sp>
      <p:sp>
        <p:nvSpPr>
          <p:cNvPr id="12" name="Shape 10"/>
          <p:cNvSpPr/>
          <p:nvPr/>
        </p:nvSpPr>
        <p:spPr>
          <a:xfrm>
            <a:off x="6858000" y="2359152"/>
            <a:ext cx="256032" cy="256032"/>
          </a:xfrm>
          <a:prstGeom prst="ellipse">
            <a:avLst/>
          </a:prstGeom>
          <a:solidFill>
            <a:srgbClr val="4285F4"/>
          </a:solidFill>
          <a:ln/>
        </p:spPr>
      </p:sp>
      <p:sp>
        <p:nvSpPr>
          <p:cNvPr id="13" name="Text 11"/>
          <p:cNvSpPr/>
          <p:nvPr/>
        </p:nvSpPr>
        <p:spPr>
          <a:xfrm>
            <a:off x="7269480" y="2286000"/>
            <a:ext cx="4114800" cy="320040"/>
          </a:xfrm>
          <a:prstGeom prst="rect">
            <a:avLst/>
          </a:prstGeom>
          <a:noFill/>
          <a:ln/>
        </p:spPr>
        <p:txBody>
          <a:bodyPr wrap="square" lIns="0" tIns="0" rIns="0" bIns="0" rtlCol="0" anchor="ctr"/>
          <a:lstStyle/>
          <a:p>
            <a:pPr algn="l" indent="0" marL="0">
              <a:buNone/>
            </a:pPr>
            <a:r>
              <a:rPr lang="en-US" sz="1500" b="1" dirty="0">
                <a:solidFill>
                  <a:srgbClr val="202124"/>
                </a:solidFill>
                <a:latin typeface="Calibri" pitchFamily="34" charset="0"/>
                <a:ea typeface="Calibri" pitchFamily="34" charset="-122"/>
                <a:cs typeface="Calibri" pitchFamily="34" charset="-120"/>
              </a:rPr>
              <a:t>Decide what to build</a:t>
            </a:r>
            <a:endParaRPr lang="en-US" sz="1500" dirty="0"/>
          </a:p>
        </p:txBody>
      </p:sp>
      <p:sp>
        <p:nvSpPr>
          <p:cNvPr id="14" name="Text 12"/>
          <p:cNvSpPr/>
          <p:nvPr/>
        </p:nvSpPr>
        <p:spPr>
          <a:xfrm>
            <a:off x="7269480" y="2606040"/>
            <a:ext cx="4114800" cy="411480"/>
          </a:xfrm>
          <a:prstGeom prst="rect">
            <a:avLst/>
          </a:prstGeom>
          <a:noFill/>
          <a:ln/>
        </p:spPr>
        <p:txBody>
          <a:bodyPr wrap="square" lIns="0" tIns="0" rIns="0" bIns="0" rtlCol="0" anchor="ctr"/>
          <a:lstStyle/>
          <a:p>
            <a:pPr algn="l" indent="0" marL="0">
              <a:buNone/>
            </a:pPr>
            <a:r>
              <a:rPr lang="en-US" sz="1250" dirty="0">
                <a:solidFill>
                  <a:srgbClr val="5F6368"/>
                </a:solidFill>
                <a:latin typeface="Calibri" pitchFamily="34" charset="0"/>
                <a:ea typeface="Calibri" pitchFamily="34" charset="-122"/>
                <a:cs typeface="Calibri" pitchFamily="34" charset="-120"/>
              </a:rPr>
              <a:t>AI won't tell you what's worth making.</a:t>
            </a:r>
            <a:endParaRPr lang="en-US" sz="1250" dirty="0"/>
          </a:p>
        </p:txBody>
      </p:sp>
      <p:sp>
        <p:nvSpPr>
          <p:cNvPr id="15" name="Shape 13"/>
          <p:cNvSpPr/>
          <p:nvPr/>
        </p:nvSpPr>
        <p:spPr>
          <a:xfrm>
            <a:off x="6858000" y="3136392"/>
            <a:ext cx="256032" cy="256032"/>
          </a:xfrm>
          <a:prstGeom prst="ellipse">
            <a:avLst/>
          </a:prstGeom>
          <a:solidFill>
            <a:srgbClr val="EA4335"/>
          </a:solidFill>
          <a:ln/>
        </p:spPr>
      </p:sp>
      <p:sp>
        <p:nvSpPr>
          <p:cNvPr id="16" name="Text 14"/>
          <p:cNvSpPr/>
          <p:nvPr/>
        </p:nvSpPr>
        <p:spPr>
          <a:xfrm>
            <a:off x="7269480" y="3063240"/>
            <a:ext cx="4114800" cy="320040"/>
          </a:xfrm>
          <a:prstGeom prst="rect">
            <a:avLst/>
          </a:prstGeom>
          <a:noFill/>
          <a:ln/>
        </p:spPr>
        <p:txBody>
          <a:bodyPr wrap="square" lIns="0" tIns="0" rIns="0" bIns="0" rtlCol="0" anchor="ctr"/>
          <a:lstStyle/>
          <a:p>
            <a:pPr algn="l" indent="0" marL="0">
              <a:buNone/>
            </a:pPr>
            <a:r>
              <a:rPr lang="en-US" sz="1500" b="1" dirty="0">
                <a:solidFill>
                  <a:srgbClr val="202124"/>
                </a:solidFill>
                <a:latin typeface="Calibri" pitchFamily="34" charset="0"/>
                <a:ea typeface="Calibri" pitchFamily="34" charset="-122"/>
                <a:cs typeface="Calibri" pitchFamily="34" charset="-120"/>
              </a:rPr>
              <a:t>Judge if it's correct</a:t>
            </a:r>
            <a:endParaRPr lang="en-US" sz="1500" dirty="0"/>
          </a:p>
        </p:txBody>
      </p:sp>
      <p:sp>
        <p:nvSpPr>
          <p:cNvPr id="17" name="Text 15"/>
          <p:cNvSpPr/>
          <p:nvPr/>
        </p:nvSpPr>
        <p:spPr>
          <a:xfrm>
            <a:off x="7269480" y="3383280"/>
            <a:ext cx="4114800" cy="411480"/>
          </a:xfrm>
          <a:prstGeom prst="rect">
            <a:avLst/>
          </a:prstGeom>
          <a:noFill/>
          <a:ln/>
        </p:spPr>
        <p:txBody>
          <a:bodyPr wrap="square" lIns="0" tIns="0" rIns="0" bIns="0" rtlCol="0" anchor="ctr"/>
          <a:lstStyle/>
          <a:p>
            <a:pPr algn="l" indent="0" marL="0">
              <a:buNone/>
            </a:pPr>
            <a:r>
              <a:rPr lang="en-US" sz="1250" dirty="0">
                <a:solidFill>
                  <a:srgbClr val="5F6368"/>
                </a:solidFill>
                <a:latin typeface="Calibri" pitchFamily="34" charset="0"/>
                <a:ea typeface="Calibri" pitchFamily="34" charset="-122"/>
                <a:cs typeface="Calibri" pitchFamily="34" charset="-120"/>
              </a:rPr>
              <a:t>AI-written code has ~3x more security holes.</a:t>
            </a:r>
            <a:endParaRPr lang="en-US" sz="1250" dirty="0"/>
          </a:p>
        </p:txBody>
      </p:sp>
      <p:sp>
        <p:nvSpPr>
          <p:cNvPr id="18" name="Shape 16"/>
          <p:cNvSpPr/>
          <p:nvPr/>
        </p:nvSpPr>
        <p:spPr>
          <a:xfrm>
            <a:off x="6858000" y="3913632"/>
            <a:ext cx="256032" cy="256032"/>
          </a:xfrm>
          <a:prstGeom prst="ellipse">
            <a:avLst/>
          </a:prstGeom>
          <a:solidFill>
            <a:srgbClr val="FBBC04"/>
          </a:solidFill>
          <a:ln/>
        </p:spPr>
      </p:sp>
      <p:sp>
        <p:nvSpPr>
          <p:cNvPr id="19" name="Text 17"/>
          <p:cNvSpPr/>
          <p:nvPr/>
        </p:nvSpPr>
        <p:spPr>
          <a:xfrm>
            <a:off x="7269480" y="3840480"/>
            <a:ext cx="4114800" cy="320040"/>
          </a:xfrm>
          <a:prstGeom prst="rect">
            <a:avLst/>
          </a:prstGeom>
          <a:noFill/>
          <a:ln/>
        </p:spPr>
        <p:txBody>
          <a:bodyPr wrap="square" lIns="0" tIns="0" rIns="0" bIns="0" rtlCol="0" anchor="ctr"/>
          <a:lstStyle/>
          <a:p>
            <a:pPr algn="l" indent="0" marL="0">
              <a:buNone/>
            </a:pPr>
            <a:r>
              <a:rPr lang="en-US" sz="1500" b="1" dirty="0">
                <a:solidFill>
                  <a:srgbClr val="202124"/>
                </a:solidFill>
                <a:latin typeface="Calibri" pitchFamily="34" charset="0"/>
                <a:ea typeface="Calibri" pitchFamily="34" charset="-122"/>
                <a:cs typeface="Calibri" pitchFamily="34" charset="-120"/>
              </a:rPr>
              <a:t>Fix it when it breaks</a:t>
            </a:r>
            <a:endParaRPr lang="en-US" sz="1500" dirty="0"/>
          </a:p>
        </p:txBody>
      </p:sp>
      <p:sp>
        <p:nvSpPr>
          <p:cNvPr id="20" name="Text 18"/>
          <p:cNvSpPr/>
          <p:nvPr/>
        </p:nvSpPr>
        <p:spPr>
          <a:xfrm>
            <a:off x="7269480" y="4160520"/>
            <a:ext cx="4114800" cy="411480"/>
          </a:xfrm>
          <a:prstGeom prst="rect">
            <a:avLst/>
          </a:prstGeom>
          <a:noFill/>
          <a:ln/>
        </p:spPr>
        <p:txBody>
          <a:bodyPr wrap="square" lIns="0" tIns="0" rIns="0" bIns="0" rtlCol="0" anchor="ctr"/>
          <a:lstStyle/>
          <a:p>
            <a:pPr algn="l" indent="0" marL="0">
              <a:buNone/>
            </a:pPr>
            <a:r>
              <a:rPr lang="en-US" sz="1250" dirty="0">
                <a:solidFill>
                  <a:srgbClr val="5F6368"/>
                </a:solidFill>
                <a:latin typeface="Calibri" pitchFamily="34" charset="0"/>
                <a:ea typeface="Calibri" pitchFamily="34" charset="-122"/>
                <a:cs typeface="Calibri" pitchFamily="34" charset="-120"/>
              </a:rPr>
              <a:t>Debugging is the #1 skill employers want.</a:t>
            </a:r>
            <a:endParaRPr lang="en-US" sz="1250" dirty="0"/>
          </a:p>
        </p:txBody>
      </p:sp>
      <p:sp>
        <p:nvSpPr>
          <p:cNvPr id="21" name="Shape 19"/>
          <p:cNvSpPr/>
          <p:nvPr/>
        </p:nvSpPr>
        <p:spPr>
          <a:xfrm>
            <a:off x="6858000" y="4690872"/>
            <a:ext cx="256032" cy="256032"/>
          </a:xfrm>
          <a:prstGeom prst="ellipse">
            <a:avLst/>
          </a:prstGeom>
          <a:solidFill>
            <a:srgbClr val="34A853"/>
          </a:solidFill>
          <a:ln/>
        </p:spPr>
      </p:sp>
      <p:sp>
        <p:nvSpPr>
          <p:cNvPr id="22" name="Text 20"/>
          <p:cNvSpPr/>
          <p:nvPr/>
        </p:nvSpPr>
        <p:spPr>
          <a:xfrm>
            <a:off x="7269480" y="4617720"/>
            <a:ext cx="4114800" cy="320040"/>
          </a:xfrm>
          <a:prstGeom prst="rect">
            <a:avLst/>
          </a:prstGeom>
          <a:noFill/>
          <a:ln/>
        </p:spPr>
        <p:txBody>
          <a:bodyPr wrap="square" lIns="0" tIns="0" rIns="0" bIns="0" rtlCol="0" anchor="ctr"/>
          <a:lstStyle/>
          <a:p>
            <a:pPr algn="l" indent="0" marL="0">
              <a:buNone/>
            </a:pPr>
            <a:r>
              <a:rPr lang="en-US" sz="1500" b="1" dirty="0">
                <a:solidFill>
                  <a:srgbClr val="202124"/>
                </a:solidFill>
                <a:latin typeface="Calibri" pitchFamily="34" charset="0"/>
                <a:ea typeface="Calibri" pitchFamily="34" charset="-122"/>
                <a:cs typeface="Calibri" pitchFamily="34" charset="-120"/>
              </a:rPr>
              <a:t>Take responsibility</a:t>
            </a:r>
            <a:endParaRPr lang="en-US" sz="1500" dirty="0"/>
          </a:p>
        </p:txBody>
      </p:sp>
      <p:sp>
        <p:nvSpPr>
          <p:cNvPr id="23" name="Text 21"/>
          <p:cNvSpPr/>
          <p:nvPr/>
        </p:nvSpPr>
        <p:spPr>
          <a:xfrm>
            <a:off x="7269480" y="4937760"/>
            <a:ext cx="4114800" cy="411480"/>
          </a:xfrm>
          <a:prstGeom prst="rect">
            <a:avLst/>
          </a:prstGeom>
          <a:noFill/>
          <a:ln/>
        </p:spPr>
        <p:txBody>
          <a:bodyPr wrap="square" lIns="0" tIns="0" rIns="0" bIns="0" rtlCol="0" anchor="ctr"/>
          <a:lstStyle/>
          <a:p>
            <a:pPr algn="l" indent="0" marL="0">
              <a:buNone/>
            </a:pPr>
            <a:r>
              <a:rPr lang="en-US" sz="1250" dirty="0">
                <a:solidFill>
                  <a:srgbClr val="5F6368"/>
                </a:solidFill>
                <a:latin typeface="Calibri" pitchFamily="34" charset="0"/>
                <a:ea typeface="Calibri" pitchFamily="34" charset="-122"/>
                <a:cs typeface="Calibri" pitchFamily="34" charset="-120"/>
              </a:rPr>
              <a:t>A human signs off and owns the result.</a:t>
            </a:r>
            <a:endParaRPr lang="en-US" sz="1250" dirty="0"/>
          </a:p>
        </p:txBody>
      </p:sp>
      <p:sp>
        <p:nvSpPr>
          <p:cNvPr id="24" name="Text 2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25" name="Text 23"/>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02124"/>
        </a:solidFill>
      </p:bgPr>
    </p:bg>
    <p:spTree>
      <p:nvGrpSpPr>
        <p:cNvPr id="1" name=""/>
        <p:cNvGrpSpPr/>
        <p:nvPr/>
      </p:nvGrpSpPr>
      <p:grpSpPr>
        <a:xfrm>
          <a:off x="0" y="0"/>
          <a:ext cx="0" cy="0"/>
          <a:chOff x="0" y="0"/>
          <a:chExt cx="0" cy="0"/>
        </a:xfrm>
      </p:grpSpPr>
      <p:sp>
        <p:nvSpPr>
          <p:cNvPr id="2" name="Shape 0"/>
          <p:cNvSpPr/>
          <p:nvPr/>
        </p:nvSpPr>
        <p:spPr>
          <a:xfrm>
            <a:off x="9509760" y="-1645920"/>
            <a:ext cx="4206240" cy="4206240"/>
          </a:xfrm>
          <a:prstGeom prst="ellipse">
            <a:avLst/>
          </a:prstGeom>
          <a:solidFill>
            <a:srgbClr val="EA4335">
              <a:alpha val="16000"/>
            </a:srgbClr>
          </a:solidFill>
          <a:ln/>
        </p:spPr>
      </p:sp>
      <p:sp>
        <p:nvSpPr>
          <p:cNvPr id="3" name="Shape 1"/>
          <p:cNvSpPr/>
          <p:nvPr/>
        </p:nvSpPr>
        <p:spPr>
          <a:xfrm>
            <a:off x="-1097280" y="4206240"/>
            <a:ext cx="3291840" cy="3291840"/>
          </a:xfrm>
          <a:prstGeom prst="ellipse">
            <a:avLst/>
          </a:prstGeom>
          <a:solidFill>
            <a:srgbClr val="EA4335">
              <a:alpha val="12000"/>
            </a:srgbClr>
          </a:solidFill>
          <a:ln/>
        </p:spPr>
      </p:sp>
      <p:sp>
        <p:nvSpPr>
          <p:cNvPr id="4" name="Shape 2"/>
          <p:cNvSpPr/>
          <p:nvPr/>
        </p:nvSpPr>
        <p:spPr>
          <a:xfrm>
            <a:off x="868680" y="2514600"/>
            <a:ext cx="146304" cy="146304"/>
          </a:xfrm>
          <a:prstGeom prst="ellipse">
            <a:avLst/>
          </a:prstGeom>
          <a:solidFill>
            <a:srgbClr val="4285F4"/>
          </a:solidFill>
          <a:ln/>
        </p:spPr>
      </p:sp>
      <p:sp>
        <p:nvSpPr>
          <p:cNvPr id="5" name="Shape 3"/>
          <p:cNvSpPr/>
          <p:nvPr/>
        </p:nvSpPr>
        <p:spPr>
          <a:xfrm>
            <a:off x="1106424" y="2514600"/>
            <a:ext cx="146304" cy="146304"/>
          </a:xfrm>
          <a:prstGeom prst="ellipse">
            <a:avLst/>
          </a:prstGeom>
          <a:solidFill>
            <a:srgbClr val="EA4335"/>
          </a:solidFill>
          <a:ln/>
        </p:spPr>
      </p:sp>
      <p:sp>
        <p:nvSpPr>
          <p:cNvPr id="6" name="Shape 4"/>
          <p:cNvSpPr/>
          <p:nvPr/>
        </p:nvSpPr>
        <p:spPr>
          <a:xfrm>
            <a:off x="1344168" y="2514600"/>
            <a:ext cx="146304" cy="146304"/>
          </a:xfrm>
          <a:prstGeom prst="ellipse">
            <a:avLst/>
          </a:prstGeom>
          <a:solidFill>
            <a:srgbClr val="FBBC04"/>
          </a:solidFill>
          <a:ln/>
        </p:spPr>
      </p:sp>
      <p:sp>
        <p:nvSpPr>
          <p:cNvPr id="7" name="Shape 5"/>
          <p:cNvSpPr/>
          <p:nvPr/>
        </p:nvSpPr>
        <p:spPr>
          <a:xfrm>
            <a:off x="1581912" y="2514600"/>
            <a:ext cx="146304" cy="146304"/>
          </a:xfrm>
          <a:prstGeom prst="ellipse">
            <a:avLst/>
          </a:prstGeom>
          <a:solidFill>
            <a:srgbClr val="34A853"/>
          </a:solidFill>
          <a:ln/>
        </p:spPr>
      </p:sp>
      <p:sp>
        <p:nvSpPr>
          <p:cNvPr id="8" name="Text 6"/>
          <p:cNvSpPr/>
          <p:nvPr/>
        </p:nvSpPr>
        <p:spPr>
          <a:xfrm>
            <a:off x="868680" y="2788920"/>
            <a:ext cx="10058400" cy="365760"/>
          </a:xfrm>
          <a:prstGeom prst="rect">
            <a:avLst/>
          </a:prstGeom>
          <a:noFill/>
          <a:ln/>
        </p:spPr>
        <p:txBody>
          <a:bodyPr wrap="square" lIns="0" tIns="0" rIns="0" bIns="0" rtlCol="0" anchor="ctr"/>
          <a:lstStyle/>
          <a:p>
            <a:pPr algn="l" indent="0" marL="0">
              <a:buNone/>
            </a:pPr>
            <a:r>
              <a:rPr lang="en-US" sz="1300" b="1" spc="300" kern="0" dirty="0">
                <a:solidFill>
                  <a:srgbClr val="9AA0A6"/>
                </a:solidFill>
                <a:latin typeface="Calibri" pitchFamily="34" charset="0"/>
                <a:ea typeface="Calibri" pitchFamily="34" charset="-122"/>
                <a:cs typeface="Calibri" pitchFamily="34" charset="-120"/>
              </a:rPr>
              <a:t>PART 3</a:t>
            </a:r>
            <a:endParaRPr lang="en-US" sz="1300" dirty="0"/>
          </a:p>
        </p:txBody>
      </p:sp>
      <p:sp>
        <p:nvSpPr>
          <p:cNvPr id="9" name="Text 7"/>
          <p:cNvSpPr/>
          <p:nvPr/>
        </p:nvSpPr>
        <p:spPr>
          <a:xfrm>
            <a:off x="822960" y="3200400"/>
            <a:ext cx="10607040" cy="1005840"/>
          </a:xfrm>
          <a:prstGeom prst="rect">
            <a:avLst/>
          </a:prstGeom>
          <a:noFill/>
          <a:ln/>
        </p:spPr>
        <p:txBody>
          <a:bodyPr wrap="square" lIns="0" tIns="0" rIns="0" bIns="0" rtlCol="0" anchor="ctr"/>
          <a:lstStyle/>
          <a:p>
            <a:pPr algn="l" indent="0" marL="0">
              <a:buNone/>
            </a:pPr>
            <a:r>
              <a:rPr lang="en-US" sz="4400" b="1" dirty="0">
                <a:solidFill>
                  <a:srgbClr val="FFFFFF"/>
                </a:solidFill>
                <a:latin typeface="Georgia" pitchFamily="34" charset="0"/>
                <a:ea typeface="Georgia" pitchFamily="34" charset="-122"/>
                <a:cs typeface="Georgia" pitchFamily="34" charset="-120"/>
              </a:rPr>
              <a:t>So Why Learn to Code?</a:t>
            </a:r>
            <a:endParaRPr lang="en-US" sz="4400" dirty="0"/>
          </a:p>
        </p:txBody>
      </p:sp>
      <p:sp>
        <p:nvSpPr>
          <p:cNvPr id="10" name="Text 8"/>
          <p:cNvSpPr/>
          <p:nvPr/>
        </p:nvSpPr>
        <p:spPr>
          <a:xfrm>
            <a:off x="868680" y="4343400"/>
            <a:ext cx="9875520" cy="731520"/>
          </a:xfrm>
          <a:prstGeom prst="rect">
            <a:avLst/>
          </a:prstGeom>
          <a:noFill/>
          <a:ln/>
        </p:spPr>
        <p:txBody>
          <a:bodyPr wrap="square" lIns="0" tIns="0" rIns="0" bIns="0" rtlCol="0" anchor="ctr"/>
          <a:lstStyle/>
          <a:p>
            <a:pPr algn="l" indent="0" marL="0">
              <a:lnSpc>
                <a:spcPct val="110000"/>
              </a:lnSpc>
              <a:buNone/>
            </a:pPr>
            <a:r>
              <a:rPr lang="en-US" sz="1700" dirty="0">
                <a:solidFill>
                  <a:srgbClr val="E8EAED"/>
                </a:solidFill>
                <a:latin typeface="Calibri" pitchFamily="34" charset="0"/>
                <a:ea typeface="Calibri" pitchFamily="34" charset="-122"/>
                <a:cs typeface="Calibri" pitchFamily="34" charset="-120"/>
              </a:rPr>
              <a:t>If AI can write code… why are we here? Here's the honest answer.</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EA4335"/>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EA4335"/>
                </a:solidFill>
                <a:latin typeface="Calibri" pitchFamily="34" charset="0"/>
                <a:ea typeface="Calibri" pitchFamily="34" charset="-122"/>
                <a:cs typeface="Calibri" pitchFamily="34" charset="-120"/>
              </a:rPr>
              <a:t>WHY LEARN</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AI is the assistant. You're the boss.</a:t>
            </a:r>
            <a:endParaRPr lang="en-US" sz="2900" dirty="0"/>
          </a:p>
        </p:txBody>
      </p:sp>
      <p:sp>
        <p:nvSpPr>
          <p:cNvPr id="9" name="Text 7"/>
          <p:cNvSpPr/>
          <p:nvPr/>
        </p:nvSpPr>
        <p:spPr>
          <a:xfrm>
            <a:off x="548640" y="1691640"/>
            <a:ext cx="10972800" cy="1005840"/>
          </a:xfrm>
          <a:prstGeom prst="rect">
            <a:avLst/>
          </a:prstGeom>
          <a:noFill/>
          <a:ln/>
        </p:spPr>
        <p:txBody>
          <a:bodyPr wrap="square" lIns="0" tIns="0" rIns="0" bIns="0" rtlCol="0" anchor="t"/>
          <a:lstStyle/>
          <a:p>
            <a:pPr algn="l" indent="0" marL="0">
              <a:lnSpc>
                <a:spcPct val="118000"/>
              </a:lnSpc>
              <a:buNone/>
            </a:pPr>
            <a:r>
              <a:rPr lang="en-US" sz="1650" dirty="0">
                <a:solidFill>
                  <a:srgbClr val="5F6368"/>
                </a:solidFill>
                <a:latin typeface="Calibri" pitchFamily="34" charset="0"/>
                <a:ea typeface="Calibri" pitchFamily="34" charset="-122"/>
                <a:cs typeface="Calibri" pitchFamily="34" charset="-120"/>
              </a:rPr>
              <a:t>Imagine hiring an assistant who types incredibly fast but sometimes gets things wrong and never admits it. You'd need to understand the work well enough to catch the mistakes. That's you and AI.</a:t>
            </a:r>
            <a:endParaRPr lang="en-US" sz="1650" dirty="0"/>
          </a:p>
        </p:txBody>
      </p:sp>
      <p:sp>
        <p:nvSpPr>
          <p:cNvPr id="10" name="Shape 8"/>
          <p:cNvSpPr/>
          <p:nvPr/>
        </p:nvSpPr>
        <p:spPr>
          <a:xfrm>
            <a:off x="548640" y="2926080"/>
            <a:ext cx="11064240" cy="658368"/>
          </a:xfrm>
          <a:prstGeom prst="roundRect">
            <a:avLst>
              <a:gd name="adj" fmla="val 12500"/>
            </a:avLst>
          </a:prstGeom>
          <a:solidFill>
            <a:srgbClr val="F8F9FA"/>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1" name="Shape 9"/>
          <p:cNvSpPr/>
          <p:nvPr/>
        </p:nvSpPr>
        <p:spPr>
          <a:xfrm>
            <a:off x="822960" y="3072384"/>
            <a:ext cx="384048" cy="384048"/>
          </a:xfrm>
          <a:prstGeom prst="ellipse">
            <a:avLst/>
          </a:prstGeom>
          <a:solidFill>
            <a:srgbClr val="4285F4"/>
          </a:solidFill>
          <a:ln/>
        </p:spPr>
      </p:sp>
      <p:sp>
        <p:nvSpPr>
          <p:cNvPr id="12" name="Text 10"/>
          <p:cNvSpPr/>
          <p:nvPr/>
        </p:nvSpPr>
        <p:spPr>
          <a:xfrm>
            <a:off x="822960" y="3072384"/>
            <a:ext cx="384048" cy="384048"/>
          </a:xfrm>
          <a:prstGeom prst="rect">
            <a:avLst/>
          </a:prstGeom>
          <a:noFill/>
          <a:ln/>
        </p:spPr>
        <p:txBody>
          <a:bodyPr wrap="square" lIns="0" tIns="0" rIns="0" bIns="0" rtlCol="0" anchor="ctr"/>
          <a:lstStyle/>
          <a:p>
            <a:pPr algn="ctr" indent="0" marL="0">
              <a:buNone/>
            </a:pPr>
            <a:r>
              <a:rPr lang="en-US" sz="882" b="1" dirty="0">
                <a:solidFill>
                  <a:srgbClr val="FFFFFF"/>
                </a:solidFill>
                <a:latin typeface="Georgia" pitchFamily="34" charset="0"/>
                <a:ea typeface="Georgia" pitchFamily="34" charset="-122"/>
                <a:cs typeface="Georgia" pitchFamily="34" charset="-120"/>
              </a:rPr>
              <a:t>1</a:t>
            </a:r>
            <a:endParaRPr lang="en-US" sz="882" dirty="0"/>
          </a:p>
        </p:txBody>
      </p:sp>
      <p:sp>
        <p:nvSpPr>
          <p:cNvPr id="13" name="Text 11"/>
          <p:cNvSpPr/>
          <p:nvPr/>
        </p:nvSpPr>
        <p:spPr>
          <a:xfrm>
            <a:off x="1463040" y="2926080"/>
            <a:ext cx="3337560" cy="658368"/>
          </a:xfrm>
          <a:prstGeom prst="rect">
            <a:avLst/>
          </a:prstGeom>
          <a:noFill/>
          <a:ln/>
        </p:spPr>
        <p:txBody>
          <a:bodyPr wrap="square" lIns="0" tIns="0" rIns="0" bIns="0" rtlCol="0" anchor="ctr"/>
          <a:lstStyle/>
          <a:p>
            <a:pPr algn="l" indent="0" marL="0">
              <a:buNone/>
            </a:pPr>
            <a:r>
              <a:rPr lang="en-US" sz="1550" b="1" dirty="0">
                <a:solidFill>
                  <a:srgbClr val="4285F4"/>
                </a:solidFill>
                <a:latin typeface="Calibri" pitchFamily="34" charset="0"/>
                <a:ea typeface="Calibri" pitchFamily="34" charset="-122"/>
                <a:cs typeface="Calibri" pitchFamily="34" charset="-120"/>
              </a:rPr>
              <a:t>You give direction</a:t>
            </a:r>
            <a:endParaRPr lang="en-US" sz="1550" dirty="0"/>
          </a:p>
        </p:txBody>
      </p:sp>
      <p:sp>
        <p:nvSpPr>
          <p:cNvPr id="14" name="Text 12"/>
          <p:cNvSpPr/>
          <p:nvPr/>
        </p:nvSpPr>
        <p:spPr>
          <a:xfrm>
            <a:off x="4937760" y="2926080"/>
            <a:ext cx="6492240" cy="658368"/>
          </a:xfrm>
          <a:prstGeom prst="rect">
            <a:avLst/>
          </a:prstGeom>
          <a:noFill/>
          <a:ln/>
        </p:spPr>
        <p:txBody>
          <a:bodyPr wrap="square" lIns="0" tIns="0" rIns="0" bIns="0" rtlCol="0" anchor="ctr"/>
          <a:lstStyle/>
          <a:p>
            <a:pPr algn="l" indent="0" marL="0">
              <a:buNone/>
            </a:pPr>
            <a:r>
              <a:rPr lang="en-US" sz="1400" dirty="0">
                <a:solidFill>
                  <a:srgbClr val="5F6368"/>
                </a:solidFill>
                <a:latin typeface="Calibri" pitchFamily="34" charset="0"/>
                <a:ea typeface="Calibri" pitchFamily="34" charset="-122"/>
                <a:cs typeface="Calibri" pitchFamily="34" charset="-120"/>
              </a:rPr>
              <a:t>You decide what to build and how it should work.</a:t>
            </a:r>
            <a:endParaRPr lang="en-US" sz="1400" dirty="0"/>
          </a:p>
        </p:txBody>
      </p:sp>
      <p:sp>
        <p:nvSpPr>
          <p:cNvPr id="15" name="Shape 13"/>
          <p:cNvSpPr/>
          <p:nvPr/>
        </p:nvSpPr>
        <p:spPr>
          <a:xfrm>
            <a:off x="548640" y="3703320"/>
            <a:ext cx="11064240" cy="658368"/>
          </a:xfrm>
          <a:prstGeom prst="roundRect">
            <a:avLst>
              <a:gd name="adj" fmla="val 12500"/>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6" name="Shape 14"/>
          <p:cNvSpPr/>
          <p:nvPr/>
        </p:nvSpPr>
        <p:spPr>
          <a:xfrm>
            <a:off x="822960" y="3849624"/>
            <a:ext cx="384048" cy="384048"/>
          </a:xfrm>
          <a:prstGeom prst="ellipse">
            <a:avLst/>
          </a:prstGeom>
          <a:solidFill>
            <a:srgbClr val="EA4335"/>
          </a:solidFill>
          <a:ln/>
        </p:spPr>
      </p:sp>
      <p:sp>
        <p:nvSpPr>
          <p:cNvPr id="17" name="Text 15"/>
          <p:cNvSpPr/>
          <p:nvPr/>
        </p:nvSpPr>
        <p:spPr>
          <a:xfrm>
            <a:off x="822960" y="3849624"/>
            <a:ext cx="384048" cy="384048"/>
          </a:xfrm>
          <a:prstGeom prst="rect">
            <a:avLst/>
          </a:prstGeom>
          <a:noFill/>
          <a:ln/>
        </p:spPr>
        <p:txBody>
          <a:bodyPr wrap="square" lIns="0" tIns="0" rIns="0" bIns="0" rtlCol="0" anchor="ctr"/>
          <a:lstStyle/>
          <a:p>
            <a:pPr algn="ctr" indent="0" marL="0">
              <a:buNone/>
            </a:pPr>
            <a:r>
              <a:rPr lang="en-US" sz="882" b="1" dirty="0">
                <a:solidFill>
                  <a:srgbClr val="FFFFFF"/>
                </a:solidFill>
                <a:latin typeface="Georgia" pitchFamily="34" charset="0"/>
                <a:ea typeface="Georgia" pitchFamily="34" charset="-122"/>
                <a:cs typeface="Georgia" pitchFamily="34" charset="-120"/>
              </a:rPr>
              <a:t>2</a:t>
            </a:r>
            <a:endParaRPr lang="en-US" sz="882" dirty="0"/>
          </a:p>
        </p:txBody>
      </p:sp>
      <p:sp>
        <p:nvSpPr>
          <p:cNvPr id="18" name="Text 16"/>
          <p:cNvSpPr/>
          <p:nvPr/>
        </p:nvSpPr>
        <p:spPr>
          <a:xfrm>
            <a:off x="1463040" y="3703320"/>
            <a:ext cx="3337560" cy="658368"/>
          </a:xfrm>
          <a:prstGeom prst="rect">
            <a:avLst/>
          </a:prstGeom>
          <a:noFill/>
          <a:ln/>
        </p:spPr>
        <p:txBody>
          <a:bodyPr wrap="square" lIns="0" tIns="0" rIns="0" bIns="0" rtlCol="0" anchor="ctr"/>
          <a:lstStyle/>
          <a:p>
            <a:pPr algn="l" indent="0" marL="0">
              <a:buNone/>
            </a:pPr>
            <a:r>
              <a:rPr lang="en-US" sz="1550" b="1" dirty="0">
                <a:solidFill>
                  <a:srgbClr val="EA4335"/>
                </a:solidFill>
                <a:latin typeface="Calibri" pitchFamily="34" charset="0"/>
                <a:ea typeface="Calibri" pitchFamily="34" charset="-122"/>
                <a:cs typeface="Calibri" pitchFamily="34" charset="-120"/>
              </a:rPr>
              <a:t>You check the work</a:t>
            </a:r>
            <a:endParaRPr lang="en-US" sz="1550" dirty="0"/>
          </a:p>
        </p:txBody>
      </p:sp>
      <p:sp>
        <p:nvSpPr>
          <p:cNvPr id="19" name="Text 17"/>
          <p:cNvSpPr/>
          <p:nvPr/>
        </p:nvSpPr>
        <p:spPr>
          <a:xfrm>
            <a:off x="4937760" y="3703320"/>
            <a:ext cx="6492240" cy="658368"/>
          </a:xfrm>
          <a:prstGeom prst="rect">
            <a:avLst/>
          </a:prstGeom>
          <a:noFill/>
          <a:ln/>
        </p:spPr>
        <p:txBody>
          <a:bodyPr wrap="square" lIns="0" tIns="0" rIns="0" bIns="0" rtlCol="0" anchor="ctr"/>
          <a:lstStyle/>
          <a:p>
            <a:pPr algn="l" indent="0" marL="0">
              <a:buNone/>
            </a:pPr>
            <a:r>
              <a:rPr lang="en-US" sz="1400" dirty="0">
                <a:solidFill>
                  <a:srgbClr val="5F6368"/>
                </a:solidFill>
                <a:latin typeface="Calibri" pitchFamily="34" charset="0"/>
                <a:ea typeface="Calibri" pitchFamily="34" charset="-122"/>
                <a:cs typeface="Calibri" pitchFamily="34" charset="-120"/>
              </a:rPr>
              <a:t>You spot the bugs and bad ideas the AI missed.</a:t>
            </a:r>
            <a:endParaRPr lang="en-US" sz="1400" dirty="0"/>
          </a:p>
        </p:txBody>
      </p:sp>
      <p:sp>
        <p:nvSpPr>
          <p:cNvPr id="20" name="Shape 18"/>
          <p:cNvSpPr/>
          <p:nvPr/>
        </p:nvSpPr>
        <p:spPr>
          <a:xfrm>
            <a:off x="548640" y="4480560"/>
            <a:ext cx="11064240" cy="658368"/>
          </a:xfrm>
          <a:prstGeom prst="roundRect">
            <a:avLst>
              <a:gd name="adj" fmla="val 12500"/>
            </a:avLst>
          </a:prstGeom>
          <a:solidFill>
            <a:srgbClr val="F8F9FA"/>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21" name="Shape 19"/>
          <p:cNvSpPr/>
          <p:nvPr/>
        </p:nvSpPr>
        <p:spPr>
          <a:xfrm>
            <a:off x="822960" y="4626864"/>
            <a:ext cx="384048" cy="384048"/>
          </a:xfrm>
          <a:prstGeom prst="ellipse">
            <a:avLst/>
          </a:prstGeom>
          <a:solidFill>
            <a:srgbClr val="34A853"/>
          </a:solidFill>
          <a:ln/>
        </p:spPr>
      </p:sp>
      <p:sp>
        <p:nvSpPr>
          <p:cNvPr id="22" name="Text 20"/>
          <p:cNvSpPr/>
          <p:nvPr/>
        </p:nvSpPr>
        <p:spPr>
          <a:xfrm>
            <a:off x="822960" y="4626864"/>
            <a:ext cx="384048" cy="384048"/>
          </a:xfrm>
          <a:prstGeom prst="rect">
            <a:avLst/>
          </a:prstGeom>
          <a:noFill/>
          <a:ln/>
        </p:spPr>
        <p:txBody>
          <a:bodyPr wrap="square" lIns="0" tIns="0" rIns="0" bIns="0" rtlCol="0" anchor="ctr"/>
          <a:lstStyle/>
          <a:p>
            <a:pPr algn="ctr" indent="0" marL="0">
              <a:buNone/>
            </a:pPr>
            <a:r>
              <a:rPr lang="en-US" sz="882" b="1" dirty="0">
                <a:solidFill>
                  <a:srgbClr val="FFFFFF"/>
                </a:solidFill>
                <a:latin typeface="Georgia" pitchFamily="34" charset="0"/>
                <a:ea typeface="Georgia" pitchFamily="34" charset="-122"/>
                <a:cs typeface="Georgia" pitchFamily="34" charset="-120"/>
              </a:rPr>
              <a:t>3</a:t>
            </a:r>
            <a:endParaRPr lang="en-US" sz="882" dirty="0"/>
          </a:p>
        </p:txBody>
      </p:sp>
      <p:sp>
        <p:nvSpPr>
          <p:cNvPr id="23" name="Text 21"/>
          <p:cNvSpPr/>
          <p:nvPr/>
        </p:nvSpPr>
        <p:spPr>
          <a:xfrm>
            <a:off x="1463040" y="4480560"/>
            <a:ext cx="3337560" cy="658368"/>
          </a:xfrm>
          <a:prstGeom prst="rect">
            <a:avLst/>
          </a:prstGeom>
          <a:noFill/>
          <a:ln/>
        </p:spPr>
        <p:txBody>
          <a:bodyPr wrap="square" lIns="0" tIns="0" rIns="0" bIns="0" rtlCol="0" anchor="ctr"/>
          <a:lstStyle/>
          <a:p>
            <a:pPr algn="l" indent="0" marL="0">
              <a:buNone/>
            </a:pPr>
            <a:r>
              <a:rPr lang="en-US" sz="1550" b="1" dirty="0">
                <a:solidFill>
                  <a:srgbClr val="34A853"/>
                </a:solidFill>
                <a:latin typeface="Calibri" pitchFamily="34" charset="0"/>
                <a:ea typeface="Calibri" pitchFamily="34" charset="-122"/>
                <a:cs typeface="Calibri" pitchFamily="34" charset="-120"/>
              </a:rPr>
              <a:t>You fix what breaks</a:t>
            </a:r>
            <a:endParaRPr lang="en-US" sz="1550" dirty="0"/>
          </a:p>
        </p:txBody>
      </p:sp>
      <p:sp>
        <p:nvSpPr>
          <p:cNvPr id="24" name="Text 22"/>
          <p:cNvSpPr/>
          <p:nvPr/>
        </p:nvSpPr>
        <p:spPr>
          <a:xfrm>
            <a:off x="4937760" y="4480560"/>
            <a:ext cx="6492240" cy="658368"/>
          </a:xfrm>
          <a:prstGeom prst="rect">
            <a:avLst/>
          </a:prstGeom>
          <a:noFill/>
          <a:ln/>
        </p:spPr>
        <p:txBody>
          <a:bodyPr wrap="square" lIns="0" tIns="0" rIns="0" bIns="0" rtlCol="0" anchor="ctr"/>
          <a:lstStyle/>
          <a:p>
            <a:pPr algn="l" indent="0" marL="0">
              <a:buNone/>
            </a:pPr>
            <a:r>
              <a:rPr lang="en-US" sz="1400" dirty="0">
                <a:solidFill>
                  <a:srgbClr val="5F6368"/>
                </a:solidFill>
                <a:latin typeface="Calibri" pitchFamily="34" charset="0"/>
                <a:ea typeface="Calibri" pitchFamily="34" charset="-122"/>
                <a:cs typeface="Calibri" pitchFamily="34" charset="-120"/>
              </a:rPr>
              <a:t>When it fails, YOU understand it well enough to repair it.</a:t>
            </a:r>
            <a:endParaRPr lang="en-US" sz="1400" dirty="0"/>
          </a:p>
        </p:txBody>
      </p:sp>
      <p:sp>
        <p:nvSpPr>
          <p:cNvPr id="25" name="Text 23"/>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26" name="Text 24"/>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34A853"/>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34A853"/>
                </a:solidFill>
                <a:latin typeface="Calibri" pitchFamily="34" charset="0"/>
                <a:ea typeface="Calibri" pitchFamily="34" charset="-122"/>
                <a:cs typeface="Calibri" pitchFamily="34" charset="-120"/>
              </a:rPr>
              <a:t>WHY LEARN</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The real superpower: debugging</a:t>
            </a:r>
            <a:endParaRPr lang="en-US" sz="2900" dirty="0"/>
          </a:p>
        </p:txBody>
      </p:sp>
      <p:sp>
        <p:nvSpPr>
          <p:cNvPr id="9" name="Text 7"/>
          <p:cNvSpPr/>
          <p:nvPr/>
        </p:nvSpPr>
        <p:spPr>
          <a:xfrm>
            <a:off x="548640" y="1691640"/>
            <a:ext cx="6400800" cy="1371600"/>
          </a:xfrm>
          <a:prstGeom prst="rect">
            <a:avLst/>
          </a:prstGeom>
          <a:noFill/>
          <a:ln/>
        </p:spPr>
        <p:txBody>
          <a:bodyPr wrap="square" lIns="0" tIns="0" rIns="0" bIns="0" rtlCol="0" anchor="t"/>
          <a:lstStyle/>
          <a:p>
            <a:pPr algn="l" indent="0" marL="0">
              <a:lnSpc>
                <a:spcPct val="118000"/>
              </a:lnSpc>
              <a:buNone/>
            </a:pPr>
            <a:r>
              <a:rPr lang="en-US" sz="1600" dirty="0">
                <a:solidFill>
                  <a:srgbClr val="5F6368"/>
                </a:solidFill>
                <a:latin typeface="Calibri" pitchFamily="34" charset="0"/>
                <a:ea typeface="Calibri" pitchFamily="34" charset="-122"/>
                <a:cs typeface="Calibri" pitchFamily="34" charset="-120"/>
              </a:rPr>
              <a:t>“Debugging” means finding and fixing the mistakes in code. It's the most valuable skill a coder can have — and it's something you can only do if you actually understand how code works.</a:t>
            </a:r>
            <a:endParaRPr lang="en-US" sz="1600" dirty="0"/>
          </a:p>
        </p:txBody>
      </p:sp>
      <p:sp>
        <p:nvSpPr>
          <p:cNvPr id="10" name="Shape 8"/>
          <p:cNvSpPr/>
          <p:nvPr/>
        </p:nvSpPr>
        <p:spPr>
          <a:xfrm>
            <a:off x="548640" y="3154680"/>
            <a:ext cx="6400800" cy="2103120"/>
          </a:xfrm>
          <a:prstGeom prst="roundRect">
            <a:avLst>
              <a:gd name="adj" fmla="val 3913"/>
            </a:avLst>
          </a:prstGeom>
          <a:solidFill>
            <a:srgbClr val="E6F4EA"/>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1" name="Text 9"/>
          <p:cNvSpPr/>
          <p:nvPr/>
        </p:nvSpPr>
        <p:spPr>
          <a:xfrm>
            <a:off x="822960" y="3337560"/>
            <a:ext cx="5852160" cy="1737360"/>
          </a:xfrm>
          <a:prstGeom prst="rect">
            <a:avLst/>
          </a:prstGeom>
          <a:noFill/>
          <a:ln/>
        </p:spPr>
        <p:txBody>
          <a:bodyPr wrap="square" lIns="0" tIns="0" rIns="0" bIns="0" rtlCol="0" anchor="t"/>
          <a:lstStyle/>
          <a:p>
            <a:pPr algn="l" indent="0" marL="0">
              <a:lnSpc>
                <a:spcPct val="118000"/>
              </a:lnSpc>
              <a:buNone/>
            </a:pPr>
            <a:r>
              <a:rPr lang="en-US" sz="1450" b="1" dirty="0">
                <a:solidFill>
                  <a:srgbClr val="1E8E3E"/>
                </a:solidFill>
                <a:latin typeface="Calibri" pitchFamily="34" charset="0"/>
                <a:ea typeface="Calibri" pitchFamily="34" charset="-122"/>
                <a:cs typeface="Calibri" pitchFamily="34" charset="-120"/>
              </a:rPr>
              <a:t>Fun fact: </a:t>
            </a:r>
            <a:pPr algn="l" indent="0" marL="0">
              <a:lnSpc>
                <a:spcPct val="118000"/>
              </a:lnSpc>
              <a:buNone/>
            </a:pPr>
            <a:r>
              <a:rPr lang="en-US" sz="1450" dirty="0">
                <a:solidFill>
                  <a:srgbClr val="202124"/>
                </a:solidFill>
                <a:latin typeface="Calibri" pitchFamily="34" charset="0"/>
                <a:ea typeface="Calibri" pitchFamily="34" charset="-122"/>
                <a:cs typeface="Calibri" pitchFamily="34" charset="-120"/>
              </a:rPr>
              <a:t>the word “bug” comes from a real moth found stuck inside a computer in 1947. Engineers taped it in their logbook and wrote “first actual case of bug being found.”</a:t>
            </a:r>
            <a:endParaRPr lang="en-US" sz="1450" dirty="0"/>
          </a:p>
        </p:txBody>
      </p:sp>
      <p:sp>
        <p:nvSpPr>
          <p:cNvPr id="12" name="Shape 10"/>
          <p:cNvSpPr/>
          <p:nvPr/>
        </p:nvSpPr>
        <p:spPr>
          <a:xfrm>
            <a:off x="7223760" y="1691640"/>
            <a:ext cx="4389120" cy="3566160"/>
          </a:xfrm>
          <a:prstGeom prst="roundRect">
            <a:avLst>
              <a:gd name="adj" fmla="val 2308"/>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3" name="Text 11"/>
          <p:cNvSpPr/>
          <p:nvPr/>
        </p:nvSpPr>
        <p:spPr>
          <a:xfrm>
            <a:off x="7498080" y="1920240"/>
            <a:ext cx="3840480" cy="685800"/>
          </a:xfrm>
          <a:prstGeom prst="rect">
            <a:avLst/>
          </a:prstGeom>
          <a:noFill/>
          <a:ln/>
        </p:spPr>
        <p:txBody>
          <a:bodyPr wrap="square" lIns="0" tIns="0" rIns="0" bIns="0" rtlCol="0" anchor="ctr"/>
          <a:lstStyle/>
          <a:p>
            <a:pPr algn="l" indent="0" marL="0">
              <a:buNone/>
            </a:pPr>
            <a:r>
              <a:rPr lang="en-US" sz="1600" b="1" dirty="0">
                <a:solidFill>
                  <a:srgbClr val="34A853"/>
                </a:solidFill>
                <a:latin typeface="Georgia" pitchFamily="34" charset="0"/>
                <a:ea typeface="Georgia" pitchFamily="34" charset="-122"/>
                <a:cs typeface="Georgia" pitchFamily="34" charset="-120"/>
              </a:rPr>
              <a:t>Why AI makes this MORE important</a:t>
            </a:r>
            <a:endParaRPr lang="en-US" sz="1600" dirty="0"/>
          </a:p>
        </p:txBody>
      </p:sp>
      <p:sp>
        <p:nvSpPr>
          <p:cNvPr id="14" name="Text 12"/>
          <p:cNvSpPr/>
          <p:nvPr/>
        </p:nvSpPr>
        <p:spPr>
          <a:xfrm>
            <a:off x="7498080" y="2606040"/>
            <a:ext cx="3840480" cy="2468880"/>
          </a:xfrm>
          <a:prstGeom prst="rect">
            <a:avLst/>
          </a:prstGeom>
          <a:noFill/>
          <a:ln/>
        </p:spPr>
        <p:txBody>
          <a:bodyPr wrap="square" lIns="0" tIns="0" rIns="0" bIns="0" rtlCol="0" anchor="t"/>
          <a:lstStyle/>
          <a:p>
            <a:pPr algn="l" indent="0" marL="0">
              <a:lnSpc>
                <a:spcPct val="118000"/>
              </a:lnSpc>
              <a:buNone/>
            </a:pPr>
            <a:r>
              <a:rPr lang="en-US" sz="1400" dirty="0">
                <a:solidFill>
                  <a:srgbClr val="5F6368"/>
                </a:solidFill>
                <a:latin typeface="Calibri" pitchFamily="34" charset="0"/>
                <a:ea typeface="Calibri" pitchFamily="34" charset="-122"/>
                <a:cs typeface="Calibri" pitchFamily="34" charset="-120"/>
              </a:rPr>
              <a:t>AI writes code fast — including fast BUGS. Someone who can read code and go “wait, that's wrong” is more valuable than ever.</a:t>
            </a:r>
            <a:pPr algn="l" indent="0" marL="0">
              <a:lnSpc>
                <a:spcPct val="118000"/>
              </a:lnSpc>
              <a:buNone/>
            </a:pPr>
            <a:endParaRPr lang="en-US" sz="1400" dirty="0"/>
          </a:p>
          <a:p>
            <a:pPr algn="l" indent="0" marL="0">
              <a:lnSpc>
                <a:spcPct val="118000"/>
              </a:lnSpc>
              <a:buNone/>
            </a:pPr>
            <a:endParaRPr lang="en-US" sz="1400" dirty="0"/>
          </a:p>
          <a:p>
            <a:pPr algn="l" indent="0" marL="0">
              <a:lnSpc>
                <a:spcPct val="118000"/>
              </a:lnSpc>
              <a:buNone/>
            </a:pPr>
            <a:r>
              <a:rPr lang="en-US" sz="1400" dirty="0">
                <a:solidFill>
                  <a:srgbClr val="5F6368"/>
                </a:solidFill>
                <a:latin typeface="Calibri" pitchFamily="34" charset="0"/>
                <a:ea typeface="Calibri" pitchFamily="34" charset="-122"/>
                <a:cs typeface="Calibri" pitchFamily="34" charset="-120"/>
              </a:rPr>
              <a:t>The best way to get good at it? Fix the messes that you — and your AI — make. That's what today's class starts building.</a:t>
            </a:r>
            <a:endParaRPr lang="en-US" sz="1400" dirty="0"/>
          </a:p>
        </p:txBody>
      </p:sp>
      <p:sp>
        <p:nvSpPr>
          <p:cNvPr id="15" name="Text 13"/>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16" name="Text 14"/>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4285F4"/>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4285F4"/>
                </a:solidFill>
                <a:latin typeface="Calibri" pitchFamily="34" charset="0"/>
                <a:ea typeface="Calibri" pitchFamily="34" charset="-122"/>
                <a:cs typeface="Calibri" pitchFamily="34" charset="-120"/>
              </a:rPr>
              <a:t>WHY LEARN</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Coding teaches you to THINK</a:t>
            </a:r>
            <a:endParaRPr lang="en-US" sz="2900" dirty="0"/>
          </a:p>
        </p:txBody>
      </p:sp>
      <p:sp>
        <p:nvSpPr>
          <p:cNvPr id="9" name="Text 7"/>
          <p:cNvSpPr/>
          <p:nvPr/>
        </p:nvSpPr>
        <p:spPr>
          <a:xfrm>
            <a:off x="548640" y="1691640"/>
            <a:ext cx="10972800" cy="731520"/>
          </a:xfrm>
          <a:prstGeom prst="rect">
            <a:avLst/>
          </a:prstGeom>
          <a:noFill/>
          <a:ln/>
        </p:spPr>
        <p:txBody>
          <a:bodyPr wrap="square" lIns="0" tIns="0" rIns="0" bIns="0" rtlCol="0" anchor="t"/>
          <a:lstStyle/>
          <a:p>
            <a:pPr algn="l" indent="0" marL="0">
              <a:buNone/>
            </a:pPr>
            <a:r>
              <a:rPr lang="en-US" sz="1600" dirty="0">
                <a:solidFill>
                  <a:srgbClr val="5F6368"/>
                </a:solidFill>
                <a:latin typeface="Calibri" pitchFamily="34" charset="0"/>
                <a:ea typeface="Calibri" pitchFamily="34" charset="-122"/>
                <a:cs typeface="Calibri" pitchFamily="34" charset="-120"/>
              </a:rPr>
              <a:t>Even if you never become a professional programmer, learning to code rewires how you solve problems. These are superpowers in any career:</a:t>
            </a:r>
            <a:endParaRPr lang="en-US" sz="1600" dirty="0"/>
          </a:p>
        </p:txBody>
      </p:sp>
      <p:sp>
        <p:nvSpPr>
          <p:cNvPr id="10" name="Shape 8"/>
          <p:cNvSpPr/>
          <p:nvPr/>
        </p:nvSpPr>
        <p:spPr>
          <a:xfrm>
            <a:off x="548640" y="2514600"/>
            <a:ext cx="5394960" cy="1280160"/>
          </a:xfrm>
          <a:prstGeom prst="roundRect">
            <a:avLst>
              <a:gd name="adj" fmla="val 6429"/>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1" name="Shape 9"/>
          <p:cNvSpPr/>
          <p:nvPr/>
        </p:nvSpPr>
        <p:spPr>
          <a:xfrm>
            <a:off x="548640" y="2624328"/>
            <a:ext cx="82296" cy="1060704"/>
          </a:xfrm>
          <a:prstGeom prst="rect">
            <a:avLst/>
          </a:prstGeom>
          <a:solidFill>
            <a:srgbClr val="4285F4"/>
          </a:solidFill>
          <a:ln/>
        </p:spPr>
      </p:sp>
      <p:sp>
        <p:nvSpPr>
          <p:cNvPr id="12" name="Text 10"/>
          <p:cNvSpPr/>
          <p:nvPr/>
        </p:nvSpPr>
        <p:spPr>
          <a:xfrm>
            <a:off x="822960" y="2679192"/>
            <a:ext cx="4937760" cy="411480"/>
          </a:xfrm>
          <a:prstGeom prst="rect">
            <a:avLst/>
          </a:prstGeom>
          <a:noFill/>
          <a:ln/>
        </p:spPr>
        <p:txBody>
          <a:bodyPr wrap="square" lIns="0" tIns="0" rIns="0" bIns="0" rtlCol="0" anchor="ctr"/>
          <a:lstStyle/>
          <a:p>
            <a:pPr algn="l" indent="0" marL="0">
              <a:buNone/>
            </a:pPr>
            <a:r>
              <a:rPr lang="en-US" sz="1700" b="1" dirty="0">
                <a:solidFill>
                  <a:srgbClr val="202124"/>
                </a:solidFill>
                <a:latin typeface="Georgia" pitchFamily="34" charset="0"/>
                <a:ea typeface="Georgia" pitchFamily="34" charset="-122"/>
                <a:cs typeface="Georgia" pitchFamily="34" charset="-120"/>
              </a:rPr>
              <a:t>Break it down</a:t>
            </a:r>
            <a:endParaRPr lang="en-US" sz="1700" dirty="0"/>
          </a:p>
        </p:txBody>
      </p:sp>
      <p:sp>
        <p:nvSpPr>
          <p:cNvPr id="13" name="Text 11"/>
          <p:cNvSpPr/>
          <p:nvPr/>
        </p:nvSpPr>
        <p:spPr>
          <a:xfrm>
            <a:off x="822960" y="3136392"/>
            <a:ext cx="4937760" cy="594360"/>
          </a:xfrm>
          <a:prstGeom prst="rect">
            <a:avLst/>
          </a:prstGeom>
          <a:noFill/>
          <a:ln/>
        </p:spPr>
        <p:txBody>
          <a:bodyPr wrap="square" lIns="0" tIns="0" rIns="0" bIns="0" rtlCol="0" anchor="t"/>
          <a:lstStyle/>
          <a:p>
            <a:pPr algn="l" indent="0" marL="0">
              <a:lnSpc>
                <a:spcPct val="112000"/>
              </a:lnSpc>
              <a:buNone/>
            </a:pPr>
            <a:r>
              <a:rPr lang="en-US" sz="1350" dirty="0">
                <a:solidFill>
                  <a:srgbClr val="5F6368"/>
                </a:solidFill>
                <a:latin typeface="Calibri" pitchFamily="34" charset="0"/>
                <a:ea typeface="Calibri" pitchFamily="34" charset="-122"/>
                <a:cs typeface="Calibri" pitchFamily="34" charset="-120"/>
              </a:rPr>
              <a:t>Turn one big scary problem into small steps you can actually do.</a:t>
            </a:r>
            <a:endParaRPr lang="en-US" sz="1350" dirty="0"/>
          </a:p>
        </p:txBody>
      </p:sp>
      <p:sp>
        <p:nvSpPr>
          <p:cNvPr id="14" name="Shape 12"/>
          <p:cNvSpPr/>
          <p:nvPr/>
        </p:nvSpPr>
        <p:spPr>
          <a:xfrm>
            <a:off x="6172200" y="2514600"/>
            <a:ext cx="5394960" cy="1280160"/>
          </a:xfrm>
          <a:prstGeom prst="roundRect">
            <a:avLst>
              <a:gd name="adj" fmla="val 6429"/>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5" name="Shape 13"/>
          <p:cNvSpPr/>
          <p:nvPr/>
        </p:nvSpPr>
        <p:spPr>
          <a:xfrm>
            <a:off x="6172200" y="2624328"/>
            <a:ext cx="82296" cy="1060704"/>
          </a:xfrm>
          <a:prstGeom prst="rect">
            <a:avLst/>
          </a:prstGeom>
          <a:solidFill>
            <a:srgbClr val="EA4335"/>
          </a:solidFill>
          <a:ln/>
        </p:spPr>
      </p:sp>
      <p:sp>
        <p:nvSpPr>
          <p:cNvPr id="16" name="Text 14"/>
          <p:cNvSpPr/>
          <p:nvPr/>
        </p:nvSpPr>
        <p:spPr>
          <a:xfrm>
            <a:off x="6446520" y="2679192"/>
            <a:ext cx="4937760" cy="411480"/>
          </a:xfrm>
          <a:prstGeom prst="rect">
            <a:avLst/>
          </a:prstGeom>
          <a:noFill/>
          <a:ln/>
        </p:spPr>
        <p:txBody>
          <a:bodyPr wrap="square" lIns="0" tIns="0" rIns="0" bIns="0" rtlCol="0" anchor="ctr"/>
          <a:lstStyle/>
          <a:p>
            <a:pPr algn="l" indent="0" marL="0">
              <a:buNone/>
            </a:pPr>
            <a:r>
              <a:rPr lang="en-US" sz="1700" b="1" dirty="0">
                <a:solidFill>
                  <a:srgbClr val="202124"/>
                </a:solidFill>
                <a:latin typeface="Georgia" pitchFamily="34" charset="0"/>
                <a:ea typeface="Georgia" pitchFamily="34" charset="-122"/>
                <a:cs typeface="Georgia" pitchFamily="34" charset="-120"/>
              </a:rPr>
              <a:t>Be precise</a:t>
            </a:r>
            <a:endParaRPr lang="en-US" sz="1700" dirty="0"/>
          </a:p>
        </p:txBody>
      </p:sp>
      <p:sp>
        <p:nvSpPr>
          <p:cNvPr id="17" name="Text 15"/>
          <p:cNvSpPr/>
          <p:nvPr/>
        </p:nvSpPr>
        <p:spPr>
          <a:xfrm>
            <a:off x="6446520" y="3136392"/>
            <a:ext cx="4937760" cy="594360"/>
          </a:xfrm>
          <a:prstGeom prst="rect">
            <a:avLst/>
          </a:prstGeom>
          <a:noFill/>
          <a:ln/>
        </p:spPr>
        <p:txBody>
          <a:bodyPr wrap="square" lIns="0" tIns="0" rIns="0" bIns="0" rtlCol="0" anchor="t"/>
          <a:lstStyle/>
          <a:p>
            <a:pPr algn="l" indent="0" marL="0">
              <a:lnSpc>
                <a:spcPct val="112000"/>
              </a:lnSpc>
              <a:buNone/>
            </a:pPr>
            <a:r>
              <a:rPr lang="en-US" sz="1350" dirty="0">
                <a:solidFill>
                  <a:srgbClr val="5F6368"/>
                </a:solidFill>
                <a:latin typeface="Calibri" pitchFamily="34" charset="0"/>
                <a:ea typeface="Calibri" pitchFamily="34" charset="-122"/>
                <a:cs typeface="Calibri" pitchFamily="34" charset="-120"/>
              </a:rPr>
              <a:t>Say exactly what you mean — computers don't accept “you know what I meant.”</a:t>
            </a:r>
            <a:endParaRPr lang="en-US" sz="1350" dirty="0"/>
          </a:p>
        </p:txBody>
      </p:sp>
      <p:sp>
        <p:nvSpPr>
          <p:cNvPr id="18" name="Shape 16"/>
          <p:cNvSpPr/>
          <p:nvPr/>
        </p:nvSpPr>
        <p:spPr>
          <a:xfrm>
            <a:off x="548640" y="3977640"/>
            <a:ext cx="5394960" cy="1280160"/>
          </a:xfrm>
          <a:prstGeom prst="roundRect">
            <a:avLst>
              <a:gd name="adj" fmla="val 6429"/>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9" name="Shape 17"/>
          <p:cNvSpPr/>
          <p:nvPr/>
        </p:nvSpPr>
        <p:spPr>
          <a:xfrm>
            <a:off x="548640" y="4087368"/>
            <a:ext cx="82296" cy="1060704"/>
          </a:xfrm>
          <a:prstGeom prst="rect">
            <a:avLst/>
          </a:prstGeom>
          <a:solidFill>
            <a:srgbClr val="34A853"/>
          </a:solidFill>
          <a:ln/>
        </p:spPr>
      </p:sp>
      <p:sp>
        <p:nvSpPr>
          <p:cNvPr id="20" name="Text 18"/>
          <p:cNvSpPr/>
          <p:nvPr/>
        </p:nvSpPr>
        <p:spPr>
          <a:xfrm>
            <a:off x="822960" y="4142232"/>
            <a:ext cx="4937760" cy="411480"/>
          </a:xfrm>
          <a:prstGeom prst="rect">
            <a:avLst/>
          </a:prstGeom>
          <a:noFill/>
          <a:ln/>
        </p:spPr>
        <p:txBody>
          <a:bodyPr wrap="square" lIns="0" tIns="0" rIns="0" bIns="0" rtlCol="0" anchor="ctr"/>
          <a:lstStyle/>
          <a:p>
            <a:pPr algn="l" indent="0" marL="0">
              <a:buNone/>
            </a:pPr>
            <a:r>
              <a:rPr lang="en-US" sz="1700" b="1" dirty="0">
                <a:solidFill>
                  <a:srgbClr val="202124"/>
                </a:solidFill>
                <a:latin typeface="Georgia" pitchFamily="34" charset="0"/>
                <a:ea typeface="Georgia" pitchFamily="34" charset="-122"/>
                <a:cs typeface="Georgia" pitchFamily="34" charset="-120"/>
              </a:rPr>
              <a:t>Find patterns</a:t>
            </a:r>
            <a:endParaRPr lang="en-US" sz="1700" dirty="0"/>
          </a:p>
        </p:txBody>
      </p:sp>
      <p:sp>
        <p:nvSpPr>
          <p:cNvPr id="21" name="Text 19"/>
          <p:cNvSpPr/>
          <p:nvPr/>
        </p:nvSpPr>
        <p:spPr>
          <a:xfrm>
            <a:off x="822960" y="4599432"/>
            <a:ext cx="4937760" cy="594360"/>
          </a:xfrm>
          <a:prstGeom prst="rect">
            <a:avLst/>
          </a:prstGeom>
          <a:noFill/>
          <a:ln/>
        </p:spPr>
        <p:txBody>
          <a:bodyPr wrap="square" lIns="0" tIns="0" rIns="0" bIns="0" rtlCol="0" anchor="t"/>
          <a:lstStyle/>
          <a:p>
            <a:pPr algn="l" indent="0" marL="0">
              <a:lnSpc>
                <a:spcPct val="112000"/>
              </a:lnSpc>
              <a:buNone/>
            </a:pPr>
            <a:r>
              <a:rPr lang="en-US" sz="1350" dirty="0">
                <a:solidFill>
                  <a:srgbClr val="5F6368"/>
                </a:solidFill>
                <a:latin typeface="Calibri" pitchFamily="34" charset="0"/>
                <a:ea typeface="Calibri" pitchFamily="34" charset="-122"/>
                <a:cs typeface="Calibri" pitchFamily="34" charset="-120"/>
              </a:rPr>
              <a:t>Spot what repeats so you can reuse solutions instead of redoing work.</a:t>
            </a:r>
            <a:endParaRPr lang="en-US" sz="1350" dirty="0"/>
          </a:p>
        </p:txBody>
      </p:sp>
      <p:sp>
        <p:nvSpPr>
          <p:cNvPr id="22" name="Shape 20"/>
          <p:cNvSpPr/>
          <p:nvPr/>
        </p:nvSpPr>
        <p:spPr>
          <a:xfrm>
            <a:off x="6172200" y="3977640"/>
            <a:ext cx="5394960" cy="1280160"/>
          </a:xfrm>
          <a:prstGeom prst="roundRect">
            <a:avLst>
              <a:gd name="adj" fmla="val 6429"/>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23" name="Shape 21"/>
          <p:cNvSpPr/>
          <p:nvPr/>
        </p:nvSpPr>
        <p:spPr>
          <a:xfrm>
            <a:off x="6172200" y="4087368"/>
            <a:ext cx="82296" cy="1060704"/>
          </a:xfrm>
          <a:prstGeom prst="rect">
            <a:avLst/>
          </a:prstGeom>
          <a:solidFill>
            <a:srgbClr val="FBBC04"/>
          </a:solidFill>
          <a:ln/>
        </p:spPr>
      </p:sp>
      <p:sp>
        <p:nvSpPr>
          <p:cNvPr id="24" name="Text 22"/>
          <p:cNvSpPr/>
          <p:nvPr/>
        </p:nvSpPr>
        <p:spPr>
          <a:xfrm>
            <a:off x="6446520" y="4142232"/>
            <a:ext cx="4937760" cy="411480"/>
          </a:xfrm>
          <a:prstGeom prst="rect">
            <a:avLst/>
          </a:prstGeom>
          <a:noFill/>
          <a:ln/>
        </p:spPr>
        <p:txBody>
          <a:bodyPr wrap="square" lIns="0" tIns="0" rIns="0" bIns="0" rtlCol="0" anchor="ctr"/>
          <a:lstStyle/>
          <a:p>
            <a:pPr algn="l" indent="0" marL="0">
              <a:buNone/>
            </a:pPr>
            <a:r>
              <a:rPr lang="en-US" sz="1700" b="1" dirty="0">
                <a:solidFill>
                  <a:srgbClr val="202124"/>
                </a:solidFill>
                <a:latin typeface="Georgia" pitchFamily="34" charset="0"/>
                <a:ea typeface="Georgia" pitchFamily="34" charset="-122"/>
                <a:cs typeface="Georgia" pitchFamily="34" charset="-120"/>
              </a:rPr>
              <a:t>Stay persistent</a:t>
            </a:r>
            <a:endParaRPr lang="en-US" sz="1700" dirty="0"/>
          </a:p>
        </p:txBody>
      </p:sp>
      <p:sp>
        <p:nvSpPr>
          <p:cNvPr id="25" name="Text 23"/>
          <p:cNvSpPr/>
          <p:nvPr/>
        </p:nvSpPr>
        <p:spPr>
          <a:xfrm>
            <a:off x="6446520" y="4599432"/>
            <a:ext cx="4937760" cy="594360"/>
          </a:xfrm>
          <a:prstGeom prst="rect">
            <a:avLst/>
          </a:prstGeom>
          <a:noFill/>
          <a:ln/>
        </p:spPr>
        <p:txBody>
          <a:bodyPr wrap="square" lIns="0" tIns="0" rIns="0" bIns="0" rtlCol="0" anchor="t"/>
          <a:lstStyle/>
          <a:p>
            <a:pPr algn="l" indent="0" marL="0">
              <a:lnSpc>
                <a:spcPct val="112000"/>
              </a:lnSpc>
              <a:buNone/>
            </a:pPr>
            <a:r>
              <a:rPr lang="en-US" sz="1350" dirty="0">
                <a:solidFill>
                  <a:srgbClr val="5F6368"/>
                </a:solidFill>
                <a:latin typeface="Calibri" pitchFamily="34" charset="0"/>
                <a:ea typeface="Calibri" pitchFamily="34" charset="-122"/>
                <a:cs typeface="Calibri" pitchFamily="34" charset="-120"/>
              </a:rPr>
              <a:t>Try, fail, tweak, try again — the mindset behind every great build.</a:t>
            </a:r>
            <a:endParaRPr lang="en-US" sz="1350" dirty="0"/>
          </a:p>
        </p:txBody>
      </p:sp>
      <p:sp>
        <p:nvSpPr>
          <p:cNvPr id="26" name="Text 2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27" name="Text 25"/>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02124"/>
        </a:solidFill>
      </p:bgPr>
    </p:bg>
    <p:spTree>
      <p:nvGrpSpPr>
        <p:cNvPr id="1" name=""/>
        <p:cNvGrpSpPr/>
        <p:nvPr/>
      </p:nvGrpSpPr>
      <p:grpSpPr>
        <a:xfrm>
          <a:off x="0" y="0"/>
          <a:ext cx="0" cy="0"/>
          <a:chOff x="0" y="0"/>
          <a:chExt cx="0" cy="0"/>
        </a:xfrm>
      </p:grpSpPr>
      <p:sp>
        <p:nvSpPr>
          <p:cNvPr id="2" name="Shape 0"/>
          <p:cNvSpPr/>
          <p:nvPr/>
        </p:nvSpPr>
        <p:spPr>
          <a:xfrm>
            <a:off x="9509760" y="-1645920"/>
            <a:ext cx="4206240" cy="4206240"/>
          </a:xfrm>
          <a:prstGeom prst="ellipse">
            <a:avLst/>
          </a:prstGeom>
          <a:solidFill>
            <a:srgbClr val="4285F4">
              <a:alpha val="16000"/>
            </a:srgbClr>
          </a:solidFill>
          <a:ln/>
        </p:spPr>
      </p:sp>
      <p:sp>
        <p:nvSpPr>
          <p:cNvPr id="3" name="Shape 1"/>
          <p:cNvSpPr/>
          <p:nvPr/>
        </p:nvSpPr>
        <p:spPr>
          <a:xfrm>
            <a:off x="-1097280" y="4206240"/>
            <a:ext cx="3291840" cy="3291840"/>
          </a:xfrm>
          <a:prstGeom prst="ellipse">
            <a:avLst/>
          </a:prstGeom>
          <a:solidFill>
            <a:srgbClr val="4285F4">
              <a:alpha val="12000"/>
            </a:srgbClr>
          </a:solidFill>
          <a:ln/>
        </p:spPr>
      </p:sp>
      <p:sp>
        <p:nvSpPr>
          <p:cNvPr id="4" name="Shape 2"/>
          <p:cNvSpPr/>
          <p:nvPr/>
        </p:nvSpPr>
        <p:spPr>
          <a:xfrm>
            <a:off x="868680" y="2514600"/>
            <a:ext cx="146304" cy="146304"/>
          </a:xfrm>
          <a:prstGeom prst="ellipse">
            <a:avLst/>
          </a:prstGeom>
          <a:solidFill>
            <a:srgbClr val="4285F4"/>
          </a:solidFill>
          <a:ln/>
        </p:spPr>
      </p:sp>
      <p:sp>
        <p:nvSpPr>
          <p:cNvPr id="5" name="Shape 3"/>
          <p:cNvSpPr/>
          <p:nvPr/>
        </p:nvSpPr>
        <p:spPr>
          <a:xfrm>
            <a:off x="1106424" y="2514600"/>
            <a:ext cx="146304" cy="146304"/>
          </a:xfrm>
          <a:prstGeom prst="ellipse">
            <a:avLst/>
          </a:prstGeom>
          <a:solidFill>
            <a:srgbClr val="EA4335"/>
          </a:solidFill>
          <a:ln/>
        </p:spPr>
      </p:sp>
      <p:sp>
        <p:nvSpPr>
          <p:cNvPr id="6" name="Shape 4"/>
          <p:cNvSpPr/>
          <p:nvPr/>
        </p:nvSpPr>
        <p:spPr>
          <a:xfrm>
            <a:off x="1344168" y="2514600"/>
            <a:ext cx="146304" cy="146304"/>
          </a:xfrm>
          <a:prstGeom prst="ellipse">
            <a:avLst/>
          </a:prstGeom>
          <a:solidFill>
            <a:srgbClr val="FBBC04"/>
          </a:solidFill>
          <a:ln/>
        </p:spPr>
      </p:sp>
      <p:sp>
        <p:nvSpPr>
          <p:cNvPr id="7" name="Shape 5"/>
          <p:cNvSpPr/>
          <p:nvPr/>
        </p:nvSpPr>
        <p:spPr>
          <a:xfrm>
            <a:off x="1581912" y="2514600"/>
            <a:ext cx="146304" cy="146304"/>
          </a:xfrm>
          <a:prstGeom prst="ellipse">
            <a:avLst/>
          </a:prstGeom>
          <a:solidFill>
            <a:srgbClr val="34A853"/>
          </a:solidFill>
          <a:ln/>
        </p:spPr>
      </p:sp>
      <p:sp>
        <p:nvSpPr>
          <p:cNvPr id="8" name="Text 6"/>
          <p:cNvSpPr/>
          <p:nvPr/>
        </p:nvSpPr>
        <p:spPr>
          <a:xfrm>
            <a:off x="868680" y="2788920"/>
            <a:ext cx="10058400" cy="365760"/>
          </a:xfrm>
          <a:prstGeom prst="rect">
            <a:avLst/>
          </a:prstGeom>
          <a:noFill/>
          <a:ln/>
        </p:spPr>
        <p:txBody>
          <a:bodyPr wrap="square" lIns="0" tIns="0" rIns="0" bIns="0" rtlCol="0" anchor="ctr"/>
          <a:lstStyle/>
          <a:p>
            <a:pPr algn="l" indent="0" marL="0">
              <a:buNone/>
            </a:pPr>
            <a:r>
              <a:rPr lang="en-US" sz="1300" b="1" spc="300" kern="0" dirty="0">
                <a:solidFill>
                  <a:srgbClr val="9AA0A6"/>
                </a:solidFill>
                <a:latin typeface="Calibri" pitchFamily="34" charset="0"/>
                <a:ea typeface="Calibri" pitchFamily="34" charset="-122"/>
                <a:cs typeface="Calibri" pitchFamily="34" charset="-120"/>
              </a:rPr>
              <a:t>PART 4</a:t>
            </a:r>
            <a:endParaRPr lang="en-US" sz="1300" dirty="0"/>
          </a:p>
        </p:txBody>
      </p:sp>
      <p:sp>
        <p:nvSpPr>
          <p:cNvPr id="9" name="Text 7"/>
          <p:cNvSpPr/>
          <p:nvPr/>
        </p:nvSpPr>
        <p:spPr>
          <a:xfrm>
            <a:off x="822960" y="3200400"/>
            <a:ext cx="10607040" cy="1005840"/>
          </a:xfrm>
          <a:prstGeom prst="rect">
            <a:avLst/>
          </a:prstGeom>
          <a:noFill/>
          <a:ln/>
        </p:spPr>
        <p:txBody>
          <a:bodyPr wrap="square" lIns="0" tIns="0" rIns="0" bIns="0" rtlCol="0" anchor="ctr"/>
          <a:lstStyle/>
          <a:p>
            <a:pPr algn="l" indent="0" marL="0">
              <a:buNone/>
            </a:pPr>
            <a:r>
              <a:rPr lang="en-US" sz="4400" b="1" dirty="0">
                <a:solidFill>
                  <a:srgbClr val="FFFFFF"/>
                </a:solidFill>
                <a:latin typeface="Georgia" pitchFamily="34" charset="0"/>
                <a:ea typeface="Georgia" pitchFamily="34" charset="-122"/>
                <a:cs typeface="Georgia" pitchFamily="34" charset="-120"/>
              </a:rPr>
              <a:t>Meet TypeScript</a:t>
            </a:r>
            <a:endParaRPr lang="en-US" sz="4400" dirty="0"/>
          </a:p>
        </p:txBody>
      </p:sp>
      <p:sp>
        <p:nvSpPr>
          <p:cNvPr id="10" name="Text 8"/>
          <p:cNvSpPr/>
          <p:nvPr/>
        </p:nvSpPr>
        <p:spPr>
          <a:xfrm>
            <a:off x="868680" y="4343400"/>
            <a:ext cx="9875520" cy="731520"/>
          </a:xfrm>
          <a:prstGeom prst="rect">
            <a:avLst/>
          </a:prstGeom>
          <a:noFill/>
          <a:ln/>
        </p:spPr>
        <p:txBody>
          <a:bodyPr wrap="square" lIns="0" tIns="0" rIns="0" bIns="0" rtlCol="0" anchor="ctr"/>
          <a:lstStyle/>
          <a:p>
            <a:pPr algn="l" indent="0" marL="0">
              <a:lnSpc>
                <a:spcPct val="110000"/>
              </a:lnSpc>
              <a:buNone/>
            </a:pPr>
            <a:r>
              <a:rPr lang="en-US" sz="1700" dirty="0">
                <a:solidFill>
                  <a:srgbClr val="E8EAED"/>
                </a:solidFill>
                <a:latin typeface="Calibri" pitchFamily="34" charset="0"/>
                <a:ea typeface="Calibri" pitchFamily="34" charset="-122"/>
                <a:cs typeface="Calibri" pitchFamily="34" charset="-120"/>
              </a:rPr>
              <a:t>The language you'll actually learn to write — and one of the most popular on Earth right now.</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4285F4"/>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4285F4"/>
                </a:solidFill>
                <a:latin typeface="Calibri" pitchFamily="34" charset="0"/>
                <a:ea typeface="Calibri" pitchFamily="34" charset="-122"/>
                <a:cs typeface="Calibri" pitchFamily="34" charset="-120"/>
              </a:rPr>
              <a:t>TYPESCRIPT</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What is TypeScript?</a:t>
            </a:r>
            <a:endParaRPr lang="en-US" sz="2900" dirty="0"/>
          </a:p>
        </p:txBody>
      </p:sp>
      <p:sp>
        <p:nvSpPr>
          <p:cNvPr id="9" name="Text 7"/>
          <p:cNvSpPr/>
          <p:nvPr/>
        </p:nvSpPr>
        <p:spPr>
          <a:xfrm>
            <a:off x="548640" y="1691640"/>
            <a:ext cx="10972800" cy="1005840"/>
          </a:xfrm>
          <a:prstGeom prst="rect">
            <a:avLst/>
          </a:prstGeom>
          <a:noFill/>
          <a:ln/>
        </p:spPr>
        <p:txBody>
          <a:bodyPr wrap="square" lIns="0" tIns="0" rIns="0" bIns="0" rtlCol="0" anchor="t"/>
          <a:lstStyle/>
          <a:p>
            <a:pPr algn="l" indent="0" marL="0">
              <a:lnSpc>
                <a:spcPct val="118000"/>
              </a:lnSpc>
              <a:buNone/>
            </a:pPr>
            <a:r>
              <a:rPr lang="en-US" sz="1650" b="1" dirty="0">
                <a:solidFill>
                  <a:srgbClr val="202124"/>
                </a:solidFill>
                <a:latin typeface="Calibri" pitchFamily="34" charset="0"/>
                <a:ea typeface="Calibri" pitchFamily="34" charset="-122"/>
                <a:cs typeface="Calibri" pitchFamily="34" charset="-120"/>
              </a:rPr>
              <a:t>TypeScript is JavaScript with a safety helmet on. </a:t>
            </a:r>
            <a:pPr algn="l" indent="0" marL="0">
              <a:lnSpc>
                <a:spcPct val="118000"/>
              </a:lnSpc>
              <a:buNone/>
            </a:pPr>
            <a:r>
              <a:rPr lang="en-US" sz="1650" dirty="0">
                <a:solidFill>
                  <a:srgbClr val="5F6368"/>
                </a:solidFill>
                <a:latin typeface="Calibri" pitchFamily="34" charset="0"/>
                <a:ea typeface="Calibri" pitchFamily="34" charset="-122"/>
                <a:cs typeface="Calibri" pitchFamily="34" charset="-120"/>
              </a:rPr>
              <a:t>It's the same language that runs the web, plus a system that catches your mistakes BEFORE you run the code — like spellcheck, but for programming.</a:t>
            </a:r>
            <a:endParaRPr lang="en-US" sz="1650" dirty="0"/>
          </a:p>
        </p:txBody>
      </p:sp>
      <p:sp>
        <p:nvSpPr>
          <p:cNvPr id="10" name="Shape 8"/>
          <p:cNvSpPr/>
          <p:nvPr/>
        </p:nvSpPr>
        <p:spPr>
          <a:xfrm>
            <a:off x="548640" y="2926080"/>
            <a:ext cx="3291840" cy="2103120"/>
          </a:xfrm>
          <a:prstGeom prst="roundRect">
            <a:avLst>
              <a:gd name="adj" fmla="val 3913"/>
            </a:avLst>
          </a:prstGeom>
          <a:solidFill>
            <a:srgbClr val="F8F9FA"/>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1" name="Text 9"/>
          <p:cNvSpPr/>
          <p:nvPr/>
        </p:nvSpPr>
        <p:spPr>
          <a:xfrm>
            <a:off x="548640" y="3566160"/>
            <a:ext cx="3291840" cy="548640"/>
          </a:xfrm>
          <a:prstGeom prst="rect">
            <a:avLst/>
          </a:prstGeom>
          <a:noFill/>
          <a:ln/>
        </p:spPr>
        <p:txBody>
          <a:bodyPr wrap="square" lIns="0" tIns="0" rIns="0" bIns="0" rtlCol="0" anchor="ctr"/>
          <a:lstStyle/>
          <a:p>
            <a:pPr algn="ctr" indent="0" marL="0">
              <a:buNone/>
            </a:pPr>
            <a:r>
              <a:rPr lang="en-US" sz="2000" b="1" dirty="0">
                <a:solidFill>
                  <a:srgbClr val="FBBC04"/>
                </a:solidFill>
                <a:latin typeface="Georgia" pitchFamily="34" charset="0"/>
                <a:ea typeface="Georgia" pitchFamily="34" charset="-122"/>
                <a:cs typeface="Georgia" pitchFamily="34" charset="-120"/>
              </a:rPr>
              <a:t>JavaScript</a:t>
            </a:r>
            <a:endParaRPr lang="en-US" sz="2000" dirty="0"/>
          </a:p>
        </p:txBody>
      </p:sp>
      <p:sp>
        <p:nvSpPr>
          <p:cNvPr id="12" name="Text 10"/>
          <p:cNvSpPr/>
          <p:nvPr/>
        </p:nvSpPr>
        <p:spPr>
          <a:xfrm>
            <a:off x="640080" y="4160520"/>
            <a:ext cx="3108960" cy="548640"/>
          </a:xfrm>
          <a:prstGeom prst="rect">
            <a:avLst/>
          </a:prstGeom>
          <a:noFill/>
          <a:ln/>
        </p:spPr>
        <p:txBody>
          <a:bodyPr wrap="square" lIns="0" tIns="0" rIns="0" bIns="0" rtlCol="0" anchor="ctr"/>
          <a:lstStyle/>
          <a:p>
            <a:pPr algn="ctr" indent="0" marL="0">
              <a:buNone/>
            </a:pPr>
            <a:r>
              <a:rPr lang="en-US" sz="1200" dirty="0">
                <a:solidFill>
                  <a:srgbClr val="5F6368"/>
                </a:solidFill>
                <a:latin typeface="Calibri" pitchFamily="34" charset="0"/>
                <a:ea typeface="Calibri" pitchFamily="34" charset="-122"/>
                <a:cs typeface="Calibri" pitchFamily="34" charset="-120"/>
              </a:rPr>
              <a:t>everything you can already do</a:t>
            </a:r>
            <a:endParaRPr lang="en-US" sz="1200" dirty="0"/>
          </a:p>
        </p:txBody>
      </p:sp>
      <p:sp>
        <p:nvSpPr>
          <p:cNvPr id="13" name="Text 11"/>
          <p:cNvSpPr/>
          <p:nvPr/>
        </p:nvSpPr>
        <p:spPr>
          <a:xfrm>
            <a:off x="3886200" y="2926080"/>
            <a:ext cx="640080" cy="2103120"/>
          </a:xfrm>
          <a:prstGeom prst="rect">
            <a:avLst/>
          </a:prstGeom>
          <a:noFill/>
          <a:ln/>
        </p:spPr>
        <p:txBody>
          <a:bodyPr wrap="square" lIns="0" tIns="0" rIns="0" bIns="0" rtlCol="0" anchor="ctr"/>
          <a:lstStyle/>
          <a:p>
            <a:pPr algn="ctr" indent="0" marL="0">
              <a:buNone/>
            </a:pPr>
            <a:r>
              <a:rPr lang="en-US" sz="3400" b="1" dirty="0">
                <a:solidFill>
                  <a:srgbClr val="80868B"/>
                </a:solidFill>
                <a:latin typeface="Georgia" pitchFamily="34" charset="0"/>
                <a:ea typeface="Georgia" pitchFamily="34" charset="-122"/>
                <a:cs typeface="Georgia" pitchFamily="34" charset="-120"/>
              </a:rPr>
              <a:t>+</a:t>
            </a:r>
            <a:endParaRPr lang="en-US" sz="3400" dirty="0"/>
          </a:p>
        </p:txBody>
      </p:sp>
      <p:sp>
        <p:nvSpPr>
          <p:cNvPr id="14" name="Shape 12"/>
          <p:cNvSpPr/>
          <p:nvPr/>
        </p:nvSpPr>
        <p:spPr>
          <a:xfrm>
            <a:off x="4572000" y="2926080"/>
            <a:ext cx="3291840" cy="2103120"/>
          </a:xfrm>
          <a:prstGeom prst="roundRect">
            <a:avLst>
              <a:gd name="adj" fmla="val 3913"/>
            </a:avLst>
          </a:prstGeom>
          <a:solidFill>
            <a:srgbClr val="F8F9FA"/>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5" name="Text 13"/>
          <p:cNvSpPr/>
          <p:nvPr/>
        </p:nvSpPr>
        <p:spPr>
          <a:xfrm>
            <a:off x="4572000" y="3566160"/>
            <a:ext cx="3291840" cy="548640"/>
          </a:xfrm>
          <a:prstGeom prst="rect">
            <a:avLst/>
          </a:prstGeom>
          <a:noFill/>
          <a:ln/>
        </p:spPr>
        <p:txBody>
          <a:bodyPr wrap="square" lIns="0" tIns="0" rIns="0" bIns="0" rtlCol="0" anchor="ctr"/>
          <a:lstStyle/>
          <a:p>
            <a:pPr algn="ctr" indent="0" marL="0">
              <a:buNone/>
            </a:pPr>
            <a:r>
              <a:rPr lang="en-US" sz="2000" b="1" dirty="0">
                <a:solidFill>
                  <a:srgbClr val="4285F4"/>
                </a:solidFill>
                <a:latin typeface="Georgia" pitchFamily="34" charset="0"/>
                <a:ea typeface="Georgia" pitchFamily="34" charset="-122"/>
                <a:cs typeface="Georgia" pitchFamily="34" charset="-120"/>
              </a:rPr>
              <a:t>Types</a:t>
            </a:r>
            <a:endParaRPr lang="en-US" sz="2000" dirty="0"/>
          </a:p>
        </p:txBody>
      </p:sp>
      <p:sp>
        <p:nvSpPr>
          <p:cNvPr id="16" name="Text 14"/>
          <p:cNvSpPr/>
          <p:nvPr/>
        </p:nvSpPr>
        <p:spPr>
          <a:xfrm>
            <a:off x="4663440" y="4160520"/>
            <a:ext cx="3108960" cy="548640"/>
          </a:xfrm>
          <a:prstGeom prst="rect">
            <a:avLst/>
          </a:prstGeom>
          <a:noFill/>
          <a:ln/>
        </p:spPr>
        <p:txBody>
          <a:bodyPr wrap="square" lIns="0" tIns="0" rIns="0" bIns="0" rtlCol="0" anchor="ctr"/>
          <a:lstStyle/>
          <a:p>
            <a:pPr algn="ctr" indent="0" marL="0">
              <a:buNone/>
            </a:pPr>
            <a:r>
              <a:rPr lang="en-US" sz="1200" dirty="0">
                <a:solidFill>
                  <a:srgbClr val="5F6368"/>
                </a:solidFill>
                <a:latin typeface="Calibri" pitchFamily="34" charset="0"/>
                <a:ea typeface="Calibri" pitchFamily="34" charset="-122"/>
                <a:cs typeface="Calibri" pitchFamily="34" charset="-120"/>
              </a:rPr>
              <a:t>labels that catch mistakes early</a:t>
            </a:r>
            <a:endParaRPr lang="en-US" sz="1200" dirty="0"/>
          </a:p>
        </p:txBody>
      </p:sp>
      <p:sp>
        <p:nvSpPr>
          <p:cNvPr id="17" name="Text 15"/>
          <p:cNvSpPr/>
          <p:nvPr/>
        </p:nvSpPr>
        <p:spPr>
          <a:xfrm>
            <a:off x="7909560" y="2926080"/>
            <a:ext cx="640080" cy="2103120"/>
          </a:xfrm>
          <a:prstGeom prst="rect">
            <a:avLst/>
          </a:prstGeom>
          <a:noFill/>
          <a:ln/>
        </p:spPr>
        <p:txBody>
          <a:bodyPr wrap="square" lIns="0" tIns="0" rIns="0" bIns="0" rtlCol="0" anchor="ctr"/>
          <a:lstStyle/>
          <a:p>
            <a:pPr algn="ctr" indent="0" marL="0">
              <a:buNone/>
            </a:pPr>
            <a:r>
              <a:rPr lang="en-US" sz="3400" b="1" dirty="0">
                <a:solidFill>
                  <a:srgbClr val="80868B"/>
                </a:solidFill>
                <a:latin typeface="Georgia" pitchFamily="34" charset="0"/>
                <a:ea typeface="Georgia" pitchFamily="34" charset="-122"/>
                <a:cs typeface="Georgia" pitchFamily="34" charset="-120"/>
              </a:rPr>
              <a:t>=</a:t>
            </a:r>
            <a:endParaRPr lang="en-US" sz="3400" dirty="0"/>
          </a:p>
        </p:txBody>
      </p:sp>
      <p:sp>
        <p:nvSpPr>
          <p:cNvPr id="18" name="Shape 16"/>
          <p:cNvSpPr/>
          <p:nvPr/>
        </p:nvSpPr>
        <p:spPr>
          <a:xfrm>
            <a:off x="8595360" y="2926080"/>
            <a:ext cx="3017520" cy="2103120"/>
          </a:xfrm>
          <a:prstGeom prst="roundRect">
            <a:avLst>
              <a:gd name="adj" fmla="val 3913"/>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9" name="Shape 17"/>
          <p:cNvSpPr/>
          <p:nvPr/>
        </p:nvSpPr>
        <p:spPr>
          <a:xfrm>
            <a:off x="8595360" y="2926080"/>
            <a:ext cx="3017520" cy="109728"/>
          </a:xfrm>
          <a:prstGeom prst="rect">
            <a:avLst/>
          </a:prstGeom>
          <a:solidFill>
            <a:srgbClr val="4285F4"/>
          </a:solidFill>
          <a:ln/>
        </p:spPr>
      </p:sp>
      <p:sp>
        <p:nvSpPr>
          <p:cNvPr id="20" name="Text 18"/>
          <p:cNvSpPr/>
          <p:nvPr/>
        </p:nvSpPr>
        <p:spPr>
          <a:xfrm>
            <a:off x="8595360" y="3566160"/>
            <a:ext cx="3017520" cy="548640"/>
          </a:xfrm>
          <a:prstGeom prst="rect">
            <a:avLst/>
          </a:prstGeom>
          <a:noFill/>
          <a:ln/>
        </p:spPr>
        <p:txBody>
          <a:bodyPr wrap="square" lIns="0" tIns="0" rIns="0" bIns="0" rtlCol="0" anchor="ctr"/>
          <a:lstStyle/>
          <a:p>
            <a:pPr algn="ctr" indent="0" marL="0">
              <a:buNone/>
            </a:pPr>
            <a:r>
              <a:rPr lang="en-US" sz="2000" b="1" dirty="0">
                <a:solidFill>
                  <a:srgbClr val="202124"/>
                </a:solidFill>
                <a:latin typeface="Georgia" pitchFamily="34" charset="0"/>
                <a:ea typeface="Georgia" pitchFamily="34" charset="-122"/>
                <a:cs typeface="Georgia" pitchFamily="34" charset="-120"/>
              </a:rPr>
              <a:t>TypeScript</a:t>
            </a:r>
            <a:endParaRPr lang="en-US" sz="2000" dirty="0"/>
          </a:p>
        </p:txBody>
      </p:sp>
      <p:sp>
        <p:nvSpPr>
          <p:cNvPr id="21" name="Text 19"/>
          <p:cNvSpPr/>
          <p:nvPr/>
        </p:nvSpPr>
        <p:spPr>
          <a:xfrm>
            <a:off x="8686800" y="4160520"/>
            <a:ext cx="2834640" cy="548640"/>
          </a:xfrm>
          <a:prstGeom prst="rect">
            <a:avLst/>
          </a:prstGeom>
          <a:noFill/>
          <a:ln/>
        </p:spPr>
        <p:txBody>
          <a:bodyPr wrap="square" lIns="0" tIns="0" rIns="0" bIns="0" rtlCol="0" anchor="ctr"/>
          <a:lstStyle/>
          <a:p>
            <a:pPr algn="ctr" indent="0" marL="0">
              <a:buNone/>
            </a:pPr>
            <a:r>
              <a:rPr lang="en-US" sz="1200" dirty="0">
                <a:solidFill>
                  <a:srgbClr val="5F6368"/>
                </a:solidFill>
                <a:latin typeface="Calibri" pitchFamily="34" charset="0"/>
                <a:ea typeface="Calibri" pitchFamily="34" charset="-122"/>
                <a:cs typeface="Calibri" pitchFamily="34" charset="-120"/>
              </a:rPr>
              <a:t>safer code, fewer surprises</a:t>
            </a:r>
            <a:endParaRPr lang="en-US" sz="1200" dirty="0"/>
          </a:p>
        </p:txBody>
      </p:sp>
      <p:sp>
        <p:nvSpPr>
          <p:cNvPr id="22" name="Text 20"/>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23" name="Text 21"/>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EA4335"/>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EA4335"/>
                </a:solidFill>
                <a:latin typeface="Calibri" pitchFamily="34" charset="0"/>
                <a:ea typeface="Calibri" pitchFamily="34" charset="-122"/>
                <a:cs typeface="Calibri" pitchFamily="34" charset="-120"/>
              </a:rPr>
              <a:t>TYPESCRIPT</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See the difference: a tiny bug</a:t>
            </a:r>
            <a:endParaRPr lang="en-US" sz="2900" dirty="0"/>
          </a:p>
        </p:txBody>
      </p:sp>
      <p:sp>
        <p:nvSpPr>
          <p:cNvPr id="9" name="Text 7"/>
          <p:cNvSpPr/>
          <p:nvPr/>
        </p:nvSpPr>
        <p:spPr>
          <a:xfrm>
            <a:off x="548640" y="1645920"/>
            <a:ext cx="10972800" cy="548640"/>
          </a:xfrm>
          <a:prstGeom prst="rect">
            <a:avLst/>
          </a:prstGeom>
          <a:noFill/>
          <a:ln/>
        </p:spPr>
        <p:txBody>
          <a:bodyPr wrap="square" lIns="0" tIns="0" rIns="0" bIns="0" rtlCol="0" anchor="t"/>
          <a:lstStyle/>
          <a:p>
            <a:pPr algn="l" indent="0" marL="0">
              <a:buNone/>
            </a:pPr>
            <a:r>
              <a:rPr lang="en-US" sz="1500" dirty="0">
                <a:solidFill>
                  <a:srgbClr val="5F6368"/>
                </a:solidFill>
                <a:latin typeface="Calibri" pitchFamily="34" charset="0"/>
                <a:ea typeface="Calibri" pitchFamily="34" charset="-122"/>
                <a:cs typeface="Calibri" pitchFamily="34" charset="-120"/>
              </a:rPr>
              <a:t>Say we want to add 5 to a player's score. Watch what happens when the score is accidentally text instead of a number.</a:t>
            </a:r>
            <a:endParaRPr lang="en-US" sz="1500" dirty="0"/>
          </a:p>
        </p:txBody>
      </p:sp>
      <p:sp>
        <p:nvSpPr>
          <p:cNvPr id="10" name="Text 8"/>
          <p:cNvSpPr/>
          <p:nvPr/>
        </p:nvSpPr>
        <p:spPr>
          <a:xfrm>
            <a:off x="548640" y="2286000"/>
            <a:ext cx="5394960" cy="365760"/>
          </a:xfrm>
          <a:prstGeom prst="rect">
            <a:avLst/>
          </a:prstGeom>
          <a:noFill/>
          <a:ln/>
        </p:spPr>
        <p:txBody>
          <a:bodyPr wrap="square" lIns="0" tIns="0" rIns="0" bIns="0" rtlCol="0" anchor="ctr"/>
          <a:lstStyle/>
          <a:p>
            <a:pPr algn="l" indent="0" marL="0">
              <a:buNone/>
            </a:pPr>
            <a:r>
              <a:rPr lang="en-US" sz="1400" b="1" dirty="0">
                <a:solidFill>
                  <a:srgbClr val="FBBC04"/>
                </a:solidFill>
                <a:latin typeface="Calibri" pitchFamily="34" charset="0"/>
                <a:ea typeface="Calibri" pitchFamily="34" charset="-122"/>
                <a:cs typeface="Calibri" pitchFamily="34" charset="-120"/>
              </a:rPr>
              <a:t>Plain JavaScript</a:t>
            </a:r>
            <a:endParaRPr lang="en-US" sz="1400" dirty="0"/>
          </a:p>
        </p:txBody>
      </p:sp>
      <p:sp>
        <p:nvSpPr>
          <p:cNvPr id="11" name="Shape 9"/>
          <p:cNvSpPr/>
          <p:nvPr/>
        </p:nvSpPr>
        <p:spPr>
          <a:xfrm>
            <a:off x="548640" y="2651760"/>
            <a:ext cx="5394960" cy="1828800"/>
          </a:xfrm>
          <a:prstGeom prst="roundRect">
            <a:avLst>
              <a:gd name="adj" fmla="val 3500"/>
            </a:avLst>
          </a:prstGeom>
          <a:solidFill>
            <a:srgbClr val="202124"/>
          </a:solidFill>
          <a:ln/>
          <a:effectLst>
            <a:outerShdw sx="100000" sy="100000" kx="0" ky="0" algn="bl" rotWithShape="0" blurRad="127000" dist="38100" dir="5400000">
              <a:srgbClr val="000000">
                <a:alpha val="25000"/>
              </a:srgbClr>
            </a:outerShdw>
          </a:effectLst>
        </p:spPr>
      </p:sp>
      <p:sp>
        <p:nvSpPr>
          <p:cNvPr id="12" name="Shape 10"/>
          <p:cNvSpPr/>
          <p:nvPr/>
        </p:nvSpPr>
        <p:spPr>
          <a:xfrm>
            <a:off x="749808" y="2816352"/>
            <a:ext cx="91440" cy="91440"/>
          </a:xfrm>
          <a:prstGeom prst="ellipse">
            <a:avLst/>
          </a:prstGeom>
          <a:solidFill>
            <a:srgbClr val="EA4335"/>
          </a:solidFill>
          <a:ln/>
        </p:spPr>
      </p:sp>
      <p:sp>
        <p:nvSpPr>
          <p:cNvPr id="13" name="Shape 11"/>
          <p:cNvSpPr/>
          <p:nvPr/>
        </p:nvSpPr>
        <p:spPr>
          <a:xfrm>
            <a:off x="950976" y="2816352"/>
            <a:ext cx="91440" cy="91440"/>
          </a:xfrm>
          <a:prstGeom prst="ellipse">
            <a:avLst/>
          </a:prstGeom>
          <a:solidFill>
            <a:srgbClr val="FBBC04"/>
          </a:solidFill>
          <a:ln/>
        </p:spPr>
      </p:sp>
      <p:sp>
        <p:nvSpPr>
          <p:cNvPr id="14" name="Shape 12"/>
          <p:cNvSpPr/>
          <p:nvPr/>
        </p:nvSpPr>
        <p:spPr>
          <a:xfrm>
            <a:off x="1152144" y="2816352"/>
            <a:ext cx="91440" cy="91440"/>
          </a:xfrm>
          <a:prstGeom prst="ellipse">
            <a:avLst/>
          </a:prstGeom>
          <a:solidFill>
            <a:srgbClr val="34A853"/>
          </a:solidFill>
          <a:ln/>
        </p:spPr>
      </p:sp>
      <p:sp>
        <p:nvSpPr>
          <p:cNvPr id="15" name="Text 13"/>
          <p:cNvSpPr/>
          <p:nvPr/>
        </p:nvSpPr>
        <p:spPr>
          <a:xfrm>
            <a:off x="777240" y="3108960"/>
            <a:ext cx="4937760" cy="1188720"/>
          </a:xfrm>
          <a:prstGeom prst="rect">
            <a:avLst/>
          </a:prstGeom>
          <a:noFill/>
          <a:ln/>
        </p:spPr>
        <p:txBody>
          <a:bodyPr wrap="square" lIns="0" tIns="0" rIns="0" bIns="0" rtlCol="0" anchor="t"/>
          <a:lstStyle/>
          <a:p>
            <a:pPr algn="l" indent="0" marL="0">
              <a:lnSpc>
                <a:spcPct val="112000"/>
              </a:lnSpc>
              <a:buNone/>
            </a:pPr>
            <a:r>
              <a:rPr lang="en-US" sz="1400" dirty="0">
                <a:solidFill>
                  <a:srgbClr val="E8EAED"/>
                </a:solidFill>
                <a:latin typeface="Courier New" pitchFamily="34" charset="0"/>
                <a:ea typeface="Courier New" pitchFamily="34" charset="-122"/>
                <a:cs typeface="Courier New" pitchFamily="34" charset="-120"/>
              </a:rPr>
              <a:t>let score = "10";</a:t>
            </a:r>
            <a:endParaRPr lang="en-US" sz="1400" dirty="0"/>
          </a:p>
          <a:p>
            <a:pPr algn="l" indent="0" marL="0">
              <a:lnSpc>
                <a:spcPct val="112000"/>
              </a:lnSpc>
              <a:buNone/>
            </a:pPr>
            <a:r>
              <a:rPr lang="en-US" sz="1400" dirty="0">
                <a:solidFill>
                  <a:srgbClr val="E8EAED"/>
                </a:solidFill>
                <a:latin typeface="Courier New" pitchFamily="34" charset="0"/>
                <a:ea typeface="Courier New" pitchFamily="34" charset="-122"/>
                <a:cs typeface="Courier New" pitchFamily="34" charset="-120"/>
              </a:rPr>
              <a:t>score + 5</a:t>
            </a:r>
            <a:endParaRPr lang="en-US" sz="1400" dirty="0"/>
          </a:p>
          <a:p>
            <a:pPr algn="l" indent="0" marL="0">
              <a:lnSpc>
                <a:spcPct val="112000"/>
              </a:lnSpc>
              <a:buNone/>
            </a:pPr>
            <a:r>
              <a:rPr lang="en-US" sz="1400" dirty="0">
                <a:solidFill>
                  <a:srgbClr val="FBBC04"/>
                </a:solidFill>
                <a:latin typeface="Courier New" pitchFamily="34" charset="0"/>
                <a:ea typeface="Courier New" pitchFamily="34" charset="-122"/>
                <a:cs typeface="Courier New" pitchFamily="34" charset="-120"/>
              </a:rPr>
              <a:t>→ "105"  </a:t>
            </a:r>
            <a:pPr algn="l" indent="0" marL="0">
              <a:lnSpc>
                <a:spcPct val="112000"/>
              </a:lnSpc>
              <a:buNone/>
            </a:pPr>
            <a:r>
              <a:rPr lang="en-US" sz="1400" dirty="0">
                <a:solidFill>
                  <a:srgbClr val="EA8A85"/>
                </a:solidFill>
                <a:latin typeface="Courier New" pitchFamily="34" charset="0"/>
                <a:ea typeface="Courier New" pitchFamily="34" charset="-122"/>
                <a:cs typeface="Courier New" pitchFamily="34" charset="-120"/>
              </a:rPr>
              <a:t>oops!</a:t>
            </a:r>
            <a:endParaRPr lang="en-US" sz="1400" dirty="0"/>
          </a:p>
        </p:txBody>
      </p:sp>
      <p:sp>
        <p:nvSpPr>
          <p:cNvPr id="16" name="Text 14"/>
          <p:cNvSpPr/>
          <p:nvPr/>
        </p:nvSpPr>
        <p:spPr>
          <a:xfrm>
            <a:off x="548640" y="4572000"/>
            <a:ext cx="5394960" cy="548640"/>
          </a:xfrm>
          <a:prstGeom prst="rect">
            <a:avLst/>
          </a:prstGeom>
          <a:noFill/>
          <a:ln/>
        </p:spPr>
        <p:txBody>
          <a:bodyPr wrap="square" lIns="0" tIns="0" rIns="0" bIns="0" rtlCol="0" anchor="ctr"/>
          <a:lstStyle/>
          <a:p>
            <a:pPr algn="l" indent="0" marL="0">
              <a:buNone/>
            </a:pPr>
            <a:r>
              <a:rPr lang="en-US" sz="1250" i="1" dirty="0">
                <a:solidFill>
                  <a:srgbClr val="5F6368"/>
                </a:solidFill>
                <a:latin typeface="Calibri" pitchFamily="34" charset="0"/>
                <a:ea typeface="Calibri" pitchFamily="34" charset="-122"/>
                <a:cs typeface="Calibri" pitchFamily="34" charset="-120"/>
              </a:rPr>
              <a:t>It silently glues them together. The bug hides until players complain.</a:t>
            </a:r>
            <a:endParaRPr lang="en-US" sz="1250" dirty="0"/>
          </a:p>
        </p:txBody>
      </p:sp>
      <p:sp>
        <p:nvSpPr>
          <p:cNvPr id="17" name="Text 15"/>
          <p:cNvSpPr/>
          <p:nvPr/>
        </p:nvSpPr>
        <p:spPr>
          <a:xfrm>
            <a:off x="6217920" y="2286000"/>
            <a:ext cx="5394960" cy="365760"/>
          </a:xfrm>
          <a:prstGeom prst="rect">
            <a:avLst/>
          </a:prstGeom>
          <a:noFill/>
          <a:ln/>
        </p:spPr>
        <p:txBody>
          <a:bodyPr wrap="square" lIns="0" tIns="0" rIns="0" bIns="0" rtlCol="0" anchor="ctr"/>
          <a:lstStyle/>
          <a:p>
            <a:pPr algn="l" indent="0" marL="0">
              <a:buNone/>
            </a:pPr>
            <a:r>
              <a:rPr lang="en-US" sz="1400" b="1" dirty="0">
                <a:solidFill>
                  <a:srgbClr val="4285F4"/>
                </a:solidFill>
                <a:latin typeface="Calibri" pitchFamily="34" charset="0"/>
                <a:ea typeface="Calibri" pitchFamily="34" charset="-122"/>
                <a:cs typeface="Calibri" pitchFamily="34" charset="-120"/>
              </a:rPr>
              <a:t>TypeScript</a:t>
            </a:r>
            <a:endParaRPr lang="en-US" sz="1400" dirty="0"/>
          </a:p>
        </p:txBody>
      </p:sp>
      <p:sp>
        <p:nvSpPr>
          <p:cNvPr id="18" name="Shape 16"/>
          <p:cNvSpPr/>
          <p:nvPr/>
        </p:nvSpPr>
        <p:spPr>
          <a:xfrm>
            <a:off x="6217920" y="2651760"/>
            <a:ext cx="5394960" cy="1828800"/>
          </a:xfrm>
          <a:prstGeom prst="roundRect">
            <a:avLst>
              <a:gd name="adj" fmla="val 3500"/>
            </a:avLst>
          </a:prstGeom>
          <a:solidFill>
            <a:srgbClr val="202124"/>
          </a:solidFill>
          <a:ln/>
          <a:effectLst>
            <a:outerShdw sx="100000" sy="100000" kx="0" ky="0" algn="bl" rotWithShape="0" blurRad="127000" dist="38100" dir="5400000">
              <a:srgbClr val="000000">
                <a:alpha val="25000"/>
              </a:srgbClr>
            </a:outerShdw>
          </a:effectLst>
        </p:spPr>
      </p:sp>
      <p:sp>
        <p:nvSpPr>
          <p:cNvPr id="19" name="Shape 17"/>
          <p:cNvSpPr/>
          <p:nvPr/>
        </p:nvSpPr>
        <p:spPr>
          <a:xfrm>
            <a:off x="6419088" y="2816352"/>
            <a:ext cx="91440" cy="91440"/>
          </a:xfrm>
          <a:prstGeom prst="ellipse">
            <a:avLst/>
          </a:prstGeom>
          <a:solidFill>
            <a:srgbClr val="EA4335"/>
          </a:solidFill>
          <a:ln/>
        </p:spPr>
      </p:sp>
      <p:sp>
        <p:nvSpPr>
          <p:cNvPr id="20" name="Shape 18"/>
          <p:cNvSpPr/>
          <p:nvPr/>
        </p:nvSpPr>
        <p:spPr>
          <a:xfrm>
            <a:off x="6620256" y="2816352"/>
            <a:ext cx="91440" cy="91440"/>
          </a:xfrm>
          <a:prstGeom prst="ellipse">
            <a:avLst/>
          </a:prstGeom>
          <a:solidFill>
            <a:srgbClr val="FBBC04"/>
          </a:solidFill>
          <a:ln/>
        </p:spPr>
      </p:sp>
      <p:sp>
        <p:nvSpPr>
          <p:cNvPr id="21" name="Shape 19"/>
          <p:cNvSpPr/>
          <p:nvPr/>
        </p:nvSpPr>
        <p:spPr>
          <a:xfrm>
            <a:off x="6821424" y="2816352"/>
            <a:ext cx="91440" cy="91440"/>
          </a:xfrm>
          <a:prstGeom prst="ellipse">
            <a:avLst/>
          </a:prstGeom>
          <a:solidFill>
            <a:srgbClr val="34A853"/>
          </a:solidFill>
          <a:ln/>
        </p:spPr>
      </p:sp>
      <p:sp>
        <p:nvSpPr>
          <p:cNvPr id="22" name="Text 20"/>
          <p:cNvSpPr/>
          <p:nvPr/>
        </p:nvSpPr>
        <p:spPr>
          <a:xfrm>
            <a:off x="6446520" y="3108960"/>
            <a:ext cx="4937760" cy="1188720"/>
          </a:xfrm>
          <a:prstGeom prst="rect">
            <a:avLst/>
          </a:prstGeom>
          <a:noFill/>
          <a:ln/>
        </p:spPr>
        <p:txBody>
          <a:bodyPr wrap="square" lIns="0" tIns="0" rIns="0" bIns="0" rtlCol="0" anchor="t"/>
          <a:lstStyle/>
          <a:p>
            <a:pPr algn="l" indent="0" marL="0">
              <a:lnSpc>
                <a:spcPct val="112000"/>
              </a:lnSpc>
              <a:buNone/>
            </a:pPr>
            <a:r>
              <a:rPr lang="en-US" sz="1400" dirty="0">
                <a:solidFill>
                  <a:srgbClr val="E8EAED"/>
                </a:solidFill>
                <a:latin typeface="Courier New" pitchFamily="34" charset="0"/>
                <a:ea typeface="Courier New" pitchFamily="34" charset="-122"/>
                <a:cs typeface="Courier New" pitchFamily="34" charset="-120"/>
              </a:rPr>
              <a:t>let score: number = 10;</a:t>
            </a:r>
            <a:endParaRPr lang="en-US" sz="1400" dirty="0"/>
          </a:p>
          <a:p>
            <a:pPr algn="l" indent="0" marL="0">
              <a:lnSpc>
                <a:spcPct val="112000"/>
              </a:lnSpc>
              <a:buNone/>
            </a:pPr>
            <a:r>
              <a:rPr lang="en-US" sz="1400" dirty="0">
                <a:solidFill>
                  <a:srgbClr val="E8EAED"/>
                </a:solidFill>
                <a:latin typeface="Courier New" pitchFamily="34" charset="0"/>
                <a:ea typeface="Courier New" pitchFamily="34" charset="-122"/>
                <a:cs typeface="Courier New" pitchFamily="34" charset="-120"/>
              </a:rPr>
              <a:t>score + 5</a:t>
            </a:r>
            <a:endParaRPr lang="en-US" sz="1400" dirty="0"/>
          </a:p>
          <a:p>
            <a:pPr algn="l" indent="0" marL="0">
              <a:lnSpc>
                <a:spcPct val="112000"/>
              </a:lnSpc>
              <a:buNone/>
            </a:pPr>
            <a:r>
              <a:rPr lang="en-US" sz="1400" dirty="0">
                <a:solidFill>
                  <a:srgbClr val="81C995"/>
                </a:solidFill>
                <a:latin typeface="Courier New" pitchFamily="34" charset="0"/>
                <a:ea typeface="Courier New" pitchFamily="34" charset="-122"/>
                <a:cs typeface="Courier New" pitchFamily="34" charset="-120"/>
              </a:rPr>
              <a:t>→ 15  </a:t>
            </a:r>
            <a:pPr algn="l" indent="0" marL="0">
              <a:lnSpc>
                <a:spcPct val="112000"/>
              </a:lnSpc>
              <a:buNone/>
            </a:pPr>
            <a:r>
              <a:rPr lang="en-US" sz="1400" dirty="0">
                <a:solidFill>
                  <a:srgbClr val="81C995"/>
                </a:solidFill>
                <a:latin typeface="Courier New" pitchFamily="34" charset="0"/>
                <a:ea typeface="Courier New" pitchFamily="34" charset="-122"/>
                <a:cs typeface="Courier New" pitchFamily="34" charset="-120"/>
              </a:rPr>
              <a:t>correct!</a:t>
            </a:r>
            <a:endParaRPr lang="en-US" sz="1400" dirty="0"/>
          </a:p>
        </p:txBody>
      </p:sp>
      <p:sp>
        <p:nvSpPr>
          <p:cNvPr id="23" name="Text 21"/>
          <p:cNvSpPr/>
          <p:nvPr/>
        </p:nvSpPr>
        <p:spPr>
          <a:xfrm>
            <a:off x="6217920" y="4572000"/>
            <a:ext cx="5394960" cy="548640"/>
          </a:xfrm>
          <a:prstGeom prst="rect">
            <a:avLst/>
          </a:prstGeom>
          <a:noFill/>
          <a:ln/>
        </p:spPr>
        <p:txBody>
          <a:bodyPr wrap="square" lIns="0" tIns="0" rIns="0" bIns="0" rtlCol="0" anchor="ctr"/>
          <a:lstStyle/>
          <a:p>
            <a:pPr algn="l" indent="0" marL="0">
              <a:buNone/>
            </a:pPr>
            <a:r>
              <a:rPr lang="en-US" sz="1250" i="1" dirty="0">
                <a:solidFill>
                  <a:srgbClr val="5F6368"/>
                </a:solidFill>
                <a:latin typeface="Calibri" pitchFamily="34" charset="0"/>
                <a:ea typeface="Calibri" pitchFamily="34" charset="-122"/>
                <a:cs typeface="Calibri" pitchFamily="34" charset="-120"/>
              </a:rPr>
              <a:t>TypeScript warns you the moment a number isn't a number. Bug caught early.</a:t>
            </a:r>
            <a:endParaRPr lang="en-US" sz="1250" dirty="0"/>
          </a:p>
        </p:txBody>
      </p:sp>
      <p:sp>
        <p:nvSpPr>
          <p:cNvPr id="24" name="Text 2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25" name="Text 23"/>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34A853"/>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34A853"/>
                </a:solidFill>
                <a:latin typeface="Calibri" pitchFamily="34" charset="0"/>
                <a:ea typeface="Calibri" pitchFamily="34" charset="-122"/>
                <a:cs typeface="Calibri" pitchFamily="34" charset="-120"/>
              </a:rPr>
              <a:t>TYPESCRIPT</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Where TypeScript came from</a:t>
            </a:r>
            <a:endParaRPr lang="en-US" sz="2900" dirty="0"/>
          </a:p>
        </p:txBody>
      </p:sp>
      <p:sp>
        <p:nvSpPr>
          <p:cNvPr id="9" name="Shape 7"/>
          <p:cNvSpPr/>
          <p:nvPr/>
        </p:nvSpPr>
        <p:spPr>
          <a:xfrm>
            <a:off x="548640" y="1737360"/>
            <a:ext cx="5212080" cy="3520440"/>
          </a:xfrm>
          <a:prstGeom prst="roundRect">
            <a:avLst>
              <a:gd name="adj" fmla="val 2338"/>
            </a:avLst>
          </a:prstGeom>
          <a:solidFill>
            <a:srgbClr val="F8F9FA"/>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0" name="Shape 8"/>
          <p:cNvSpPr/>
          <p:nvPr/>
        </p:nvSpPr>
        <p:spPr>
          <a:xfrm>
            <a:off x="822960" y="2029968"/>
            <a:ext cx="713232" cy="713232"/>
          </a:xfrm>
          <a:prstGeom prst="ellipse">
            <a:avLst/>
          </a:prstGeom>
          <a:solidFill>
            <a:srgbClr val="34A853"/>
          </a:solidFill>
          <a:ln/>
        </p:spPr>
      </p:sp>
      <p:sp>
        <p:nvSpPr>
          <p:cNvPr id="11" name="Text 9"/>
          <p:cNvSpPr/>
          <p:nvPr/>
        </p:nvSpPr>
        <p:spPr>
          <a:xfrm>
            <a:off x="822960" y="2029968"/>
            <a:ext cx="713232" cy="713232"/>
          </a:xfrm>
          <a:prstGeom prst="rect">
            <a:avLst/>
          </a:prstGeom>
          <a:noFill/>
          <a:ln/>
        </p:spPr>
        <p:txBody>
          <a:bodyPr wrap="square" lIns="0" tIns="0" rIns="0" bIns="0" rtlCol="0" anchor="ctr"/>
          <a:lstStyle/>
          <a:p>
            <a:pPr algn="ctr" indent="0" marL="0">
              <a:buNone/>
            </a:pPr>
            <a:r>
              <a:rPr lang="en-US" sz="1638" b="1" dirty="0">
                <a:solidFill>
                  <a:srgbClr val="FFFFFF"/>
                </a:solidFill>
                <a:latin typeface="Georgia" pitchFamily="34" charset="0"/>
                <a:ea typeface="Georgia" pitchFamily="34" charset="-122"/>
                <a:cs typeface="Georgia" pitchFamily="34" charset="-120"/>
              </a:rPr>
              <a:t>AH</a:t>
            </a:r>
            <a:endParaRPr lang="en-US" sz="1638" dirty="0"/>
          </a:p>
        </p:txBody>
      </p:sp>
      <p:sp>
        <p:nvSpPr>
          <p:cNvPr id="12" name="Text 10"/>
          <p:cNvSpPr/>
          <p:nvPr/>
        </p:nvSpPr>
        <p:spPr>
          <a:xfrm>
            <a:off x="1737360" y="2011680"/>
            <a:ext cx="3840480" cy="457200"/>
          </a:xfrm>
          <a:prstGeom prst="rect">
            <a:avLst/>
          </a:prstGeom>
          <a:noFill/>
          <a:ln/>
        </p:spPr>
        <p:txBody>
          <a:bodyPr wrap="square" lIns="0" tIns="0" rIns="0" bIns="0" rtlCol="0" anchor="ctr"/>
          <a:lstStyle/>
          <a:p>
            <a:pPr algn="l" indent="0" marL="0">
              <a:buNone/>
            </a:pPr>
            <a:r>
              <a:rPr lang="en-US" sz="2000" b="1" dirty="0">
                <a:solidFill>
                  <a:srgbClr val="202124"/>
                </a:solidFill>
                <a:latin typeface="Georgia" pitchFamily="34" charset="0"/>
                <a:ea typeface="Georgia" pitchFamily="34" charset="-122"/>
                <a:cs typeface="Georgia" pitchFamily="34" charset="-120"/>
              </a:rPr>
              <a:t>Anders Hejlsberg</a:t>
            </a:r>
            <a:endParaRPr lang="en-US" sz="2000" dirty="0"/>
          </a:p>
        </p:txBody>
      </p:sp>
      <p:sp>
        <p:nvSpPr>
          <p:cNvPr id="13" name="Text 11"/>
          <p:cNvSpPr/>
          <p:nvPr/>
        </p:nvSpPr>
        <p:spPr>
          <a:xfrm>
            <a:off x="1737360" y="2487168"/>
            <a:ext cx="3840480" cy="320040"/>
          </a:xfrm>
          <a:prstGeom prst="rect">
            <a:avLst/>
          </a:prstGeom>
          <a:noFill/>
          <a:ln/>
        </p:spPr>
        <p:txBody>
          <a:bodyPr wrap="square" lIns="0" tIns="0" rIns="0" bIns="0" rtlCol="0" anchor="ctr"/>
          <a:lstStyle/>
          <a:p>
            <a:pPr algn="l" indent="0" marL="0">
              <a:buNone/>
            </a:pPr>
            <a:r>
              <a:rPr lang="en-US" sz="1250" i="1" dirty="0">
                <a:solidFill>
                  <a:srgbClr val="5F6368"/>
                </a:solidFill>
                <a:latin typeface="Calibri" pitchFamily="34" charset="0"/>
                <a:ea typeface="Calibri" pitchFamily="34" charset="-122"/>
                <a:cs typeface="Calibri" pitchFamily="34" charset="-120"/>
              </a:rPr>
              <a:t>Also created the C# language</a:t>
            </a:r>
            <a:endParaRPr lang="en-US" sz="1250" dirty="0"/>
          </a:p>
        </p:txBody>
      </p:sp>
      <p:sp>
        <p:nvSpPr>
          <p:cNvPr id="14" name="Text 12"/>
          <p:cNvSpPr/>
          <p:nvPr/>
        </p:nvSpPr>
        <p:spPr>
          <a:xfrm>
            <a:off x="822960" y="3063240"/>
            <a:ext cx="4663440" cy="2103120"/>
          </a:xfrm>
          <a:prstGeom prst="rect">
            <a:avLst/>
          </a:prstGeom>
          <a:noFill/>
          <a:ln/>
        </p:spPr>
        <p:txBody>
          <a:bodyPr wrap="square" lIns="0" tIns="0" rIns="0" bIns="0" rtlCol="0" anchor="t"/>
          <a:lstStyle/>
          <a:p>
            <a:pPr algn="l" indent="0" marL="0">
              <a:lnSpc>
                <a:spcPct val="118000"/>
              </a:lnSpc>
              <a:buNone/>
            </a:pPr>
            <a:r>
              <a:rPr lang="en-US" sz="1450" b="1" dirty="0">
                <a:solidFill>
                  <a:srgbClr val="5F6368"/>
                </a:solidFill>
                <a:latin typeface="Calibri" pitchFamily="34" charset="0"/>
                <a:ea typeface="Calibri" pitchFamily="34" charset="-122"/>
                <a:cs typeface="Calibri" pitchFamily="34" charset="-120"/>
              </a:rPr>
              <a:t>In 2012</a:t>
            </a:r>
            <a:pPr algn="l" indent="0" marL="0">
              <a:lnSpc>
                <a:spcPct val="118000"/>
              </a:lnSpc>
              <a:buNone/>
            </a:pPr>
            <a:r>
              <a:rPr lang="en-US" sz="1450" dirty="0">
                <a:solidFill>
                  <a:srgbClr val="5F6368"/>
                </a:solidFill>
                <a:latin typeface="Calibri" pitchFamily="34" charset="0"/>
                <a:ea typeface="Calibri" pitchFamily="34" charset="-122"/>
                <a:cs typeface="Calibri" pitchFamily="34" charset="-120"/>
              </a:rPr>
              <a:t>, Microsoft released TypeScript to fix JavaScript's “tiny mistakes on big projects” problem. Anders led the team. The goal: keep everything great about JavaScript, add a safety net.</a:t>
            </a:r>
            <a:endParaRPr lang="en-US" sz="1450" dirty="0"/>
          </a:p>
        </p:txBody>
      </p:sp>
      <p:sp>
        <p:nvSpPr>
          <p:cNvPr id="15" name="Shape 13"/>
          <p:cNvSpPr/>
          <p:nvPr/>
        </p:nvSpPr>
        <p:spPr>
          <a:xfrm>
            <a:off x="6035040" y="1737360"/>
            <a:ext cx="5577840" cy="3520440"/>
          </a:xfrm>
          <a:prstGeom prst="roundRect">
            <a:avLst>
              <a:gd name="adj" fmla="val 2338"/>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6" name="Text 14"/>
          <p:cNvSpPr/>
          <p:nvPr/>
        </p:nvSpPr>
        <p:spPr>
          <a:xfrm>
            <a:off x="6309360" y="1965960"/>
            <a:ext cx="5029200" cy="411480"/>
          </a:xfrm>
          <a:prstGeom prst="rect">
            <a:avLst/>
          </a:prstGeom>
          <a:noFill/>
          <a:ln/>
        </p:spPr>
        <p:txBody>
          <a:bodyPr wrap="square" lIns="0" tIns="0" rIns="0" bIns="0" rtlCol="0" anchor="ctr"/>
          <a:lstStyle/>
          <a:p>
            <a:pPr algn="l" indent="0" marL="0">
              <a:buNone/>
            </a:pPr>
            <a:r>
              <a:rPr lang="en-US" sz="1600" b="1" dirty="0">
                <a:solidFill>
                  <a:srgbClr val="34A853"/>
                </a:solidFill>
                <a:latin typeface="Georgia" pitchFamily="34" charset="0"/>
                <a:ea typeface="Georgia" pitchFamily="34" charset="-122"/>
                <a:cs typeface="Georgia" pitchFamily="34" charset="-120"/>
              </a:rPr>
              <a:t>TypeScript's journey</a:t>
            </a:r>
            <a:endParaRPr lang="en-US" sz="1600" dirty="0"/>
          </a:p>
        </p:txBody>
      </p:sp>
      <p:sp>
        <p:nvSpPr>
          <p:cNvPr id="17" name="Shape 15"/>
          <p:cNvSpPr/>
          <p:nvPr/>
        </p:nvSpPr>
        <p:spPr>
          <a:xfrm>
            <a:off x="6355080" y="2532888"/>
            <a:ext cx="237744" cy="237744"/>
          </a:xfrm>
          <a:prstGeom prst="ellipse">
            <a:avLst/>
          </a:prstGeom>
          <a:solidFill>
            <a:srgbClr val="4285F4"/>
          </a:solidFill>
          <a:ln/>
        </p:spPr>
      </p:sp>
      <p:sp>
        <p:nvSpPr>
          <p:cNvPr id="18" name="Shape 16"/>
          <p:cNvSpPr/>
          <p:nvPr/>
        </p:nvSpPr>
        <p:spPr>
          <a:xfrm>
            <a:off x="6473952" y="2770632"/>
            <a:ext cx="0" cy="402336"/>
          </a:xfrm>
          <a:prstGeom prst="line">
            <a:avLst/>
          </a:prstGeom>
          <a:noFill/>
          <a:ln w="19050">
            <a:solidFill>
              <a:srgbClr val="E8EAED"/>
            </a:solidFill>
            <a:prstDash val="solid"/>
          </a:ln>
        </p:spPr>
      </p:sp>
      <p:sp>
        <p:nvSpPr>
          <p:cNvPr id="19" name="Text 17"/>
          <p:cNvSpPr/>
          <p:nvPr/>
        </p:nvSpPr>
        <p:spPr>
          <a:xfrm>
            <a:off x="6720840" y="2487168"/>
            <a:ext cx="1097280" cy="320040"/>
          </a:xfrm>
          <a:prstGeom prst="rect">
            <a:avLst/>
          </a:prstGeom>
          <a:noFill/>
          <a:ln/>
        </p:spPr>
        <p:txBody>
          <a:bodyPr wrap="square" lIns="0" tIns="0" rIns="0" bIns="0" rtlCol="0" anchor="ctr"/>
          <a:lstStyle/>
          <a:p>
            <a:pPr algn="l" indent="0" marL="0">
              <a:buNone/>
            </a:pPr>
            <a:r>
              <a:rPr lang="en-US" sz="1350" b="1" dirty="0">
                <a:solidFill>
                  <a:srgbClr val="202124"/>
                </a:solidFill>
                <a:latin typeface="Calibri" pitchFamily="34" charset="0"/>
                <a:ea typeface="Calibri" pitchFamily="34" charset="-122"/>
                <a:cs typeface="Calibri" pitchFamily="34" charset="-120"/>
              </a:rPr>
              <a:t>2012</a:t>
            </a:r>
            <a:endParaRPr lang="en-US" sz="1350" dirty="0"/>
          </a:p>
        </p:txBody>
      </p:sp>
      <p:sp>
        <p:nvSpPr>
          <p:cNvPr id="20" name="Text 18"/>
          <p:cNvSpPr/>
          <p:nvPr/>
        </p:nvSpPr>
        <p:spPr>
          <a:xfrm>
            <a:off x="7772400" y="2487168"/>
            <a:ext cx="3657600" cy="548640"/>
          </a:xfrm>
          <a:prstGeom prst="rect">
            <a:avLst/>
          </a:prstGeom>
          <a:noFill/>
          <a:ln/>
        </p:spPr>
        <p:txBody>
          <a:bodyPr wrap="square" lIns="0" tIns="0" rIns="0" bIns="0" rtlCol="0" anchor="t"/>
          <a:lstStyle/>
          <a:p>
            <a:pPr algn="l" indent="0" marL="0">
              <a:lnSpc>
                <a:spcPct val="100000"/>
              </a:lnSpc>
              <a:buNone/>
            </a:pPr>
            <a:r>
              <a:rPr lang="en-US" sz="1250" dirty="0">
                <a:solidFill>
                  <a:srgbClr val="5F6368"/>
                </a:solidFill>
                <a:latin typeface="Calibri" pitchFamily="34" charset="0"/>
                <a:ea typeface="Calibri" pitchFamily="34" charset="-122"/>
                <a:cs typeface="Calibri" pitchFamily="34" charset="-120"/>
              </a:rPr>
              <a:t>Microsoft announces TypeScript</a:t>
            </a:r>
            <a:endParaRPr lang="en-US" sz="1250" dirty="0"/>
          </a:p>
        </p:txBody>
      </p:sp>
      <p:sp>
        <p:nvSpPr>
          <p:cNvPr id="21" name="Shape 19"/>
          <p:cNvSpPr/>
          <p:nvPr/>
        </p:nvSpPr>
        <p:spPr>
          <a:xfrm>
            <a:off x="6355080" y="3191256"/>
            <a:ext cx="237744" cy="237744"/>
          </a:xfrm>
          <a:prstGeom prst="ellipse">
            <a:avLst/>
          </a:prstGeom>
          <a:solidFill>
            <a:srgbClr val="EA4335"/>
          </a:solidFill>
          <a:ln/>
        </p:spPr>
      </p:sp>
      <p:sp>
        <p:nvSpPr>
          <p:cNvPr id="22" name="Shape 20"/>
          <p:cNvSpPr/>
          <p:nvPr/>
        </p:nvSpPr>
        <p:spPr>
          <a:xfrm>
            <a:off x="6473952" y="3429000"/>
            <a:ext cx="0" cy="402336"/>
          </a:xfrm>
          <a:prstGeom prst="line">
            <a:avLst/>
          </a:prstGeom>
          <a:noFill/>
          <a:ln w="19050">
            <a:solidFill>
              <a:srgbClr val="E8EAED"/>
            </a:solidFill>
            <a:prstDash val="solid"/>
          </a:ln>
        </p:spPr>
      </p:sp>
      <p:sp>
        <p:nvSpPr>
          <p:cNvPr id="23" name="Text 21"/>
          <p:cNvSpPr/>
          <p:nvPr/>
        </p:nvSpPr>
        <p:spPr>
          <a:xfrm>
            <a:off x="6720840" y="3145536"/>
            <a:ext cx="1097280" cy="320040"/>
          </a:xfrm>
          <a:prstGeom prst="rect">
            <a:avLst/>
          </a:prstGeom>
          <a:noFill/>
          <a:ln/>
        </p:spPr>
        <p:txBody>
          <a:bodyPr wrap="square" lIns="0" tIns="0" rIns="0" bIns="0" rtlCol="0" anchor="ctr"/>
          <a:lstStyle/>
          <a:p>
            <a:pPr algn="l" indent="0" marL="0">
              <a:buNone/>
            </a:pPr>
            <a:r>
              <a:rPr lang="en-US" sz="1350" b="1" dirty="0">
                <a:solidFill>
                  <a:srgbClr val="202124"/>
                </a:solidFill>
                <a:latin typeface="Calibri" pitchFamily="34" charset="0"/>
                <a:ea typeface="Calibri" pitchFamily="34" charset="-122"/>
                <a:cs typeface="Calibri" pitchFamily="34" charset="-120"/>
              </a:rPr>
              <a:t>2014</a:t>
            </a:r>
            <a:endParaRPr lang="en-US" sz="1350" dirty="0"/>
          </a:p>
        </p:txBody>
      </p:sp>
      <p:sp>
        <p:nvSpPr>
          <p:cNvPr id="24" name="Text 22"/>
          <p:cNvSpPr/>
          <p:nvPr/>
        </p:nvSpPr>
        <p:spPr>
          <a:xfrm>
            <a:off x="7772400" y="3145536"/>
            <a:ext cx="3657600" cy="548640"/>
          </a:xfrm>
          <a:prstGeom prst="rect">
            <a:avLst/>
          </a:prstGeom>
          <a:noFill/>
          <a:ln/>
        </p:spPr>
        <p:txBody>
          <a:bodyPr wrap="square" lIns="0" tIns="0" rIns="0" bIns="0" rtlCol="0" anchor="t"/>
          <a:lstStyle/>
          <a:p>
            <a:pPr algn="l" indent="0" marL="0">
              <a:lnSpc>
                <a:spcPct val="100000"/>
              </a:lnSpc>
              <a:buNone/>
            </a:pPr>
            <a:r>
              <a:rPr lang="en-US" sz="1250" dirty="0">
                <a:solidFill>
                  <a:srgbClr val="5F6368"/>
                </a:solidFill>
                <a:latin typeface="Calibri" pitchFamily="34" charset="0"/>
                <a:ea typeface="Calibri" pitchFamily="34" charset="-122"/>
                <a:cs typeface="Calibri" pitchFamily="34" charset="-120"/>
              </a:rPr>
              <a:t>Version 1.0 — ready for real projects</a:t>
            </a:r>
            <a:endParaRPr lang="en-US" sz="1250" dirty="0"/>
          </a:p>
        </p:txBody>
      </p:sp>
      <p:sp>
        <p:nvSpPr>
          <p:cNvPr id="25" name="Shape 23"/>
          <p:cNvSpPr/>
          <p:nvPr/>
        </p:nvSpPr>
        <p:spPr>
          <a:xfrm>
            <a:off x="6355080" y="3849624"/>
            <a:ext cx="237744" cy="237744"/>
          </a:xfrm>
          <a:prstGeom prst="ellipse">
            <a:avLst/>
          </a:prstGeom>
          <a:solidFill>
            <a:srgbClr val="34A853"/>
          </a:solidFill>
          <a:ln/>
        </p:spPr>
      </p:sp>
      <p:sp>
        <p:nvSpPr>
          <p:cNvPr id="26" name="Shape 24"/>
          <p:cNvSpPr/>
          <p:nvPr/>
        </p:nvSpPr>
        <p:spPr>
          <a:xfrm>
            <a:off x="6473952" y="4087368"/>
            <a:ext cx="0" cy="402336"/>
          </a:xfrm>
          <a:prstGeom prst="line">
            <a:avLst/>
          </a:prstGeom>
          <a:noFill/>
          <a:ln w="19050">
            <a:solidFill>
              <a:srgbClr val="E8EAED"/>
            </a:solidFill>
            <a:prstDash val="solid"/>
          </a:ln>
        </p:spPr>
      </p:sp>
      <p:sp>
        <p:nvSpPr>
          <p:cNvPr id="27" name="Text 25"/>
          <p:cNvSpPr/>
          <p:nvPr/>
        </p:nvSpPr>
        <p:spPr>
          <a:xfrm>
            <a:off x="6720840" y="3803904"/>
            <a:ext cx="1097280" cy="320040"/>
          </a:xfrm>
          <a:prstGeom prst="rect">
            <a:avLst/>
          </a:prstGeom>
          <a:noFill/>
          <a:ln/>
        </p:spPr>
        <p:txBody>
          <a:bodyPr wrap="square" lIns="0" tIns="0" rIns="0" bIns="0" rtlCol="0" anchor="ctr"/>
          <a:lstStyle/>
          <a:p>
            <a:pPr algn="l" indent="0" marL="0">
              <a:buNone/>
            </a:pPr>
            <a:r>
              <a:rPr lang="en-US" sz="1350" b="1" dirty="0">
                <a:solidFill>
                  <a:srgbClr val="202124"/>
                </a:solidFill>
                <a:latin typeface="Calibri" pitchFamily="34" charset="0"/>
                <a:ea typeface="Calibri" pitchFamily="34" charset="-122"/>
                <a:cs typeface="Calibri" pitchFamily="34" charset="-120"/>
              </a:rPr>
              <a:t>2016</a:t>
            </a:r>
            <a:endParaRPr lang="en-US" sz="1350" dirty="0"/>
          </a:p>
        </p:txBody>
      </p:sp>
      <p:sp>
        <p:nvSpPr>
          <p:cNvPr id="28" name="Text 26"/>
          <p:cNvSpPr/>
          <p:nvPr/>
        </p:nvSpPr>
        <p:spPr>
          <a:xfrm>
            <a:off x="7772400" y="3803904"/>
            <a:ext cx="3657600" cy="548640"/>
          </a:xfrm>
          <a:prstGeom prst="rect">
            <a:avLst/>
          </a:prstGeom>
          <a:noFill/>
          <a:ln/>
        </p:spPr>
        <p:txBody>
          <a:bodyPr wrap="square" lIns="0" tIns="0" rIns="0" bIns="0" rtlCol="0" anchor="t"/>
          <a:lstStyle/>
          <a:p>
            <a:pPr algn="l" indent="0" marL="0">
              <a:lnSpc>
                <a:spcPct val="100000"/>
              </a:lnSpc>
              <a:buNone/>
            </a:pPr>
            <a:r>
              <a:rPr lang="en-US" sz="1250" dirty="0">
                <a:solidFill>
                  <a:srgbClr val="5F6368"/>
                </a:solidFill>
                <a:latin typeface="Calibri" pitchFamily="34" charset="0"/>
                <a:ea typeface="Calibri" pitchFamily="34" charset="-122"/>
                <a:cs typeface="Calibri" pitchFamily="34" charset="-120"/>
              </a:rPr>
              <a:t>Google's Angular adopts it — adoption explodes</a:t>
            </a:r>
            <a:endParaRPr lang="en-US" sz="1250" dirty="0"/>
          </a:p>
        </p:txBody>
      </p:sp>
      <p:sp>
        <p:nvSpPr>
          <p:cNvPr id="29" name="Shape 27"/>
          <p:cNvSpPr/>
          <p:nvPr/>
        </p:nvSpPr>
        <p:spPr>
          <a:xfrm>
            <a:off x="6355080" y="4507992"/>
            <a:ext cx="237744" cy="237744"/>
          </a:xfrm>
          <a:prstGeom prst="ellipse">
            <a:avLst/>
          </a:prstGeom>
          <a:solidFill>
            <a:srgbClr val="FBBC04"/>
          </a:solidFill>
          <a:ln/>
        </p:spPr>
      </p:sp>
      <p:sp>
        <p:nvSpPr>
          <p:cNvPr id="30" name="Text 28"/>
          <p:cNvSpPr/>
          <p:nvPr/>
        </p:nvSpPr>
        <p:spPr>
          <a:xfrm>
            <a:off x="6720840" y="4462272"/>
            <a:ext cx="1097280" cy="320040"/>
          </a:xfrm>
          <a:prstGeom prst="rect">
            <a:avLst/>
          </a:prstGeom>
          <a:noFill/>
          <a:ln/>
        </p:spPr>
        <p:txBody>
          <a:bodyPr wrap="square" lIns="0" tIns="0" rIns="0" bIns="0" rtlCol="0" anchor="ctr"/>
          <a:lstStyle/>
          <a:p>
            <a:pPr algn="l" indent="0" marL="0">
              <a:buNone/>
            </a:pPr>
            <a:r>
              <a:rPr lang="en-US" sz="1350" b="1" dirty="0">
                <a:solidFill>
                  <a:srgbClr val="202124"/>
                </a:solidFill>
                <a:latin typeface="Calibri" pitchFamily="34" charset="0"/>
                <a:ea typeface="Calibri" pitchFamily="34" charset="-122"/>
                <a:cs typeface="Calibri" pitchFamily="34" charset="-120"/>
              </a:rPr>
              <a:t>Today</a:t>
            </a:r>
            <a:endParaRPr lang="en-US" sz="1350" dirty="0"/>
          </a:p>
        </p:txBody>
      </p:sp>
      <p:sp>
        <p:nvSpPr>
          <p:cNvPr id="31" name="Text 29"/>
          <p:cNvSpPr/>
          <p:nvPr/>
        </p:nvSpPr>
        <p:spPr>
          <a:xfrm>
            <a:off x="7772400" y="4462272"/>
            <a:ext cx="3657600" cy="548640"/>
          </a:xfrm>
          <a:prstGeom prst="rect">
            <a:avLst/>
          </a:prstGeom>
          <a:noFill/>
          <a:ln/>
        </p:spPr>
        <p:txBody>
          <a:bodyPr wrap="square" lIns="0" tIns="0" rIns="0" bIns="0" rtlCol="0" anchor="t"/>
          <a:lstStyle/>
          <a:p>
            <a:pPr algn="l" indent="0" marL="0">
              <a:lnSpc>
                <a:spcPct val="100000"/>
              </a:lnSpc>
              <a:buNone/>
            </a:pPr>
            <a:r>
              <a:rPr lang="en-US" sz="1250" dirty="0">
                <a:solidFill>
                  <a:srgbClr val="5F6368"/>
                </a:solidFill>
                <a:latin typeface="Calibri" pitchFamily="34" charset="0"/>
                <a:ea typeface="Calibri" pitchFamily="34" charset="-122"/>
                <a:cs typeface="Calibri" pitchFamily="34" charset="-120"/>
              </a:rPr>
              <a:t>One of the most-used languages in the world</a:t>
            </a:r>
            <a:endParaRPr lang="en-US" sz="1250" dirty="0"/>
          </a:p>
        </p:txBody>
      </p:sp>
      <p:sp>
        <p:nvSpPr>
          <p:cNvPr id="32" name="Text 30"/>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33" name="Text 31"/>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FBBC04"/>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FBBC04"/>
                </a:solidFill>
                <a:latin typeface="Calibri" pitchFamily="34" charset="0"/>
                <a:ea typeface="Calibri" pitchFamily="34" charset="-122"/>
                <a:cs typeface="Calibri" pitchFamily="34" charset="-120"/>
              </a:rPr>
              <a:t>TYPESCRIPT</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Who builds TypeScript today?</a:t>
            </a:r>
            <a:endParaRPr lang="en-US" sz="2900" dirty="0"/>
          </a:p>
        </p:txBody>
      </p:sp>
      <p:sp>
        <p:nvSpPr>
          <p:cNvPr id="9" name="Shape 7"/>
          <p:cNvSpPr/>
          <p:nvPr/>
        </p:nvSpPr>
        <p:spPr>
          <a:xfrm>
            <a:off x="548640" y="1737360"/>
            <a:ext cx="5394960" cy="3520440"/>
          </a:xfrm>
          <a:prstGeom prst="roundRect">
            <a:avLst>
              <a:gd name="adj" fmla="val 2338"/>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0" name="Text 8"/>
          <p:cNvSpPr/>
          <p:nvPr/>
        </p:nvSpPr>
        <p:spPr>
          <a:xfrm>
            <a:off x="822960" y="1965960"/>
            <a:ext cx="4846320" cy="457200"/>
          </a:xfrm>
          <a:prstGeom prst="rect">
            <a:avLst/>
          </a:prstGeom>
          <a:noFill/>
          <a:ln/>
        </p:spPr>
        <p:txBody>
          <a:bodyPr wrap="square" lIns="0" tIns="0" rIns="0" bIns="0" rtlCol="0" anchor="ctr"/>
          <a:lstStyle/>
          <a:p>
            <a:pPr algn="l" indent="0" marL="0">
              <a:buNone/>
            </a:pPr>
            <a:r>
              <a:rPr lang="en-US" sz="1800" b="1" dirty="0">
                <a:solidFill>
                  <a:srgbClr val="4285F4"/>
                </a:solidFill>
                <a:latin typeface="Georgia" pitchFamily="34" charset="0"/>
                <a:ea typeface="Georgia" pitchFamily="34" charset="-122"/>
                <a:cs typeface="Georgia" pitchFamily="34" charset="-120"/>
              </a:rPr>
              <a:t>Microsoft — in the open</a:t>
            </a:r>
            <a:endParaRPr lang="en-US" sz="1800" dirty="0"/>
          </a:p>
        </p:txBody>
      </p:sp>
      <p:sp>
        <p:nvSpPr>
          <p:cNvPr id="11" name="Text 9"/>
          <p:cNvSpPr/>
          <p:nvPr/>
        </p:nvSpPr>
        <p:spPr>
          <a:xfrm>
            <a:off x="822960" y="2468880"/>
            <a:ext cx="4846320" cy="2651760"/>
          </a:xfrm>
          <a:prstGeom prst="rect">
            <a:avLst/>
          </a:prstGeom>
          <a:noFill/>
          <a:ln/>
        </p:spPr>
        <p:txBody>
          <a:bodyPr wrap="square" lIns="0" tIns="0" rIns="0" bIns="0" rtlCol="0" anchor="t"/>
          <a:lstStyle/>
          <a:p>
            <a:pPr algn="l" indent="0" marL="0">
              <a:lnSpc>
                <a:spcPct val="118000"/>
              </a:lnSpc>
              <a:buNone/>
            </a:pPr>
            <a:r>
              <a:rPr lang="en-US" sz="1450" dirty="0">
                <a:solidFill>
                  <a:srgbClr val="5F6368"/>
                </a:solidFill>
                <a:latin typeface="Calibri" pitchFamily="34" charset="0"/>
                <a:ea typeface="Calibri" pitchFamily="34" charset="-122"/>
                <a:cs typeface="Calibri" pitchFamily="34" charset="-120"/>
              </a:rPr>
              <a:t>TypeScript is made by Microsoft, but it's </a:t>
            </a:r>
            <a:pPr algn="l" indent="0" marL="0">
              <a:lnSpc>
                <a:spcPct val="118000"/>
              </a:lnSpc>
              <a:buNone/>
            </a:pPr>
            <a:r>
              <a:rPr lang="en-US" sz="1450" b="1" dirty="0">
                <a:solidFill>
                  <a:srgbClr val="5F6368"/>
                </a:solidFill>
                <a:latin typeface="Calibri" pitchFamily="34" charset="0"/>
                <a:ea typeface="Calibri" pitchFamily="34" charset="-122"/>
                <a:cs typeface="Calibri" pitchFamily="34" charset="-120"/>
              </a:rPr>
              <a:t>open source</a:t>
            </a:r>
            <a:pPr algn="l" indent="0" marL="0">
              <a:lnSpc>
                <a:spcPct val="118000"/>
              </a:lnSpc>
              <a:buNone/>
            </a:pPr>
            <a:r>
              <a:rPr lang="en-US" sz="1450" dirty="0">
                <a:solidFill>
                  <a:srgbClr val="5F6368"/>
                </a:solidFill>
                <a:latin typeface="Calibri" pitchFamily="34" charset="0"/>
                <a:ea typeface="Calibri" pitchFamily="34" charset="-122"/>
                <a:cs typeface="Calibri" pitchFamily="34" charset="-120"/>
              </a:rPr>
              <a:t> — the code is public and free, and anyone in the world can suggest improvements or report bugs.</a:t>
            </a:r>
            <a:pPr algn="l" indent="0" marL="0">
              <a:lnSpc>
                <a:spcPct val="118000"/>
              </a:lnSpc>
              <a:buNone/>
            </a:pPr>
            <a:endParaRPr lang="en-US" sz="1450" dirty="0"/>
          </a:p>
          <a:p>
            <a:pPr algn="l" indent="0" marL="0">
              <a:lnSpc>
                <a:spcPct val="118000"/>
              </a:lnSpc>
              <a:buNone/>
            </a:pPr>
            <a:endParaRPr lang="en-US" sz="1450" dirty="0"/>
          </a:p>
          <a:p>
            <a:pPr algn="l" indent="0" marL="0">
              <a:lnSpc>
                <a:spcPct val="118000"/>
              </a:lnSpc>
              <a:buNone/>
            </a:pPr>
            <a:r>
              <a:rPr lang="en-US" sz="1450" b="1" dirty="0">
                <a:solidFill>
                  <a:srgbClr val="34A853"/>
                </a:solidFill>
                <a:latin typeface="Calibri" pitchFamily="34" charset="0"/>
                <a:ea typeface="Calibri" pitchFamily="34" charset="-122"/>
                <a:cs typeface="Calibri" pitchFamily="34" charset="-120"/>
              </a:rPr>
              <a:t>It's free to use forever. You never pay to write TypeScript.</a:t>
            </a:r>
            <a:endParaRPr lang="en-US" sz="1450" dirty="0"/>
          </a:p>
        </p:txBody>
      </p:sp>
      <p:sp>
        <p:nvSpPr>
          <p:cNvPr id="12" name="Shape 10"/>
          <p:cNvSpPr/>
          <p:nvPr/>
        </p:nvSpPr>
        <p:spPr>
          <a:xfrm>
            <a:off x="6217920" y="1737360"/>
            <a:ext cx="5394960" cy="3520440"/>
          </a:xfrm>
          <a:prstGeom prst="roundRect">
            <a:avLst>
              <a:gd name="adj" fmla="val 2338"/>
            </a:avLst>
          </a:prstGeom>
          <a:solidFill>
            <a:srgbClr val="F8F9FA"/>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3" name="Text 11"/>
          <p:cNvSpPr/>
          <p:nvPr/>
        </p:nvSpPr>
        <p:spPr>
          <a:xfrm>
            <a:off x="6492240" y="1965960"/>
            <a:ext cx="4846320" cy="457200"/>
          </a:xfrm>
          <a:prstGeom prst="rect">
            <a:avLst/>
          </a:prstGeom>
          <a:noFill/>
          <a:ln/>
        </p:spPr>
        <p:txBody>
          <a:bodyPr wrap="square" lIns="0" tIns="0" rIns="0" bIns="0" rtlCol="0" anchor="ctr"/>
          <a:lstStyle/>
          <a:p>
            <a:pPr algn="l" indent="0" marL="0">
              <a:buNone/>
            </a:pPr>
            <a:r>
              <a:rPr lang="en-US" sz="1800" b="1" dirty="0">
                <a:solidFill>
                  <a:srgbClr val="EA4335"/>
                </a:solidFill>
                <a:latin typeface="Georgia" pitchFamily="34" charset="0"/>
                <a:ea typeface="Georgia" pitchFamily="34" charset="-122"/>
                <a:cs typeface="Georgia" pitchFamily="34" charset="-120"/>
              </a:rPr>
              <a:t>What “open source” means</a:t>
            </a:r>
            <a:endParaRPr lang="en-US" sz="1800" dirty="0"/>
          </a:p>
        </p:txBody>
      </p:sp>
      <p:sp>
        <p:nvSpPr>
          <p:cNvPr id="14" name="Text 12"/>
          <p:cNvSpPr/>
          <p:nvPr/>
        </p:nvSpPr>
        <p:spPr>
          <a:xfrm>
            <a:off x="6492240" y="2468880"/>
            <a:ext cx="4846320" cy="2651760"/>
          </a:xfrm>
          <a:prstGeom prst="rect">
            <a:avLst/>
          </a:prstGeom>
          <a:noFill/>
          <a:ln/>
        </p:spPr>
        <p:txBody>
          <a:bodyPr wrap="square" lIns="0" tIns="0" rIns="0" bIns="0" rtlCol="0" anchor="t"/>
          <a:lstStyle/>
          <a:p>
            <a:pPr algn="l" indent="0" marL="0">
              <a:lnSpc>
                <a:spcPct val="118000"/>
              </a:lnSpc>
              <a:buNone/>
            </a:pPr>
            <a:r>
              <a:rPr lang="en-US" sz="1450" dirty="0">
                <a:solidFill>
                  <a:srgbClr val="5F6368"/>
                </a:solidFill>
                <a:latin typeface="Calibri" pitchFamily="34" charset="0"/>
                <a:ea typeface="Calibri" pitchFamily="34" charset="-122"/>
                <a:cs typeface="Calibri" pitchFamily="34" charset="-120"/>
              </a:rPr>
              <a:t>Think of a giant group project where the instructions are posted publicly and thousands of volunteers help make it better.</a:t>
            </a:r>
            <a:pPr algn="l" indent="0" marL="0">
              <a:lnSpc>
                <a:spcPct val="118000"/>
              </a:lnSpc>
              <a:buNone/>
            </a:pPr>
            <a:endParaRPr lang="en-US" sz="1450" dirty="0"/>
          </a:p>
          <a:p>
            <a:pPr algn="l" indent="0" marL="0">
              <a:lnSpc>
                <a:spcPct val="118000"/>
              </a:lnSpc>
              <a:buNone/>
            </a:pPr>
            <a:endParaRPr lang="en-US" sz="1450" dirty="0"/>
          </a:p>
          <a:p>
            <a:pPr algn="l" indent="0" marL="0">
              <a:lnSpc>
                <a:spcPct val="118000"/>
              </a:lnSpc>
              <a:buNone/>
            </a:pPr>
            <a:r>
              <a:rPr lang="en-US" sz="1450" dirty="0">
                <a:solidFill>
                  <a:srgbClr val="5F6368"/>
                </a:solidFill>
                <a:latin typeface="Calibri" pitchFamily="34" charset="0"/>
                <a:ea typeface="Calibri" pitchFamily="34" charset="-122"/>
                <a:cs typeface="Calibri" pitchFamily="34" charset="-120"/>
              </a:rPr>
              <a:t>Millions of developers now contribute to TypeScript's world — tutorials, tools, and fixes — so it keeps getting better every month.</a:t>
            </a:r>
            <a:endParaRPr lang="en-US" sz="1450" dirty="0"/>
          </a:p>
        </p:txBody>
      </p:sp>
      <p:sp>
        <p:nvSpPr>
          <p:cNvPr id="15" name="Text 13"/>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16" name="Text 14"/>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4285F4"/>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4285F4"/>
                </a:solidFill>
                <a:latin typeface="Calibri" pitchFamily="34" charset="0"/>
                <a:ea typeface="Calibri" pitchFamily="34" charset="-122"/>
                <a:cs typeface="Calibri" pitchFamily="34" charset="-120"/>
              </a:rPr>
              <a:t>TYPESCRIPT</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Where TypeScript is used today</a:t>
            </a:r>
            <a:endParaRPr lang="en-US" sz="2900" dirty="0"/>
          </a:p>
        </p:txBody>
      </p:sp>
      <p:sp>
        <p:nvSpPr>
          <p:cNvPr id="9" name="Text 7"/>
          <p:cNvSpPr/>
          <p:nvPr/>
        </p:nvSpPr>
        <p:spPr>
          <a:xfrm>
            <a:off x="548640" y="1645920"/>
            <a:ext cx="10972800" cy="548640"/>
          </a:xfrm>
          <a:prstGeom prst="rect">
            <a:avLst/>
          </a:prstGeom>
          <a:noFill/>
          <a:ln/>
        </p:spPr>
        <p:txBody>
          <a:bodyPr wrap="square" lIns="0" tIns="0" rIns="0" bIns="0" rtlCol="0" anchor="t"/>
          <a:lstStyle/>
          <a:p>
            <a:pPr algn="l" indent="0" marL="0">
              <a:buNone/>
            </a:pPr>
            <a:r>
              <a:rPr lang="en-US" sz="1550" dirty="0">
                <a:solidFill>
                  <a:srgbClr val="5F6368"/>
                </a:solidFill>
                <a:latin typeface="Calibri" pitchFamily="34" charset="0"/>
                <a:ea typeface="Calibri" pitchFamily="34" charset="-122"/>
                <a:cs typeface="Calibri" pitchFamily="34" charset="-120"/>
              </a:rPr>
              <a:t>TypeScript isn't a toy language — it's what real companies build real products with, all over the web and beyond.</a:t>
            </a:r>
            <a:endParaRPr lang="en-US" sz="1550" dirty="0"/>
          </a:p>
        </p:txBody>
      </p:sp>
      <p:sp>
        <p:nvSpPr>
          <p:cNvPr id="10" name="Shape 8"/>
          <p:cNvSpPr/>
          <p:nvPr/>
        </p:nvSpPr>
        <p:spPr>
          <a:xfrm>
            <a:off x="548640" y="2286000"/>
            <a:ext cx="3474720" cy="2194560"/>
          </a:xfrm>
          <a:prstGeom prst="roundRect">
            <a:avLst>
              <a:gd name="adj" fmla="val 3750"/>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1" name="Shape 9"/>
          <p:cNvSpPr/>
          <p:nvPr/>
        </p:nvSpPr>
        <p:spPr>
          <a:xfrm>
            <a:off x="822960" y="2487168"/>
            <a:ext cx="566928" cy="566928"/>
          </a:xfrm>
          <a:prstGeom prst="ellipse">
            <a:avLst/>
          </a:prstGeom>
          <a:solidFill>
            <a:srgbClr val="4285F4"/>
          </a:solidFill>
          <a:ln/>
        </p:spPr>
      </p:sp>
      <p:sp>
        <p:nvSpPr>
          <p:cNvPr id="12" name="Text 10"/>
          <p:cNvSpPr/>
          <p:nvPr/>
        </p:nvSpPr>
        <p:spPr>
          <a:xfrm>
            <a:off x="822960" y="2487168"/>
            <a:ext cx="566928" cy="566928"/>
          </a:xfrm>
          <a:prstGeom prst="rect">
            <a:avLst/>
          </a:prstGeom>
          <a:noFill/>
          <a:ln/>
        </p:spPr>
        <p:txBody>
          <a:bodyPr wrap="square" lIns="0" tIns="0" rIns="0" bIns="0" rtlCol="0" anchor="ctr"/>
          <a:lstStyle/>
          <a:p>
            <a:pPr algn="ctr" indent="0" marL="0">
              <a:buNone/>
            </a:pPr>
            <a:r>
              <a:rPr lang="en-US" sz="1302" b="1" dirty="0">
                <a:solidFill>
                  <a:srgbClr val="FFFFFF"/>
                </a:solidFill>
                <a:latin typeface="Georgia" pitchFamily="34" charset="0"/>
                <a:ea typeface="Georgia" pitchFamily="34" charset="-122"/>
                <a:cs typeface="Georgia" pitchFamily="34" charset="-120"/>
              </a:rPr>
              <a:t>W</a:t>
            </a:r>
            <a:endParaRPr lang="en-US" sz="1302" dirty="0"/>
          </a:p>
        </p:txBody>
      </p:sp>
      <p:sp>
        <p:nvSpPr>
          <p:cNvPr id="13" name="Text 11"/>
          <p:cNvSpPr/>
          <p:nvPr/>
        </p:nvSpPr>
        <p:spPr>
          <a:xfrm>
            <a:off x="822960" y="3154680"/>
            <a:ext cx="3017520" cy="411480"/>
          </a:xfrm>
          <a:prstGeom prst="rect">
            <a:avLst/>
          </a:prstGeom>
          <a:noFill/>
          <a:ln/>
        </p:spPr>
        <p:txBody>
          <a:bodyPr wrap="square" lIns="0" tIns="0" rIns="0" bIns="0" rtlCol="0" anchor="ctr"/>
          <a:lstStyle/>
          <a:p>
            <a:pPr algn="l" indent="0" marL="0">
              <a:buNone/>
            </a:pPr>
            <a:r>
              <a:rPr lang="en-US" sz="1600" b="1" dirty="0">
                <a:solidFill>
                  <a:srgbClr val="202124"/>
                </a:solidFill>
                <a:latin typeface="Georgia" pitchFamily="34" charset="0"/>
                <a:ea typeface="Georgia" pitchFamily="34" charset="-122"/>
                <a:cs typeface="Georgia" pitchFamily="34" charset="-120"/>
              </a:rPr>
              <a:t>Websites &amp; apps</a:t>
            </a:r>
            <a:endParaRPr lang="en-US" sz="1600" dirty="0"/>
          </a:p>
        </p:txBody>
      </p:sp>
      <p:sp>
        <p:nvSpPr>
          <p:cNvPr id="14" name="Text 12"/>
          <p:cNvSpPr/>
          <p:nvPr/>
        </p:nvSpPr>
        <p:spPr>
          <a:xfrm>
            <a:off x="822960" y="3566160"/>
            <a:ext cx="3017520" cy="868680"/>
          </a:xfrm>
          <a:prstGeom prst="rect">
            <a:avLst/>
          </a:prstGeom>
          <a:noFill/>
          <a:ln/>
        </p:spPr>
        <p:txBody>
          <a:bodyPr wrap="square" lIns="0" tIns="0" rIns="0" bIns="0" rtlCol="0" anchor="t"/>
          <a:lstStyle/>
          <a:p>
            <a:pPr algn="l" indent="0" marL="0">
              <a:lnSpc>
                <a:spcPct val="112000"/>
              </a:lnSpc>
              <a:buNone/>
            </a:pPr>
            <a:r>
              <a:rPr lang="en-US" sz="1300" dirty="0">
                <a:solidFill>
                  <a:srgbClr val="5F6368"/>
                </a:solidFill>
                <a:latin typeface="Calibri" pitchFamily="34" charset="0"/>
                <a:ea typeface="Calibri" pitchFamily="34" charset="-122"/>
                <a:cs typeface="Calibri" pitchFamily="34" charset="-120"/>
              </a:rPr>
              <a:t>The tools that build modern sites (Angular, Next.js, React) are TypeScript-first.</a:t>
            </a:r>
            <a:endParaRPr lang="en-US" sz="1300" dirty="0"/>
          </a:p>
        </p:txBody>
      </p:sp>
      <p:sp>
        <p:nvSpPr>
          <p:cNvPr id="15" name="Shape 13"/>
          <p:cNvSpPr/>
          <p:nvPr/>
        </p:nvSpPr>
        <p:spPr>
          <a:xfrm>
            <a:off x="4251960" y="2286000"/>
            <a:ext cx="3474720" cy="2194560"/>
          </a:xfrm>
          <a:prstGeom prst="roundRect">
            <a:avLst>
              <a:gd name="adj" fmla="val 3750"/>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6" name="Shape 14"/>
          <p:cNvSpPr/>
          <p:nvPr/>
        </p:nvSpPr>
        <p:spPr>
          <a:xfrm>
            <a:off x="4526280" y="2487168"/>
            <a:ext cx="566928" cy="566928"/>
          </a:xfrm>
          <a:prstGeom prst="ellipse">
            <a:avLst/>
          </a:prstGeom>
          <a:solidFill>
            <a:srgbClr val="EA4335"/>
          </a:solidFill>
          <a:ln/>
        </p:spPr>
      </p:sp>
      <p:sp>
        <p:nvSpPr>
          <p:cNvPr id="17" name="Text 15"/>
          <p:cNvSpPr/>
          <p:nvPr/>
        </p:nvSpPr>
        <p:spPr>
          <a:xfrm>
            <a:off x="4526280" y="2487168"/>
            <a:ext cx="566928" cy="566928"/>
          </a:xfrm>
          <a:prstGeom prst="rect">
            <a:avLst/>
          </a:prstGeom>
          <a:noFill/>
          <a:ln/>
        </p:spPr>
        <p:txBody>
          <a:bodyPr wrap="square" lIns="0" tIns="0" rIns="0" bIns="0" rtlCol="0" anchor="ctr"/>
          <a:lstStyle/>
          <a:p>
            <a:pPr algn="ctr" indent="0" marL="0">
              <a:buNone/>
            </a:pPr>
            <a:r>
              <a:rPr lang="en-US" sz="1302" b="1" dirty="0">
                <a:solidFill>
                  <a:srgbClr val="FFFFFF"/>
                </a:solidFill>
                <a:latin typeface="Georgia" pitchFamily="34" charset="0"/>
                <a:ea typeface="Georgia" pitchFamily="34" charset="-122"/>
                <a:cs typeface="Georgia" pitchFamily="34" charset="-120"/>
              </a:rPr>
              <a:t>A</a:t>
            </a:r>
            <a:endParaRPr lang="en-US" sz="1302" dirty="0"/>
          </a:p>
        </p:txBody>
      </p:sp>
      <p:sp>
        <p:nvSpPr>
          <p:cNvPr id="18" name="Text 16"/>
          <p:cNvSpPr/>
          <p:nvPr/>
        </p:nvSpPr>
        <p:spPr>
          <a:xfrm>
            <a:off x="4526280" y="3154680"/>
            <a:ext cx="3017520" cy="411480"/>
          </a:xfrm>
          <a:prstGeom prst="rect">
            <a:avLst/>
          </a:prstGeom>
          <a:noFill/>
          <a:ln/>
        </p:spPr>
        <p:txBody>
          <a:bodyPr wrap="square" lIns="0" tIns="0" rIns="0" bIns="0" rtlCol="0" anchor="ctr"/>
          <a:lstStyle/>
          <a:p>
            <a:pPr algn="l" indent="0" marL="0">
              <a:buNone/>
            </a:pPr>
            <a:r>
              <a:rPr lang="en-US" sz="1600" b="1" dirty="0">
                <a:solidFill>
                  <a:srgbClr val="202124"/>
                </a:solidFill>
                <a:latin typeface="Georgia" pitchFamily="34" charset="0"/>
                <a:ea typeface="Georgia" pitchFamily="34" charset="-122"/>
                <a:cs typeface="Georgia" pitchFamily="34" charset="-120"/>
              </a:rPr>
              <a:t>AI tools</a:t>
            </a:r>
            <a:endParaRPr lang="en-US" sz="1600" dirty="0"/>
          </a:p>
        </p:txBody>
      </p:sp>
      <p:sp>
        <p:nvSpPr>
          <p:cNvPr id="19" name="Text 17"/>
          <p:cNvSpPr/>
          <p:nvPr/>
        </p:nvSpPr>
        <p:spPr>
          <a:xfrm>
            <a:off x="4526280" y="3566160"/>
            <a:ext cx="3017520" cy="868680"/>
          </a:xfrm>
          <a:prstGeom prst="rect">
            <a:avLst/>
          </a:prstGeom>
          <a:noFill/>
          <a:ln/>
        </p:spPr>
        <p:txBody>
          <a:bodyPr wrap="square" lIns="0" tIns="0" rIns="0" bIns="0" rtlCol="0" anchor="t"/>
          <a:lstStyle/>
          <a:p>
            <a:pPr algn="l" indent="0" marL="0">
              <a:lnSpc>
                <a:spcPct val="112000"/>
              </a:lnSpc>
              <a:buNone/>
            </a:pPr>
            <a:r>
              <a:rPr lang="en-US" sz="1300" dirty="0">
                <a:solidFill>
                  <a:srgbClr val="5F6368"/>
                </a:solidFill>
                <a:latin typeface="Calibri" pitchFamily="34" charset="0"/>
                <a:ea typeface="Calibri" pitchFamily="34" charset="-122"/>
                <a:cs typeface="Calibri" pitchFamily="34" charset="-120"/>
              </a:rPr>
              <a:t>Many AI apps and chatbots are built in TypeScript — it's a favorite for AI software.</a:t>
            </a:r>
            <a:endParaRPr lang="en-US" sz="1300" dirty="0"/>
          </a:p>
        </p:txBody>
      </p:sp>
      <p:sp>
        <p:nvSpPr>
          <p:cNvPr id="20" name="Shape 18"/>
          <p:cNvSpPr/>
          <p:nvPr/>
        </p:nvSpPr>
        <p:spPr>
          <a:xfrm>
            <a:off x="7955280" y="2286000"/>
            <a:ext cx="3474720" cy="2194560"/>
          </a:xfrm>
          <a:prstGeom prst="roundRect">
            <a:avLst>
              <a:gd name="adj" fmla="val 3750"/>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21" name="Shape 19"/>
          <p:cNvSpPr/>
          <p:nvPr/>
        </p:nvSpPr>
        <p:spPr>
          <a:xfrm>
            <a:off x="8229600" y="2487168"/>
            <a:ext cx="566928" cy="566928"/>
          </a:xfrm>
          <a:prstGeom prst="ellipse">
            <a:avLst/>
          </a:prstGeom>
          <a:solidFill>
            <a:srgbClr val="34A853"/>
          </a:solidFill>
          <a:ln/>
        </p:spPr>
      </p:sp>
      <p:sp>
        <p:nvSpPr>
          <p:cNvPr id="22" name="Text 20"/>
          <p:cNvSpPr/>
          <p:nvPr/>
        </p:nvSpPr>
        <p:spPr>
          <a:xfrm>
            <a:off x="8229600" y="2487168"/>
            <a:ext cx="566928" cy="566928"/>
          </a:xfrm>
          <a:prstGeom prst="rect">
            <a:avLst/>
          </a:prstGeom>
          <a:noFill/>
          <a:ln/>
        </p:spPr>
        <p:txBody>
          <a:bodyPr wrap="square" lIns="0" tIns="0" rIns="0" bIns="0" rtlCol="0" anchor="ctr"/>
          <a:lstStyle/>
          <a:p>
            <a:pPr algn="ctr" indent="0" marL="0">
              <a:buNone/>
            </a:pPr>
            <a:r>
              <a:rPr lang="en-US" sz="1302" b="1" dirty="0">
                <a:solidFill>
                  <a:srgbClr val="FFFFFF"/>
                </a:solidFill>
                <a:latin typeface="Georgia" pitchFamily="34" charset="0"/>
                <a:ea typeface="Georgia" pitchFamily="34" charset="-122"/>
                <a:cs typeface="Georgia" pitchFamily="34" charset="-120"/>
              </a:rPr>
              <a:t>B</a:t>
            </a:r>
            <a:endParaRPr lang="en-US" sz="1302" dirty="0"/>
          </a:p>
        </p:txBody>
      </p:sp>
      <p:sp>
        <p:nvSpPr>
          <p:cNvPr id="23" name="Text 21"/>
          <p:cNvSpPr/>
          <p:nvPr/>
        </p:nvSpPr>
        <p:spPr>
          <a:xfrm>
            <a:off x="8229600" y="3154680"/>
            <a:ext cx="3017520" cy="411480"/>
          </a:xfrm>
          <a:prstGeom prst="rect">
            <a:avLst/>
          </a:prstGeom>
          <a:noFill/>
          <a:ln/>
        </p:spPr>
        <p:txBody>
          <a:bodyPr wrap="square" lIns="0" tIns="0" rIns="0" bIns="0" rtlCol="0" anchor="ctr"/>
          <a:lstStyle/>
          <a:p>
            <a:pPr algn="l" indent="0" marL="0">
              <a:buNone/>
            </a:pPr>
            <a:r>
              <a:rPr lang="en-US" sz="1600" b="1" dirty="0">
                <a:solidFill>
                  <a:srgbClr val="202124"/>
                </a:solidFill>
                <a:latin typeface="Georgia" pitchFamily="34" charset="0"/>
                <a:ea typeface="Georgia" pitchFamily="34" charset="-122"/>
                <a:cs typeface="Georgia" pitchFamily="34" charset="-120"/>
              </a:rPr>
              <a:t>Big companies</a:t>
            </a:r>
            <a:endParaRPr lang="en-US" sz="1600" dirty="0"/>
          </a:p>
        </p:txBody>
      </p:sp>
      <p:sp>
        <p:nvSpPr>
          <p:cNvPr id="24" name="Text 22"/>
          <p:cNvSpPr/>
          <p:nvPr/>
        </p:nvSpPr>
        <p:spPr>
          <a:xfrm>
            <a:off x="8229600" y="3566160"/>
            <a:ext cx="3017520" cy="868680"/>
          </a:xfrm>
          <a:prstGeom prst="rect">
            <a:avLst/>
          </a:prstGeom>
          <a:noFill/>
          <a:ln/>
        </p:spPr>
        <p:txBody>
          <a:bodyPr wrap="square" lIns="0" tIns="0" rIns="0" bIns="0" rtlCol="0" anchor="t"/>
          <a:lstStyle/>
          <a:p>
            <a:pPr algn="l" indent="0" marL="0">
              <a:lnSpc>
                <a:spcPct val="112000"/>
              </a:lnSpc>
              <a:buNone/>
            </a:pPr>
            <a:r>
              <a:rPr lang="en-US" sz="1300" dirty="0">
                <a:solidFill>
                  <a:srgbClr val="5F6368"/>
                </a:solidFill>
                <a:latin typeface="Calibri" pitchFamily="34" charset="0"/>
                <a:ea typeface="Calibri" pitchFamily="34" charset="-122"/>
                <a:cs typeface="Calibri" pitchFamily="34" charset="-120"/>
              </a:rPr>
              <a:t>Microsoft, Google, Airbnb, Slack and countless others rely on it daily.</a:t>
            </a:r>
            <a:endParaRPr lang="en-US" sz="1300" dirty="0"/>
          </a:p>
        </p:txBody>
      </p:sp>
      <p:sp>
        <p:nvSpPr>
          <p:cNvPr id="25" name="Shape 23"/>
          <p:cNvSpPr/>
          <p:nvPr/>
        </p:nvSpPr>
        <p:spPr>
          <a:xfrm>
            <a:off x="548640" y="4709160"/>
            <a:ext cx="11064240" cy="914400"/>
          </a:xfrm>
          <a:prstGeom prst="roundRect">
            <a:avLst>
              <a:gd name="adj" fmla="val 9000"/>
            </a:avLst>
          </a:prstGeom>
          <a:solidFill>
            <a:srgbClr val="FEF7E0"/>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26" name="Text 24"/>
          <p:cNvSpPr/>
          <p:nvPr/>
        </p:nvSpPr>
        <p:spPr>
          <a:xfrm>
            <a:off x="868680" y="4709160"/>
            <a:ext cx="10424160" cy="914400"/>
          </a:xfrm>
          <a:prstGeom prst="rect">
            <a:avLst/>
          </a:prstGeom>
          <a:noFill/>
          <a:ln/>
        </p:spPr>
        <p:txBody>
          <a:bodyPr wrap="square" lIns="0" tIns="0" rIns="0" bIns="0" rtlCol="0" anchor="ctr"/>
          <a:lstStyle/>
          <a:p>
            <a:pPr algn="l" indent="0" marL="0">
              <a:lnSpc>
                <a:spcPct val="110000"/>
              </a:lnSpc>
              <a:buNone/>
            </a:pPr>
            <a:r>
              <a:rPr lang="en-US" sz="1400" b="1" dirty="0">
                <a:solidFill>
                  <a:srgbClr val="202124"/>
                </a:solidFill>
                <a:latin typeface="Calibri" pitchFamily="34" charset="0"/>
                <a:ea typeface="Calibri" pitchFamily="34" charset="-122"/>
                <a:cs typeface="Calibri" pitchFamily="34" charset="-120"/>
              </a:rPr>
              <a:t>In 2026, TypeScript became the #1 language on GitHub</a:t>
            </a:r>
            <a:pPr algn="l" indent="0" marL="0">
              <a:lnSpc>
                <a:spcPct val="110000"/>
              </a:lnSpc>
              <a:buNone/>
            </a:pPr>
            <a:r>
              <a:rPr lang="en-US" sz="1400" dirty="0">
                <a:solidFill>
                  <a:srgbClr val="5F6368"/>
                </a:solidFill>
                <a:latin typeface="Calibri" pitchFamily="34" charset="0"/>
                <a:ea typeface="Calibri" pitchFamily="34" charset="-122"/>
                <a:cs typeface="Calibri" pitchFamily="34" charset="-120"/>
              </a:rPr>
              <a:t> (the world's biggest code-sharing site) — with over 2.5 million developers using it. About 78% of professional developers now reach for it.</a:t>
            </a:r>
            <a:endParaRPr lang="en-US" sz="1400" dirty="0"/>
          </a:p>
        </p:txBody>
      </p:sp>
      <p:sp>
        <p:nvSpPr>
          <p:cNvPr id="27" name="Text 25"/>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28" name="Text 26"/>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34A853"/>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34A853"/>
                </a:solidFill>
                <a:latin typeface="Calibri" pitchFamily="34" charset="0"/>
                <a:ea typeface="Calibri" pitchFamily="34" charset="-122"/>
                <a:cs typeface="Calibri" pitchFamily="34" charset="-120"/>
              </a:rPr>
              <a:t>TYPESCRIPT</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Why AI LOVES TypeScript</a:t>
            </a:r>
            <a:endParaRPr lang="en-US" sz="2900" dirty="0"/>
          </a:p>
        </p:txBody>
      </p:sp>
      <p:sp>
        <p:nvSpPr>
          <p:cNvPr id="9" name="Text 7"/>
          <p:cNvSpPr/>
          <p:nvPr/>
        </p:nvSpPr>
        <p:spPr>
          <a:xfrm>
            <a:off x="548640" y="1691640"/>
            <a:ext cx="10972800" cy="822960"/>
          </a:xfrm>
          <a:prstGeom prst="rect">
            <a:avLst/>
          </a:prstGeom>
          <a:noFill/>
          <a:ln/>
        </p:spPr>
        <p:txBody>
          <a:bodyPr wrap="square" lIns="0" tIns="0" rIns="0" bIns="0" rtlCol="0" anchor="t"/>
          <a:lstStyle/>
          <a:p>
            <a:pPr algn="l" indent="0" marL="0">
              <a:lnSpc>
                <a:spcPct val="115000"/>
              </a:lnSpc>
              <a:buNone/>
            </a:pPr>
            <a:r>
              <a:rPr lang="en-US" sz="1600" dirty="0">
                <a:solidFill>
                  <a:srgbClr val="5F6368"/>
                </a:solidFill>
                <a:latin typeface="Calibri" pitchFamily="34" charset="0"/>
                <a:ea typeface="Calibri" pitchFamily="34" charset="-122"/>
                <a:cs typeface="Calibri" pitchFamily="34" charset="-120"/>
              </a:rPr>
              <a:t>Here's a neat twist: the “types” that keep humans safe also make AI a better coder. The type labels act like a set of instructions the AI can follow.</a:t>
            </a:r>
            <a:endParaRPr lang="en-US" sz="1600" dirty="0"/>
          </a:p>
        </p:txBody>
      </p:sp>
      <p:sp>
        <p:nvSpPr>
          <p:cNvPr id="10" name="Shape 8"/>
          <p:cNvSpPr/>
          <p:nvPr/>
        </p:nvSpPr>
        <p:spPr>
          <a:xfrm>
            <a:off x="548640" y="2697480"/>
            <a:ext cx="5394960" cy="2606040"/>
          </a:xfrm>
          <a:prstGeom prst="roundRect">
            <a:avLst>
              <a:gd name="adj" fmla="val 3158"/>
            </a:avLst>
          </a:prstGeom>
          <a:solidFill>
            <a:srgbClr val="F8F9FA"/>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1" name="Text 9"/>
          <p:cNvSpPr/>
          <p:nvPr/>
        </p:nvSpPr>
        <p:spPr>
          <a:xfrm>
            <a:off x="822960" y="2926080"/>
            <a:ext cx="4846320" cy="411480"/>
          </a:xfrm>
          <a:prstGeom prst="rect">
            <a:avLst/>
          </a:prstGeom>
          <a:noFill/>
          <a:ln/>
        </p:spPr>
        <p:txBody>
          <a:bodyPr wrap="square" lIns="0" tIns="0" rIns="0" bIns="0" rtlCol="0" anchor="ctr"/>
          <a:lstStyle/>
          <a:p>
            <a:pPr algn="l" indent="0" marL="0">
              <a:buNone/>
            </a:pPr>
            <a:r>
              <a:rPr lang="en-US" sz="1500" b="1" dirty="0">
                <a:solidFill>
                  <a:srgbClr val="80868B"/>
                </a:solidFill>
                <a:latin typeface="Calibri" pitchFamily="34" charset="0"/>
                <a:ea typeface="Calibri" pitchFamily="34" charset="-122"/>
                <a:cs typeface="Calibri" pitchFamily="34" charset="-120"/>
              </a:rPr>
              <a:t>Without types</a:t>
            </a:r>
            <a:endParaRPr lang="en-US" sz="1500" dirty="0"/>
          </a:p>
        </p:txBody>
      </p:sp>
      <p:sp>
        <p:nvSpPr>
          <p:cNvPr id="12" name="Text 10"/>
          <p:cNvSpPr/>
          <p:nvPr/>
        </p:nvSpPr>
        <p:spPr>
          <a:xfrm>
            <a:off x="822960" y="3383280"/>
            <a:ext cx="4846320" cy="1737360"/>
          </a:xfrm>
          <a:prstGeom prst="rect">
            <a:avLst/>
          </a:prstGeom>
          <a:noFill/>
          <a:ln/>
        </p:spPr>
        <p:txBody>
          <a:bodyPr wrap="square" lIns="0" tIns="0" rIns="0" bIns="0" rtlCol="0" anchor="t"/>
          <a:lstStyle/>
          <a:p>
            <a:pPr algn="l" indent="0" marL="0">
              <a:lnSpc>
                <a:spcPct val="118000"/>
              </a:lnSpc>
              <a:buNone/>
            </a:pPr>
            <a:r>
              <a:rPr lang="en-US" sz="1450" dirty="0">
                <a:solidFill>
                  <a:srgbClr val="5F6368"/>
                </a:solidFill>
                <a:latin typeface="Calibri" pitchFamily="34" charset="0"/>
                <a:ea typeface="Calibri" pitchFamily="34" charset="-122"/>
                <a:cs typeface="Calibri" pitchFamily="34" charset="-120"/>
              </a:rPr>
              <a:t>AI has to guess what kind of data it's working with — and guesses can be wrong, creating hidden bugs.</a:t>
            </a:r>
            <a:endParaRPr lang="en-US" sz="1450" dirty="0"/>
          </a:p>
        </p:txBody>
      </p:sp>
      <p:sp>
        <p:nvSpPr>
          <p:cNvPr id="13" name="Shape 11"/>
          <p:cNvSpPr/>
          <p:nvPr/>
        </p:nvSpPr>
        <p:spPr>
          <a:xfrm>
            <a:off x="6217920" y="2697480"/>
            <a:ext cx="5394960" cy="2606040"/>
          </a:xfrm>
          <a:prstGeom prst="roundRect">
            <a:avLst>
              <a:gd name="adj" fmla="val 3158"/>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4" name="Shape 12"/>
          <p:cNvSpPr/>
          <p:nvPr/>
        </p:nvSpPr>
        <p:spPr>
          <a:xfrm>
            <a:off x="6217920" y="2697480"/>
            <a:ext cx="91440" cy="2606040"/>
          </a:xfrm>
          <a:prstGeom prst="rect">
            <a:avLst/>
          </a:prstGeom>
          <a:solidFill>
            <a:srgbClr val="34A853"/>
          </a:solidFill>
          <a:ln/>
        </p:spPr>
      </p:sp>
      <p:sp>
        <p:nvSpPr>
          <p:cNvPr id="15" name="Text 13"/>
          <p:cNvSpPr/>
          <p:nvPr/>
        </p:nvSpPr>
        <p:spPr>
          <a:xfrm>
            <a:off x="6492240" y="2926080"/>
            <a:ext cx="4846320" cy="411480"/>
          </a:xfrm>
          <a:prstGeom prst="rect">
            <a:avLst/>
          </a:prstGeom>
          <a:noFill/>
          <a:ln/>
        </p:spPr>
        <p:txBody>
          <a:bodyPr wrap="square" lIns="0" tIns="0" rIns="0" bIns="0" rtlCol="0" anchor="ctr"/>
          <a:lstStyle/>
          <a:p>
            <a:pPr algn="l" indent="0" marL="0">
              <a:buNone/>
            </a:pPr>
            <a:r>
              <a:rPr lang="en-US" sz="1500" b="1" dirty="0">
                <a:solidFill>
                  <a:srgbClr val="34A853"/>
                </a:solidFill>
                <a:latin typeface="Calibri" pitchFamily="34" charset="0"/>
                <a:ea typeface="Calibri" pitchFamily="34" charset="-122"/>
                <a:cs typeface="Calibri" pitchFamily="34" charset="-120"/>
              </a:rPr>
              <a:t>With TypeScript</a:t>
            </a:r>
            <a:endParaRPr lang="en-US" sz="1500" dirty="0"/>
          </a:p>
        </p:txBody>
      </p:sp>
      <p:sp>
        <p:nvSpPr>
          <p:cNvPr id="16" name="Text 14"/>
          <p:cNvSpPr/>
          <p:nvPr/>
        </p:nvSpPr>
        <p:spPr>
          <a:xfrm>
            <a:off x="6492240" y="3383280"/>
            <a:ext cx="4846320" cy="1737360"/>
          </a:xfrm>
          <a:prstGeom prst="rect">
            <a:avLst/>
          </a:prstGeom>
          <a:noFill/>
          <a:ln/>
        </p:spPr>
        <p:txBody>
          <a:bodyPr wrap="square" lIns="0" tIns="0" rIns="0" bIns="0" rtlCol="0" anchor="t"/>
          <a:lstStyle/>
          <a:p>
            <a:pPr algn="l" indent="0" marL="0">
              <a:lnSpc>
                <a:spcPct val="118000"/>
              </a:lnSpc>
              <a:buNone/>
            </a:pPr>
            <a:r>
              <a:rPr lang="en-US" sz="1450" dirty="0">
                <a:solidFill>
                  <a:srgbClr val="5F6368"/>
                </a:solidFill>
                <a:latin typeface="Calibri" pitchFamily="34" charset="0"/>
                <a:ea typeface="Calibri" pitchFamily="34" charset="-122"/>
                <a:cs typeface="Calibri" pitchFamily="34" charset="-120"/>
              </a:rPr>
              <a:t>The types tell the AI exactly what's expected, so tools like Copilot and Claude write more accurate code — and mistakes get caught immediately.</a:t>
            </a:r>
            <a:endParaRPr lang="en-US" sz="1450" dirty="0"/>
          </a:p>
        </p:txBody>
      </p:sp>
      <p:sp>
        <p:nvSpPr>
          <p:cNvPr id="17" name="Text 15"/>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18" name="Text 16"/>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EA4335"/>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EA4335"/>
                </a:solidFill>
                <a:latin typeface="Calibri" pitchFamily="34" charset="0"/>
                <a:ea typeface="Calibri" pitchFamily="34" charset="-122"/>
                <a:cs typeface="Calibri" pitchFamily="34" charset="-120"/>
              </a:rPr>
              <a:t>FRESH NEWS</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Brand new: TypeScript 7 (2026)</a:t>
            </a:r>
            <a:endParaRPr lang="en-US" sz="2900" dirty="0"/>
          </a:p>
        </p:txBody>
      </p:sp>
      <p:sp>
        <p:nvSpPr>
          <p:cNvPr id="9" name="Text 7"/>
          <p:cNvSpPr/>
          <p:nvPr/>
        </p:nvSpPr>
        <p:spPr>
          <a:xfrm>
            <a:off x="548640" y="1691640"/>
            <a:ext cx="10972800" cy="822960"/>
          </a:xfrm>
          <a:prstGeom prst="rect">
            <a:avLst/>
          </a:prstGeom>
          <a:noFill/>
          <a:ln/>
        </p:spPr>
        <p:txBody>
          <a:bodyPr wrap="square" lIns="0" tIns="0" rIns="0" bIns="0" rtlCol="0" anchor="t"/>
          <a:lstStyle/>
          <a:p>
            <a:pPr algn="l" indent="0" marL="0">
              <a:lnSpc>
                <a:spcPct val="115000"/>
              </a:lnSpc>
              <a:buNone/>
            </a:pPr>
            <a:r>
              <a:rPr lang="en-US" sz="1600" dirty="0">
                <a:solidFill>
                  <a:srgbClr val="5F6368"/>
                </a:solidFill>
                <a:latin typeface="Calibri" pitchFamily="34" charset="0"/>
                <a:ea typeface="Calibri" pitchFamily="34" charset="-122"/>
                <a:cs typeface="Calibri" pitchFamily="34" charset="-120"/>
              </a:rPr>
              <a:t>This is hot off the press — it shipped just weeks ago, in July 2026. The team rebuilt TypeScript from scratch to make it about 10 times faster.</a:t>
            </a:r>
            <a:endParaRPr lang="en-US" sz="1600" dirty="0"/>
          </a:p>
        </p:txBody>
      </p:sp>
      <p:sp>
        <p:nvSpPr>
          <p:cNvPr id="10" name="Shape 8"/>
          <p:cNvSpPr/>
          <p:nvPr/>
        </p:nvSpPr>
        <p:spPr>
          <a:xfrm>
            <a:off x="548640" y="2697480"/>
            <a:ext cx="5486400" cy="2606040"/>
          </a:xfrm>
          <a:prstGeom prst="roundRect">
            <a:avLst>
              <a:gd name="adj" fmla="val 3158"/>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1" name="Text 9"/>
          <p:cNvSpPr/>
          <p:nvPr/>
        </p:nvSpPr>
        <p:spPr>
          <a:xfrm>
            <a:off x="822960" y="2880360"/>
            <a:ext cx="4937760" cy="411480"/>
          </a:xfrm>
          <a:prstGeom prst="rect">
            <a:avLst/>
          </a:prstGeom>
          <a:noFill/>
          <a:ln/>
        </p:spPr>
        <p:txBody>
          <a:bodyPr wrap="square" lIns="0" tIns="0" rIns="0" bIns="0" rtlCol="0" anchor="ctr"/>
          <a:lstStyle/>
          <a:p>
            <a:pPr algn="l" indent="0" marL="0">
              <a:buNone/>
            </a:pPr>
            <a:r>
              <a:rPr lang="en-US" sz="1550" b="1" dirty="0">
                <a:solidFill>
                  <a:srgbClr val="202124"/>
                </a:solidFill>
                <a:latin typeface="Georgia" pitchFamily="34" charset="0"/>
                <a:ea typeface="Georgia" pitchFamily="34" charset="-122"/>
                <a:cs typeface="Georgia" pitchFamily="34" charset="-120"/>
              </a:rPr>
              <a:t>Real example: building VS Code</a:t>
            </a:r>
            <a:endParaRPr lang="en-US" sz="1550" dirty="0"/>
          </a:p>
        </p:txBody>
      </p:sp>
      <p:sp>
        <p:nvSpPr>
          <p:cNvPr id="12" name="Text 10"/>
          <p:cNvSpPr/>
          <p:nvPr/>
        </p:nvSpPr>
        <p:spPr>
          <a:xfrm>
            <a:off x="822960" y="3429000"/>
            <a:ext cx="731520" cy="365760"/>
          </a:xfrm>
          <a:prstGeom prst="rect">
            <a:avLst/>
          </a:prstGeom>
          <a:noFill/>
          <a:ln/>
        </p:spPr>
        <p:txBody>
          <a:bodyPr wrap="square" lIns="0" tIns="0" rIns="0" bIns="0" rtlCol="0" anchor="ctr"/>
          <a:lstStyle/>
          <a:p>
            <a:pPr algn="l" indent="0" marL="0">
              <a:buNone/>
            </a:pPr>
            <a:r>
              <a:rPr lang="en-US" sz="1300" dirty="0">
                <a:solidFill>
                  <a:srgbClr val="5F6368"/>
                </a:solidFill>
                <a:latin typeface="Calibri" pitchFamily="34" charset="0"/>
                <a:ea typeface="Calibri" pitchFamily="34" charset="-122"/>
                <a:cs typeface="Calibri" pitchFamily="34" charset="-120"/>
              </a:rPr>
              <a:t>Old</a:t>
            </a:r>
            <a:endParaRPr lang="en-US" sz="1300" dirty="0"/>
          </a:p>
        </p:txBody>
      </p:sp>
      <p:sp>
        <p:nvSpPr>
          <p:cNvPr id="13" name="Shape 11"/>
          <p:cNvSpPr/>
          <p:nvPr/>
        </p:nvSpPr>
        <p:spPr>
          <a:xfrm>
            <a:off x="1554480" y="3456432"/>
            <a:ext cx="4114800" cy="310896"/>
          </a:xfrm>
          <a:prstGeom prst="roundRect">
            <a:avLst>
              <a:gd name="adj" fmla="val 11765"/>
            </a:avLst>
          </a:prstGeom>
          <a:solidFill>
            <a:srgbClr val="EA4335"/>
          </a:solidFill>
          <a:ln/>
        </p:spPr>
      </p:sp>
      <p:sp>
        <p:nvSpPr>
          <p:cNvPr id="14" name="Text 12"/>
          <p:cNvSpPr/>
          <p:nvPr/>
        </p:nvSpPr>
        <p:spPr>
          <a:xfrm>
            <a:off x="4023360" y="3429000"/>
            <a:ext cx="1828800" cy="36576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125 sec</a:t>
            </a:r>
            <a:endParaRPr lang="en-US" sz="1200" dirty="0"/>
          </a:p>
        </p:txBody>
      </p:sp>
      <p:sp>
        <p:nvSpPr>
          <p:cNvPr id="15" name="Text 13"/>
          <p:cNvSpPr/>
          <p:nvPr/>
        </p:nvSpPr>
        <p:spPr>
          <a:xfrm>
            <a:off x="822960" y="3977640"/>
            <a:ext cx="731520" cy="365760"/>
          </a:xfrm>
          <a:prstGeom prst="rect">
            <a:avLst/>
          </a:prstGeom>
          <a:noFill/>
          <a:ln/>
        </p:spPr>
        <p:txBody>
          <a:bodyPr wrap="square" lIns="0" tIns="0" rIns="0" bIns="0" rtlCol="0" anchor="ctr"/>
          <a:lstStyle/>
          <a:p>
            <a:pPr algn="l" indent="0" marL="0">
              <a:buNone/>
            </a:pPr>
            <a:r>
              <a:rPr lang="en-US" sz="1300" dirty="0">
                <a:solidFill>
                  <a:srgbClr val="5F6368"/>
                </a:solidFill>
                <a:latin typeface="Calibri" pitchFamily="34" charset="0"/>
                <a:ea typeface="Calibri" pitchFamily="34" charset="-122"/>
                <a:cs typeface="Calibri" pitchFamily="34" charset="-120"/>
              </a:rPr>
              <a:t>New</a:t>
            </a:r>
            <a:endParaRPr lang="en-US" sz="1300" dirty="0"/>
          </a:p>
        </p:txBody>
      </p:sp>
      <p:sp>
        <p:nvSpPr>
          <p:cNvPr id="16" name="Shape 14"/>
          <p:cNvSpPr/>
          <p:nvPr/>
        </p:nvSpPr>
        <p:spPr>
          <a:xfrm>
            <a:off x="1554480" y="4005072"/>
            <a:ext cx="457200" cy="310896"/>
          </a:xfrm>
          <a:prstGeom prst="roundRect">
            <a:avLst>
              <a:gd name="adj" fmla="val 11765"/>
            </a:avLst>
          </a:prstGeom>
          <a:solidFill>
            <a:srgbClr val="34A853"/>
          </a:solidFill>
          <a:ln/>
        </p:spPr>
      </p:sp>
      <p:sp>
        <p:nvSpPr>
          <p:cNvPr id="17" name="Text 15"/>
          <p:cNvSpPr/>
          <p:nvPr/>
        </p:nvSpPr>
        <p:spPr>
          <a:xfrm>
            <a:off x="2103120" y="3977640"/>
            <a:ext cx="1828800" cy="365760"/>
          </a:xfrm>
          <a:prstGeom prst="rect">
            <a:avLst/>
          </a:prstGeom>
          <a:noFill/>
          <a:ln/>
        </p:spPr>
        <p:txBody>
          <a:bodyPr wrap="square" lIns="0" tIns="0" rIns="0" bIns="0" rtlCol="0" anchor="ctr"/>
          <a:lstStyle/>
          <a:p>
            <a:pPr algn="l" indent="0" marL="0">
              <a:buNone/>
            </a:pPr>
            <a:r>
              <a:rPr lang="en-US" sz="1200" b="1" dirty="0">
                <a:solidFill>
                  <a:srgbClr val="34A853"/>
                </a:solidFill>
                <a:latin typeface="Calibri" pitchFamily="34" charset="0"/>
                <a:ea typeface="Calibri" pitchFamily="34" charset="-122"/>
                <a:cs typeface="Calibri" pitchFamily="34" charset="-120"/>
              </a:rPr>
              <a:t>~10 sec</a:t>
            </a:r>
            <a:endParaRPr lang="en-US" sz="1200" dirty="0"/>
          </a:p>
        </p:txBody>
      </p:sp>
      <p:sp>
        <p:nvSpPr>
          <p:cNvPr id="18" name="Text 16"/>
          <p:cNvSpPr/>
          <p:nvPr/>
        </p:nvSpPr>
        <p:spPr>
          <a:xfrm>
            <a:off x="822960" y="4617720"/>
            <a:ext cx="4937760" cy="548640"/>
          </a:xfrm>
          <a:prstGeom prst="rect">
            <a:avLst/>
          </a:prstGeom>
          <a:noFill/>
          <a:ln/>
        </p:spPr>
        <p:txBody>
          <a:bodyPr wrap="square" lIns="0" tIns="0" rIns="0" bIns="0" rtlCol="0" anchor="t"/>
          <a:lstStyle/>
          <a:p>
            <a:pPr algn="l" indent="0" marL="0">
              <a:buNone/>
            </a:pPr>
            <a:r>
              <a:rPr lang="en-US" sz="1300" i="1" dirty="0">
                <a:solidFill>
                  <a:srgbClr val="5F6368"/>
                </a:solidFill>
                <a:latin typeface="Calibri" pitchFamily="34" charset="0"/>
                <a:ea typeface="Calibri" pitchFamily="34" charset="-122"/>
                <a:cs typeface="Calibri" pitchFamily="34" charset="-120"/>
              </a:rPr>
              <a:t>From nearly 2 minutes down to about 10 seconds!</a:t>
            </a:r>
            <a:endParaRPr lang="en-US" sz="1300" dirty="0"/>
          </a:p>
        </p:txBody>
      </p:sp>
      <p:sp>
        <p:nvSpPr>
          <p:cNvPr id="19" name="Shape 17"/>
          <p:cNvSpPr/>
          <p:nvPr/>
        </p:nvSpPr>
        <p:spPr>
          <a:xfrm>
            <a:off x="6309360" y="2697480"/>
            <a:ext cx="5303520" cy="2606040"/>
          </a:xfrm>
          <a:prstGeom prst="roundRect">
            <a:avLst>
              <a:gd name="adj" fmla="val 3158"/>
            </a:avLst>
          </a:prstGeom>
          <a:solidFill>
            <a:srgbClr val="F8F9FA"/>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20" name="Text 18"/>
          <p:cNvSpPr/>
          <p:nvPr/>
        </p:nvSpPr>
        <p:spPr>
          <a:xfrm>
            <a:off x="6583680" y="2880360"/>
            <a:ext cx="4754880" cy="411480"/>
          </a:xfrm>
          <a:prstGeom prst="rect">
            <a:avLst/>
          </a:prstGeom>
          <a:noFill/>
          <a:ln/>
        </p:spPr>
        <p:txBody>
          <a:bodyPr wrap="square" lIns="0" tIns="0" rIns="0" bIns="0" rtlCol="0" anchor="ctr"/>
          <a:lstStyle/>
          <a:p>
            <a:pPr algn="l" indent="0" marL="0">
              <a:buNone/>
            </a:pPr>
            <a:r>
              <a:rPr lang="en-US" sz="1550" b="1" dirty="0">
                <a:solidFill>
                  <a:srgbClr val="4285F4"/>
                </a:solidFill>
                <a:latin typeface="Georgia" pitchFamily="34" charset="0"/>
                <a:ea typeface="Georgia" pitchFamily="34" charset="-122"/>
                <a:cs typeface="Georgia" pitchFamily="34" charset="-120"/>
              </a:rPr>
              <a:t>How'd they do it?</a:t>
            </a:r>
            <a:endParaRPr lang="en-US" sz="1550" dirty="0"/>
          </a:p>
        </p:txBody>
      </p:sp>
      <p:sp>
        <p:nvSpPr>
          <p:cNvPr id="21" name="Text 19"/>
          <p:cNvSpPr/>
          <p:nvPr/>
        </p:nvSpPr>
        <p:spPr>
          <a:xfrm>
            <a:off x="6583680" y="3337560"/>
            <a:ext cx="4754880" cy="1828800"/>
          </a:xfrm>
          <a:prstGeom prst="rect">
            <a:avLst/>
          </a:prstGeom>
          <a:noFill/>
          <a:ln/>
        </p:spPr>
        <p:txBody>
          <a:bodyPr wrap="square" lIns="0" tIns="0" rIns="0" bIns="0" rtlCol="0" anchor="t"/>
          <a:lstStyle/>
          <a:p>
            <a:pPr algn="l" indent="0" marL="0">
              <a:lnSpc>
                <a:spcPct val="115000"/>
              </a:lnSpc>
              <a:buNone/>
            </a:pPr>
            <a:r>
              <a:rPr lang="en-US" sz="1350" dirty="0">
                <a:solidFill>
                  <a:srgbClr val="5F6368"/>
                </a:solidFill>
                <a:latin typeface="Calibri" pitchFamily="34" charset="0"/>
                <a:ea typeface="Calibri" pitchFamily="34" charset="-122"/>
                <a:cs typeface="Calibri" pitchFamily="34" charset="-120"/>
              </a:rPr>
              <a:t>They rewrote TypeScript in another language called </a:t>
            </a:r>
            <a:pPr algn="l" indent="0" marL="0">
              <a:lnSpc>
                <a:spcPct val="115000"/>
              </a:lnSpc>
              <a:buNone/>
            </a:pPr>
            <a:r>
              <a:rPr lang="en-US" sz="1350" b="1" dirty="0">
                <a:solidFill>
                  <a:srgbClr val="4285F4"/>
                </a:solidFill>
                <a:latin typeface="Calibri" pitchFamily="34" charset="0"/>
                <a:ea typeface="Calibri" pitchFamily="34" charset="-122"/>
                <a:cs typeface="Calibri" pitchFamily="34" charset="-120"/>
              </a:rPr>
              <a:t>Go</a:t>
            </a:r>
            <a:pPr algn="l" indent="0" marL="0">
              <a:lnSpc>
                <a:spcPct val="115000"/>
              </a:lnSpc>
              <a:buNone/>
            </a:pPr>
            <a:r>
              <a:rPr lang="en-US" sz="1350" dirty="0">
                <a:solidFill>
                  <a:srgbClr val="5F6368"/>
                </a:solidFill>
                <a:latin typeface="Calibri" pitchFamily="34" charset="0"/>
                <a:ea typeface="Calibri" pitchFamily="34" charset="-122"/>
                <a:cs typeface="Calibri" pitchFamily="34" charset="-120"/>
              </a:rPr>
              <a:t>, which runs closer to the machine and can use all your computer's cores at once.</a:t>
            </a:r>
            <a:pPr algn="l" indent="0" marL="0">
              <a:lnSpc>
                <a:spcPct val="115000"/>
              </a:lnSpc>
              <a:buNone/>
            </a:pPr>
            <a:endParaRPr lang="en-US" sz="1350" dirty="0"/>
          </a:p>
          <a:p>
            <a:pPr algn="l" indent="0" marL="0">
              <a:lnSpc>
                <a:spcPct val="115000"/>
              </a:lnSpc>
              <a:buNone/>
            </a:pPr>
            <a:endParaRPr lang="en-US" sz="1350" dirty="0"/>
          </a:p>
          <a:p>
            <a:pPr algn="l" indent="0" marL="0">
              <a:lnSpc>
                <a:spcPct val="115000"/>
              </a:lnSpc>
              <a:buNone/>
            </a:pPr>
            <a:r>
              <a:rPr lang="en-US" sz="1350" b="1" dirty="0">
                <a:solidFill>
                  <a:srgbClr val="202124"/>
                </a:solidFill>
                <a:latin typeface="Calibri" pitchFamily="34" charset="0"/>
                <a:ea typeface="Calibri" pitchFamily="34" charset="-122"/>
                <a:cs typeface="Calibri" pitchFamily="34" charset="-120"/>
              </a:rPr>
              <a:t>Why you care: </a:t>
            </a:r>
            <a:endParaRPr lang="en-US" sz="1350" dirty="0"/>
          </a:p>
          <a:p>
            <a:pPr algn="l" indent="0" marL="0">
              <a:lnSpc>
                <a:spcPct val="115000"/>
              </a:lnSpc>
              <a:buNone/>
            </a:pPr>
            <a:r>
              <a:rPr lang="en-US" sz="1350" dirty="0">
                <a:solidFill>
                  <a:srgbClr val="5F6368"/>
                </a:solidFill>
                <a:latin typeface="Calibri" pitchFamily="34" charset="0"/>
                <a:ea typeface="Calibri" pitchFamily="34" charset="-122"/>
                <a:cs typeface="Calibri" pitchFamily="34" charset="-120"/>
              </a:rPr>
              <a:t>faster tools mean the computer tells you about mistakes almost instantly while you type.</a:t>
            </a:r>
            <a:endParaRPr lang="en-US" sz="1350" dirty="0"/>
          </a:p>
        </p:txBody>
      </p:sp>
      <p:sp>
        <p:nvSpPr>
          <p:cNvPr id="22" name="Text 20"/>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23" name="Text 21"/>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4285F4"/>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4285F4"/>
                </a:solidFill>
                <a:latin typeface="Calibri" pitchFamily="34" charset="0"/>
                <a:ea typeface="Calibri" pitchFamily="34" charset="-122"/>
                <a:cs typeface="Calibri" pitchFamily="34" charset="-120"/>
              </a:rPr>
              <a:t>TYPESCRIPT</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So why learn TypeScript?</a:t>
            </a:r>
            <a:endParaRPr lang="en-US" sz="2900" dirty="0"/>
          </a:p>
        </p:txBody>
      </p:sp>
      <p:sp>
        <p:nvSpPr>
          <p:cNvPr id="9" name="Shape 7"/>
          <p:cNvSpPr/>
          <p:nvPr/>
        </p:nvSpPr>
        <p:spPr>
          <a:xfrm>
            <a:off x="548640" y="1783080"/>
            <a:ext cx="3474720" cy="1417320"/>
          </a:xfrm>
          <a:prstGeom prst="roundRect">
            <a:avLst>
              <a:gd name="adj" fmla="val 5806"/>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0" name="Shape 8"/>
          <p:cNvSpPr/>
          <p:nvPr/>
        </p:nvSpPr>
        <p:spPr>
          <a:xfrm>
            <a:off x="548640" y="1920240"/>
            <a:ext cx="82296" cy="1143000"/>
          </a:xfrm>
          <a:prstGeom prst="rect">
            <a:avLst/>
          </a:prstGeom>
          <a:solidFill>
            <a:srgbClr val="4285F4"/>
          </a:solidFill>
          <a:ln/>
        </p:spPr>
      </p:sp>
      <p:sp>
        <p:nvSpPr>
          <p:cNvPr id="11" name="Text 9"/>
          <p:cNvSpPr/>
          <p:nvPr/>
        </p:nvSpPr>
        <p:spPr>
          <a:xfrm>
            <a:off x="804672" y="1965960"/>
            <a:ext cx="3108960" cy="411480"/>
          </a:xfrm>
          <a:prstGeom prst="rect">
            <a:avLst/>
          </a:prstGeom>
          <a:noFill/>
          <a:ln/>
        </p:spPr>
        <p:txBody>
          <a:bodyPr wrap="square" lIns="0" tIns="0" rIns="0" bIns="0" rtlCol="0" anchor="ctr"/>
          <a:lstStyle/>
          <a:p>
            <a:pPr algn="l" indent="0" marL="0">
              <a:buNone/>
            </a:pPr>
            <a:r>
              <a:rPr lang="en-US" sz="1600" b="1" dirty="0">
                <a:solidFill>
                  <a:srgbClr val="202124"/>
                </a:solidFill>
                <a:latin typeface="Georgia" pitchFamily="34" charset="0"/>
                <a:ea typeface="Georgia" pitchFamily="34" charset="-122"/>
                <a:cs typeface="Georgia" pitchFamily="34" charset="-120"/>
              </a:rPr>
              <a:t>It's everywhere</a:t>
            </a:r>
            <a:endParaRPr lang="en-US" sz="1600" dirty="0"/>
          </a:p>
        </p:txBody>
      </p:sp>
      <p:sp>
        <p:nvSpPr>
          <p:cNvPr id="12" name="Text 10"/>
          <p:cNvSpPr/>
          <p:nvPr/>
        </p:nvSpPr>
        <p:spPr>
          <a:xfrm>
            <a:off x="804672" y="2404872"/>
            <a:ext cx="3108960" cy="731520"/>
          </a:xfrm>
          <a:prstGeom prst="rect">
            <a:avLst/>
          </a:prstGeom>
          <a:noFill/>
          <a:ln/>
        </p:spPr>
        <p:txBody>
          <a:bodyPr wrap="square" lIns="0" tIns="0" rIns="0" bIns="0" rtlCol="0" anchor="t"/>
          <a:lstStyle/>
          <a:p>
            <a:pPr algn="l" indent="0" marL="0">
              <a:lnSpc>
                <a:spcPct val="110000"/>
              </a:lnSpc>
              <a:buNone/>
            </a:pPr>
            <a:r>
              <a:rPr lang="en-US" sz="1250" dirty="0">
                <a:solidFill>
                  <a:srgbClr val="5F6368"/>
                </a:solidFill>
                <a:latin typeface="Calibri" pitchFamily="34" charset="0"/>
                <a:ea typeface="Calibri" pitchFamily="34" charset="-122"/>
                <a:cs typeface="Calibri" pitchFamily="34" charset="-120"/>
              </a:rPr>
              <a:t>One of the most-used languages on Earth — real job skill.</a:t>
            </a:r>
            <a:endParaRPr lang="en-US" sz="1250" dirty="0"/>
          </a:p>
        </p:txBody>
      </p:sp>
      <p:sp>
        <p:nvSpPr>
          <p:cNvPr id="13" name="Shape 11"/>
          <p:cNvSpPr/>
          <p:nvPr/>
        </p:nvSpPr>
        <p:spPr>
          <a:xfrm>
            <a:off x="4251960" y="1783080"/>
            <a:ext cx="3474720" cy="1417320"/>
          </a:xfrm>
          <a:prstGeom prst="roundRect">
            <a:avLst>
              <a:gd name="adj" fmla="val 5806"/>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4" name="Shape 12"/>
          <p:cNvSpPr/>
          <p:nvPr/>
        </p:nvSpPr>
        <p:spPr>
          <a:xfrm>
            <a:off x="4251960" y="1920240"/>
            <a:ext cx="82296" cy="1143000"/>
          </a:xfrm>
          <a:prstGeom prst="rect">
            <a:avLst/>
          </a:prstGeom>
          <a:solidFill>
            <a:srgbClr val="EA4335"/>
          </a:solidFill>
          <a:ln/>
        </p:spPr>
      </p:sp>
      <p:sp>
        <p:nvSpPr>
          <p:cNvPr id="15" name="Text 13"/>
          <p:cNvSpPr/>
          <p:nvPr/>
        </p:nvSpPr>
        <p:spPr>
          <a:xfrm>
            <a:off x="4507992" y="1965960"/>
            <a:ext cx="3108960" cy="411480"/>
          </a:xfrm>
          <a:prstGeom prst="rect">
            <a:avLst/>
          </a:prstGeom>
          <a:noFill/>
          <a:ln/>
        </p:spPr>
        <p:txBody>
          <a:bodyPr wrap="square" lIns="0" tIns="0" rIns="0" bIns="0" rtlCol="0" anchor="ctr"/>
          <a:lstStyle/>
          <a:p>
            <a:pPr algn="l" indent="0" marL="0">
              <a:buNone/>
            </a:pPr>
            <a:r>
              <a:rPr lang="en-US" sz="1600" b="1" dirty="0">
                <a:solidFill>
                  <a:srgbClr val="202124"/>
                </a:solidFill>
                <a:latin typeface="Georgia" pitchFamily="34" charset="0"/>
                <a:ea typeface="Georgia" pitchFamily="34" charset="-122"/>
                <a:cs typeface="Georgia" pitchFamily="34" charset="-120"/>
              </a:rPr>
              <a:t>It's beginner-kind</a:t>
            </a:r>
            <a:endParaRPr lang="en-US" sz="1600" dirty="0"/>
          </a:p>
        </p:txBody>
      </p:sp>
      <p:sp>
        <p:nvSpPr>
          <p:cNvPr id="16" name="Text 14"/>
          <p:cNvSpPr/>
          <p:nvPr/>
        </p:nvSpPr>
        <p:spPr>
          <a:xfrm>
            <a:off x="4507992" y="2404872"/>
            <a:ext cx="3108960" cy="731520"/>
          </a:xfrm>
          <a:prstGeom prst="rect">
            <a:avLst/>
          </a:prstGeom>
          <a:noFill/>
          <a:ln/>
        </p:spPr>
        <p:txBody>
          <a:bodyPr wrap="square" lIns="0" tIns="0" rIns="0" bIns="0" rtlCol="0" anchor="t"/>
          <a:lstStyle/>
          <a:p>
            <a:pPr algn="l" indent="0" marL="0">
              <a:lnSpc>
                <a:spcPct val="110000"/>
              </a:lnSpc>
              <a:buNone/>
            </a:pPr>
            <a:r>
              <a:rPr lang="en-US" sz="1250" dirty="0">
                <a:solidFill>
                  <a:srgbClr val="5F6368"/>
                </a:solidFill>
                <a:latin typeface="Calibri" pitchFamily="34" charset="0"/>
                <a:ea typeface="Calibri" pitchFamily="34" charset="-122"/>
                <a:cs typeface="Calibri" pitchFamily="34" charset="-120"/>
              </a:rPr>
              <a:t>Catches your mistakes and explains them as you learn.</a:t>
            </a:r>
            <a:endParaRPr lang="en-US" sz="1250" dirty="0"/>
          </a:p>
        </p:txBody>
      </p:sp>
      <p:sp>
        <p:nvSpPr>
          <p:cNvPr id="17" name="Shape 15"/>
          <p:cNvSpPr/>
          <p:nvPr/>
        </p:nvSpPr>
        <p:spPr>
          <a:xfrm>
            <a:off x="7955280" y="1783080"/>
            <a:ext cx="3474720" cy="1417320"/>
          </a:xfrm>
          <a:prstGeom prst="roundRect">
            <a:avLst>
              <a:gd name="adj" fmla="val 5806"/>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8" name="Shape 16"/>
          <p:cNvSpPr/>
          <p:nvPr/>
        </p:nvSpPr>
        <p:spPr>
          <a:xfrm>
            <a:off x="7955280" y="1920240"/>
            <a:ext cx="82296" cy="1143000"/>
          </a:xfrm>
          <a:prstGeom prst="rect">
            <a:avLst/>
          </a:prstGeom>
          <a:solidFill>
            <a:srgbClr val="34A853"/>
          </a:solidFill>
          <a:ln/>
        </p:spPr>
      </p:sp>
      <p:sp>
        <p:nvSpPr>
          <p:cNvPr id="19" name="Text 17"/>
          <p:cNvSpPr/>
          <p:nvPr/>
        </p:nvSpPr>
        <p:spPr>
          <a:xfrm>
            <a:off x="8211312" y="1965960"/>
            <a:ext cx="3108960" cy="411480"/>
          </a:xfrm>
          <a:prstGeom prst="rect">
            <a:avLst/>
          </a:prstGeom>
          <a:noFill/>
          <a:ln/>
        </p:spPr>
        <p:txBody>
          <a:bodyPr wrap="square" lIns="0" tIns="0" rIns="0" bIns="0" rtlCol="0" anchor="ctr"/>
          <a:lstStyle/>
          <a:p>
            <a:pPr algn="l" indent="0" marL="0">
              <a:buNone/>
            </a:pPr>
            <a:r>
              <a:rPr lang="en-US" sz="1600" b="1" dirty="0">
                <a:solidFill>
                  <a:srgbClr val="202124"/>
                </a:solidFill>
                <a:latin typeface="Georgia" pitchFamily="34" charset="0"/>
                <a:ea typeface="Georgia" pitchFamily="34" charset="-122"/>
                <a:cs typeface="Georgia" pitchFamily="34" charset="-120"/>
              </a:rPr>
              <a:t>It's the web + AI</a:t>
            </a:r>
            <a:endParaRPr lang="en-US" sz="1600" dirty="0"/>
          </a:p>
        </p:txBody>
      </p:sp>
      <p:sp>
        <p:nvSpPr>
          <p:cNvPr id="20" name="Text 18"/>
          <p:cNvSpPr/>
          <p:nvPr/>
        </p:nvSpPr>
        <p:spPr>
          <a:xfrm>
            <a:off x="8211312" y="2404872"/>
            <a:ext cx="3108960" cy="731520"/>
          </a:xfrm>
          <a:prstGeom prst="rect">
            <a:avLst/>
          </a:prstGeom>
          <a:noFill/>
          <a:ln/>
        </p:spPr>
        <p:txBody>
          <a:bodyPr wrap="square" lIns="0" tIns="0" rIns="0" bIns="0" rtlCol="0" anchor="t"/>
          <a:lstStyle/>
          <a:p>
            <a:pPr algn="l" indent="0" marL="0">
              <a:lnSpc>
                <a:spcPct val="110000"/>
              </a:lnSpc>
              <a:buNone/>
            </a:pPr>
            <a:r>
              <a:rPr lang="en-US" sz="1250" dirty="0">
                <a:solidFill>
                  <a:srgbClr val="5F6368"/>
                </a:solidFill>
                <a:latin typeface="Calibri" pitchFamily="34" charset="0"/>
                <a:ea typeface="Calibri" pitchFamily="34" charset="-122"/>
                <a:cs typeface="Calibri" pitchFamily="34" charset="-120"/>
              </a:rPr>
              <a:t>Powers modern websites AND the newest AI tools.</a:t>
            </a:r>
            <a:endParaRPr lang="en-US" sz="1250" dirty="0"/>
          </a:p>
        </p:txBody>
      </p:sp>
      <p:sp>
        <p:nvSpPr>
          <p:cNvPr id="21" name="Shape 19"/>
          <p:cNvSpPr/>
          <p:nvPr/>
        </p:nvSpPr>
        <p:spPr>
          <a:xfrm>
            <a:off x="548640" y="3383280"/>
            <a:ext cx="3474720" cy="1417320"/>
          </a:xfrm>
          <a:prstGeom prst="roundRect">
            <a:avLst>
              <a:gd name="adj" fmla="val 5806"/>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22" name="Shape 20"/>
          <p:cNvSpPr/>
          <p:nvPr/>
        </p:nvSpPr>
        <p:spPr>
          <a:xfrm>
            <a:off x="548640" y="3520440"/>
            <a:ext cx="82296" cy="1143000"/>
          </a:xfrm>
          <a:prstGeom prst="rect">
            <a:avLst/>
          </a:prstGeom>
          <a:solidFill>
            <a:srgbClr val="FBBC04"/>
          </a:solidFill>
          <a:ln/>
        </p:spPr>
      </p:sp>
      <p:sp>
        <p:nvSpPr>
          <p:cNvPr id="23" name="Text 21"/>
          <p:cNvSpPr/>
          <p:nvPr/>
        </p:nvSpPr>
        <p:spPr>
          <a:xfrm>
            <a:off x="804672" y="3566160"/>
            <a:ext cx="3108960" cy="411480"/>
          </a:xfrm>
          <a:prstGeom prst="rect">
            <a:avLst/>
          </a:prstGeom>
          <a:noFill/>
          <a:ln/>
        </p:spPr>
        <p:txBody>
          <a:bodyPr wrap="square" lIns="0" tIns="0" rIns="0" bIns="0" rtlCol="0" anchor="ctr"/>
          <a:lstStyle/>
          <a:p>
            <a:pPr algn="l" indent="0" marL="0">
              <a:buNone/>
            </a:pPr>
            <a:r>
              <a:rPr lang="en-US" sz="1600" b="1" dirty="0">
                <a:solidFill>
                  <a:srgbClr val="202124"/>
                </a:solidFill>
                <a:latin typeface="Georgia" pitchFamily="34" charset="0"/>
                <a:ea typeface="Georgia" pitchFamily="34" charset="-122"/>
                <a:cs typeface="Georgia" pitchFamily="34" charset="-120"/>
              </a:rPr>
              <a:t>It's free &amp; open</a:t>
            </a:r>
            <a:endParaRPr lang="en-US" sz="1600" dirty="0"/>
          </a:p>
        </p:txBody>
      </p:sp>
      <p:sp>
        <p:nvSpPr>
          <p:cNvPr id="24" name="Text 22"/>
          <p:cNvSpPr/>
          <p:nvPr/>
        </p:nvSpPr>
        <p:spPr>
          <a:xfrm>
            <a:off x="804672" y="4005072"/>
            <a:ext cx="3108960" cy="731520"/>
          </a:xfrm>
          <a:prstGeom prst="rect">
            <a:avLst/>
          </a:prstGeom>
          <a:noFill/>
          <a:ln/>
        </p:spPr>
        <p:txBody>
          <a:bodyPr wrap="square" lIns="0" tIns="0" rIns="0" bIns="0" rtlCol="0" anchor="t"/>
          <a:lstStyle/>
          <a:p>
            <a:pPr algn="l" indent="0" marL="0">
              <a:lnSpc>
                <a:spcPct val="110000"/>
              </a:lnSpc>
              <a:buNone/>
            </a:pPr>
            <a:r>
              <a:rPr lang="en-US" sz="1250" dirty="0">
                <a:solidFill>
                  <a:srgbClr val="5F6368"/>
                </a:solidFill>
                <a:latin typeface="Calibri" pitchFamily="34" charset="0"/>
                <a:ea typeface="Calibri" pitchFamily="34" charset="-122"/>
                <a:cs typeface="Calibri" pitchFamily="34" charset="-120"/>
              </a:rPr>
              <a:t>Free forever, improved constantly by a global community.</a:t>
            </a:r>
            <a:endParaRPr lang="en-US" sz="1250" dirty="0"/>
          </a:p>
        </p:txBody>
      </p:sp>
      <p:sp>
        <p:nvSpPr>
          <p:cNvPr id="25" name="Shape 23"/>
          <p:cNvSpPr/>
          <p:nvPr/>
        </p:nvSpPr>
        <p:spPr>
          <a:xfrm>
            <a:off x="4251960" y="3383280"/>
            <a:ext cx="3474720" cy="1417320"/>
          </a:xfrm>
          <a:prstGeom prst="roundRect">
            <a:avLst>
              <a:gd name="adj" fmla="val 5806"/>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26" name="Shape 24"/>
          <p:cNvSpPr/>
          <p:nvPr/>
        </p:nvSpPr>
        <p:spPr>
          <a:xfrm>
            <a:off x="4251960" y="3520440"/>
            <a:ext cx="82296" cy="1143000"/>
          </a:xfrm>
          <a:prstGeom prst="rect">
            <a:avLst/>
          </a:prstGeom>
          <a:solidFill>
            <a:srgbClr val="4285F4"/>
          </a:solidFill>
          <a:ln/>
        </p:spPr>
      </p:sp>
      <p:sp>
        <p:nvSpPr>
          <p:cNvPr id="27" name="Text 25"/>
          <p:cNvSpPr/>
          <p:nvPr/>
        </p:nvSpPr>
        <p:spPr>
          <a:xfrm>
            <a:off x="4507992" y="3566160"/>
            <a:ext cx="3108960" cy="411480"/>
          </a:xfrm>
          <a:prstGeom prst="rect">
            <a:avLst/>
          </a:prstGeom>
          <a:noFill/>
          <a:ln/>
        </p:spPr>
        <p:txBody>
          <a:bodyPr wrap="square" lIns="0" tIns="0" rIns="0" bIns="0" rtlCol="0" anchor="ctr"/>
          <a:lstStyle/>
          <a:p>
            <a:pPr algn="l" indent="0" marL="0">
              <a:buNone/>
            </a:pPr>
            <a:r>
              <a:rPr lang="en-US" sz="1600" b="1" dirty="0">
                <a:solidFill>
                  <a:srgbClr val="202124"/>
                </a:solidFill>
                <a:latin typeface="Georgia" pitchFamily="34" charset="0"/>
                <a:ea typeface="Georgia" pitchFamily="34" charset="-122"/>
                <a:cs typeface="Georgia" pitchFamily="34" charset="-120"/>
              </a:rPr>
              <a:t>It works with AI</a:t>
            </a:r>
            <a:endParaRPr lang="en-US" sz="1600" dirty="0"/>
          </a:p>
        </p:txBody>
      </p:sp>
      <p:sp>
        <p:nvSpPr>
          <p:cNvPr id="28" name="Text 26"/>
          <p:cNvSpPr/>
          <p:nvPr/>
        </p:nvSpPr>
        <p:spPr>
          <a:xfrm>
            <a:off x="4507992" y="4005072"/>
            <a:ext cx="3108960" cy="731520"/>
          </a:xfrm>
          <a:prstGeom prst="rect">
            <a:avLst/>
          </a:prstGeom>
          <a:noFill/>
          <a:ln/>
        </p:spPr>
        <p:txBody>
          <a:bodyPr wrap="square" lIns="0" tIns="0" rIns="0" bIns="0" rtlCol="0" anchor="t"/>
          <a:lstStyle/>
          <a:p>
            <a:pPr algn="l" indent="0" marL="0">
              <a:lnSpc>
                <a:spcPct val="110000"/>
              </a:lnSpc>
              <a:buNone/>
            </a:pPr>
            <a:r>
              <a:rPr lang="en-US" sz="1250" dirty="0">
                <a:solidFill>
                  <a:srgbClr val="5F6368"/>
                </a:solidFill>
                <a:latin typeface="Calibri" pitchFamily="34" charset="0"/>
                <a:ea typeface="Calibri" pitchFamily="34" charset="-122"/>
                <a:cs typeface="Calibri" pitchFamily="34" charset="-120"/>
              </a:rPr>
              <a:t>Types make AI assistants write better code for you.</a:t>
            </a:r>
            <a:endParaRPr lang="en-US" sz="1250" dirty="0"/>
          </a:p>
        </p:txBody>
      </p:sp>
      <p:sp>
        <p:nvSpPr>
          <p:cNvPr id="29" name="Shape 27"/>
          <p:cNvSpPr/>
          <p:nvPr/>
        </p:nvSpPr>
        <p:spPr>
          <a:xfrm>
            <a:off x="7955280" y="3383280"/>
            <a:ext cx="3474720" cy="1417320"/>
          </a:xfrm>
          <a:prstGeom prst="roundRect">
            <a:avLst>
              <a:gd name="adj" fmla="val 5806"/>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30" name="Shape 28"/>
          <p:cNvSpPr/>
          <p:nvPr/>
        </p:nvSpPr>
        <p:spPr>
          <a:xfrm>
            <a:off x="7955280" y="3520440"/>
            <a:ext cx="82296" cy="1143000"/>
          </a:xfrm>
          <a:prstGeom prst="rect">
            <a:avLst/>
          </a:prstGeom>
          <a:solidFill>
            <a:srgbClr val="EA4335"/>
          </a:solidFill>
          <a:ln/>
        </p:spPr>
      </p:sp>
      <p:sp>
        <p:nvSpPr>
          <p:cNvPr id="31" name="Text 29"/>
          <p:cNvSpPr/>
          <p:nvPr/>
        </p:nvSpPr>
        <p:spPr>
          <a:xfrm>
            <a:off x="8211312" y="3566160"/>
            <a:ext cx="3108960" cy="411480"/>
          </a:xfrm>
          <a:prstGeom prst="rect">
            <a:avLst/>
          </a:prstGeom>
          <a:noFill/>
          <a:ln/>
        </p:spPr>
        <p:txBody>
          <a:bodyPr wrap="square" lIns="0" tIns="0" rIns="0" bIns="0" rtlCol="0" anchor="ctr"/>
          <a:lstStyle/>
          <a:p>
            <a:pPr algn="l" indent="0" marL="0">
              <a:buNone/>
            </a:pPr>
            <a:r>
              <a:rPr lang="en-US" sz="1600" b="1" dirty="0">
                <a:solidFill>
                  <a:srgbClr val="202124"/>
                </a:solidFill>
                <a:latin typeface="Georgia" pitchFamily="34" charset="0"/>
                <a:ea typeface="Georgia" pitchFamily="34" charset="-122"/>
                <a:cs typeface="Georgia" pitchFamily="34" charset="-120"/>
              </a:rPr>
              <a:t>It's future-proof</a:t>
            </a:r>
            <a:endParaRPr lang="en-US" sz="1600" dirty="0"/>
          </a:p>
        </p:txBody>
      </p:sp>
      <p:sp>
        <p:nvSpPr>
          <p:cNvPr id="32" name="Text 30"/>
          <p:cNvSpPr/>
          <p:nvPr/>
        </p:nvSpPr>
        <p:spPr>
          <a:xfrm>
            <a:off x="8211312" y="4005072"/>
            <a:ext cx="3108960" cy="731520"/>
          </a:xfrm>
          <a:prstGeom prst="rect">
            <a:avLst/>
          </a:prstGeom>
          <a:noFill/>
          <a:ln/>
        </p:spPr>
        <p:txBody>
          <a:bodyPr wrap="square" lIns="0" tIns="0" rIns="0" bIns="0" rtlCol="0" anchor="t"/>
          <a:lstStyle/>
          <a:p>
            <a:pPr algn="l" indent="0" marL="0">
              <a:lnSpc>
                <a:spcPct val="110000"/>
              </a:lnSpc>
              <a:buNone/>
            </a:pPr>
            <a:r>
              <a:rPr lang="en-US" sz="1250" dirty="0">
                <a:solidFill>
                  <a:srgbClr val="5F6368"/>
                </a:solidFill>
                <a:latin typeface="Calibri" pitchFamily="34" charset="0"/>
                <a:ea typeface="Calibri" pitchFamily="34" charset="-122"/>
                <a:cs typeface="Calibri" pitchFamily="34" charset="-120"/>
              </a:rPr>
              <a:t>Backed by Microsoft and growing faster than ever.</a:t>
            </a:r>
            <a:endParaRPr lang="en-US" sz="1250" dirty="0"/>
          </a:p>
        </p:txBody>
      </p:sp>
      <p:sp>
        <p:nvSpPr>
          <p:cNvPr id="33" name="Text 31"/>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34" name="Text 32"/>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02124"/>
        </a:solidFill>
      </p:bgPr>
    </p:bg>
    <p:spTree>
      <p:nvGrpSpPr>
        <p:cNvPr id="1" name=""/>
        <p:cNvGrpSpPr/>
        <p:nvPr/>
      </p:nvGrpSpPr>
      <p:grpSpPr>
        <a:xfrm>
          <a:off x="0" y="0"/>
          <a:ext cx="0" cy="0"/>
          <a:chOff x="0" y="0"/>
          <a:chExt cx="0" cy="0"/>
        </a:xfrm>
      </p:grpSpPr>
      <p:sp>
        <p:nvSpPr>
          <p:cNvPr id="2" name="Shape 0"/>
          <p:cNvSpPr/>
          <p:nvPr/>
        </p:nvSpPr>
        <p:spPr>
          <a:xfrm>
            <a:off x="9692640" y="-1463040"/>
            <a:ext cx="3840480" cy="3840480"/>
          </a:xfrm>
          <a:prstGeom prst="ellipse">
            <a:avLst/>
          </a:prstGeom>
          <a:solidFill>
            <a:srgbClr val="34A853">
              <a:alpha val="16000"/>
            </a:srgbClr>
          </a:solidFill>
          <a:ln/>
        </p:spPr>
      </p:sp>
      <p:sp>
        <p:nvSpPr>
          <p:cNvPr id="3" name="Shape 1"/>
          <p:cNvSpPr/>
          <p:nvPr/>
        </p:nvSpPr>
        <p:spPr>
          <a:xfrm>
            <a:off x="-1280160" y="4389120"/>
            <a:ext cx="3108960" cy="3108960"/>
          </a:xfrm>
          <a:prstGeom prst="ellipse">
            <a:avLst/>
          </a:prstGeom>
          <a:solidFill>
            <a:srgbClr val="4285F4">
              <a:alpha val="12000"/>
            </a:srgbClr>
          </a:solidFill>
          <a:ln/>
        </p:spPr>
      </p:sp>
      <p:sp>
        <p:nvSpPr>
          <p:cNvPr id="4" name="Shape 2"/>
          <p:cNvSpPr/>
          <p:nvPr/>
        </p:nvSpPr>
        <p:spPr>
          <a:xfrm>
            <a:off x="868680" y="960120"/>
            <a:ext cx="146304" cy="146304"/>
          </a:xfrm>
          <a:prstGeom prst="ellipse">
            <a:avLst/>
          </a:prstGeom>
          <a:solidFill>
            <a:srgbClr val="4285F4"/>
          </a:solidFill>
          <a:ln/>
        </p:spPr>
      </p:sp>
      <p:sp>
        <p:nvSpPr>
          <p:cNvPr id="5" name="Shape 3"/>
          <p:cNvSpPr/>
          <p:nvPr/>
        </p:nvSpPr>
        <p:spPr>
          <a:xfrm>
            <a:off x="1106424" y="960120"/>
            <a:ext cx="146304" cy="146304"/>
          </a:xfrm>
          <a:prstGeom prst="ellipse">
            <a:avLst/>
          </a:prstGeom>
          <a:solidFill>
            <a:srgbClr val="EA4335"/>
          </a:solidFill>
          <a:ln/>
        </p:spPr>
      </p:sp>
      <p:sp>
        <p:nvSpPr>
          <p:cNvPr id="6" name="Shape 4"/>
          <p:cNvSpPr/>
          <p:nvPr/>
        </p:nvSpPr>
        <p:spPr>
          <a:xfrm>
            <a:off x="1344168" y="960120"/>
            <a:ext cx="146304" cy="146304"/>
          </a:xfrm>
          <a:prstGeom prst="ellipse">
            <a:avLst/>
          </a:prstGeom>
          <a:solidFill>
            <a:srgbClr val="FBBC04"/>
          </a:solidFill>
          <a:ln/>
        </p:spPr>
      </p:sp>
      <p:sp>
        <p:nvSpPr>
          <p:cNvPr id="7" name="Shape 5"/>
          <p:cNvSpPr/>
          <p:nvPr/>
        </p:nvSpPr>
        <p:spPr>
          <a:xfrm>
            <a:off x="1581912" y="960120"/>
            <a:ext cx="146304" cy="146304"/>
          </a:xfrm>
          <a:prstGeom prst="ellipse">
            <a:avLst/>
          </a:prstGeom>
          <a:solidFill>
            <a:srgbClr val="34A853"/>
          </a:solidFill>
          <a:ln/>
        </p:spPr>
      </p:sp>
      <p:sp>
        <p:nvSpPr>
          <p:cNvPr id="8" name="Text 6"/>
          <p:cNvSpPr/>
          <p:nvPr/>
        </p:nvSpPr>
        <p:spPr>
          <a:xfrm>
            <a:off x="868680" y="1234440"/>
            <a:ext cx="10058400" cy="365760"/>
          </a:xfrm>
          <a:prstGeom prst="rect">
            <a:avLst/>
          </a:prstGeom>
          <a:noFill/>
          <a:ln/>
        </p:spPr>
        <p:txBody>
          <a:bodyPr wrap="square" lIns="0" tIns="0" rIns="0" bIns="0" rtlCol="0" anchor="ctr"/>
          <a:lstStyle/>
          <a:p>
            <a:pPr algn="l" indent="0" marL="0">
              <a:buNone/>
            </a:pPr>
            <a:r>
              <a:rPr lang="en-US" sz="1300" b="1" spc="300" kern="0" dirty="0">
                <a:solidFill>
                  <a:srgbClr val="9AA0A6"/>
                </a:solidFill>
                <a:latin typeface="Calibri" pitchFamily="34" charset="0"/>
                <a:ea typeface="Calibri" pitchFamily="34" charset="-122"/>
                <a:cs typeface="Calibri" pitchFamily="34" charset="-120"/>
              </a:rPr>
              <a:t>LIVE DEMO  —  WATCH THIS!</a:t>
            </a:r>
            <a:endParaRPr lang="en-US" sz="1300" dirty="0"/>
          </a:p>
        </p:txBody>
      </p:sp>
      <p:sp>
        <p:nvSpPr>
          <p:cNvPr id="9" name="Text 7"/>
          <p:cNvSpPr/>
          <p:nvPr/>
        </p:nvSpPr>
        <p:spPr>
          <a:xfrm>
            <a:off x="822960" y="1645920"/>
            <a:ext cx="10607040" cy="822960"/>
          </a:xfrm>
          <a:prstGeom prst="rect">
            <a:avLst/>
          </a:prstGeom>
          <a:noFill/>
          <a:ln/>
        </p:spPr>
        <p:txBody>
          <a:bodyPr wrap="square" lIns="0" tIns="0" rIns="0" bIns="0" rtlCol="0" anchor="ctr"/>
          <a:lstStyle/>
          <a:p>
            <a:pPr algn="l" indent="0" marL="0">
              <a:buNone/>
            </a:pPr>
            <a:r>
              <a:rPr lang="en-US" sz="3200" b="1" dirty="0">
                <a:solidFill>
                  <a:srgbClr val="FFFFFF"/>
                </a:solidFill>
                <a:latin typeface="Georgia" pitchFamily="34" charset="0"/>
                <a:ea typeface="Georgia" pitchFamily="34" charset="-122"/>
                <a:cs typeface="Georgia" pitchFamily="34" charset="-120"/>
              </a:rPr>
              <a:t>Let's run real TypeScript — right now</a:t>
            </a:r>
            <a:endParaRPr lang="en-US" sz="3200" dirty="0"/>
          </a:p>
        </p:txBody>
      </p:sp>
      <p:sp>
        <p:nvSpPr>
          <p:cNvPr id="10" name="Shape 8"/>
          <p:cNvSpPr/>
          <p:nvPr/>
        </p:nvSpPr>
        <p:spPr>
          <a:xfrm>
            <a:off x="868680" y="2697480"/>
            <a:ext cx="6035040" cy="2331720"/>
          </a:xfrm>
          <a:prstGeom prst="roundRect">
            <a:avLst>
              <a:gd name="adj" fmla="val 2745"/>
            </a:avLst>
          </a:prstGeom>
          <a:solidFill>
            <a:srgbClr val="0D0D1A"/>
          </a:solidFill>
          <a:ln w="12700">
            <a:solidFill>
              <a:srgbClr val="3C4043"/>
            </a:solidFill>
            <a:prstDash val="solid"/>
          </a:ln>
        </p:spPr>
      </p:sp>
      <p:sp>
        <p:nvSpPr>
          <p:cNvPr id="11" name="Shape 9"/>
          <p:cNvSpPr/>
          <p:nvPr/>
        </p:nvSpPr>
        <p:spPr>
          <a:xfrm>
            <a:off x="1097280" y="2880360"/>
            <a:ext cx="91440" cy="91440"/>
          </a:xfrm>
          <a:prstGeom prst="ellipse">
            <a:avLst/>
          </a:prstGeom>
          <a:solidFill>
            <a:srgbClr val="EA4335"/>
          </a:solidFill>
          <a:ln/>
        </p:spPr>
      </p:sp>
      <p:sp>
        <p:nvSpPr>
          <p:cNvPr id="12" name="Shape 10"/>
          <p:cNvSpPr/>
          <p:nvPr/>
        </p:nvSpPr>
        <p:spPr>
          <a:xfrm>
            <a:off x="1298448" y="2880360"/>
            <a:ext cx="91440" cy="91440"/>
          </a:xfrm>
          <a:prstGeom prst="ellipse">
            <a:avLst/>
          </a:prstGeom>
          <a:solidFill>
            <a:srgbClr val="FBBC04"/>
          </a:solidFill>
          <a:ln/>
        </p:spPr>
      </p:sp>
      <p:sp>
        <p:nvSpPr>
          <p:cNvPr id="13" name="Shape 11"/>
          <p:cNvSpPr/>
          <p:nvPr/>
        </p:nvSpPr>
        <p:spPr>
          <a:xfrm>
            <a:off x="1499616" y="2880360"/>
            <a:ext cx="91440" cy="91440"/>
          </a:xfrm>
          <a:prstGeom prst="ellipse">
            <a:avLst/>
          </a:prstGeom>
          <a:solidFill>
            <a:srgbClr val="34A853"/>
          </a:solidFill>
          <a:ln/>
        </p:spPr>
      </p:sp>
      <p:sp>
        <p:nvSpPr>
          <p:cNvPr id="14" name="Text 12"/>
          <p:cNvSpPr/>
          <p:nvPr/>
        </p:nvSpPr>
        <p:spPr>
          <a:xfrm>
            <a:off x="1097280" y="3200400"/>
            <a:ext cx="5577840" cy="1737360"/>
          </a:xfrm>
          <a:prstGeom prst="rect">
            <a:avLst/>
          </a:prstGeom>
          <a:noFill/>
          <a:ln/>
        </p:spPr>
        <p:txBody>
          <a:bodyPr wrap="square" lIns="0" tIns="0" rIns="0" bIns="0" rtlCol="0" anchor="t"/>
          <a:lstStyle/>
          <a:p>
            <a:pPr algn="l" indent="0" marL="0">
              <a:lnSpc>
                <a:spcPct val="120000"/>
              </a:lnSpc>
              <a:buNone/>
            </a:pPr>
            <a:r>
              <a:rPr lang="en-US" sz="1400" dirty="0">
                <a:solidFill>
                  <a:srgbClr val="8AB4F8"/>
                </a:solidFill>
                <a:latin typeface="Courier New" pitchFamily="34" charset="0"/>
                <a:ea typeface="Courier New" pitchFamily="34" charset="-122"/>
                <a:cs typeface="Courier New" pitchFamily="34" charset="-120"/>
              </a:rPr>
              <a:t>let name: string = "Coder";</a:t>
            </a:r>
            <a:endParaRPr lang="en-US" sz="1400" dirty="0"/>
          </a:p>
          <a:p>
            <a:pPr algn="l" indent="0" marL="0">
              <a:lnSpc>
                <a:spcPct val="120000"/>
              </a:lnSpc>
              <a:buNone/>
            </a:pPr>
            <a:r>
              <a:rPr lang="en-US" sz="1400" dirty="0">
                <a:solidFill>
                  <a:srgbClr val="8AB4F8"/>
                </a:solidFill>
                <a:latin typeface="Courier New" pitchFamily="34" charset="0"/>
                <a:ea typeface="Courier New" pitchFamily="34" charset="-122"/>
                <a:cs typeface="Courier New" pitchFamily="34" charset="-120"/>
              </a:rPr>
              <a:t>let level: number = 6;</a:t>
            </a:r>
            <a:endParaRPr lang="en-US" sz="1400" dirty="0"/>
          </a:p>
          <a:p>
            <a:pPr algn="l" indent="0" marL="0">
              <a:lnSpc>
                <a:spcPct val="120000"/>
              </a:lnSpc>
              <a:buNone/>
            </a:pPr>
            <a:r>
              <a:rPr lang="en-US" sz="1400" dirty="0">
                <a:solidFill>
                  <a:srgbClr val="E8EAED"/>
                </a:solidFill>
                <a:latin typeface="Courier New" pitchFamily="34" charset="0"/>
                <a:ea typeface="Courier New" pitchFamily="34" charset="-122"/>
                <a:cs typeface="Courier New" pitchFamily="34" charset="-120"/>
              </a:rPr>
              <a:t>console.log("Hi " + name + "!");</a:t>
            </a:r>
            <a:endParaRPr lang="en-US" sz="1400" dirty="0"/>
          </a:p>
          <a:p>
            <a:pPr algn="l" indent="0" marL="0">
              <a:lnSpc>
                <a:spcPct val="120000"/>
              </a:lnSpc>
              <a:buNone/>
            </a:pPr>
            <a:r>
              <a:rPr lang="en-US" sz="1400" dirty="0">
                <a:solidFill>
                  <a:srgbClr val="E8EAED"/>
                </a:solidFill>
                <a:latin typeface="Courier New" pitchFamily="34" charset="0"/>
                <a:ea typeface="Courier New" pitchFamily="34" charset="-122"/>
                <a:cs typeface="Courier New" pitchFamily="34" charset="-120"/>
              </a:rPr>
              <a:t>console.log("Grade level: " + level);</a:t>
            </a:r>
            <a:endParaRPr lang="en-US" sz="1400" dirty="0"/>
          </a:p>
          <a:p>
            <a:pPr algn="l" indent="0" marL="0">
              <a:lnSpc>
                <a:spcPct val="120000"/>
              </a:lnSpc>
              <a:buNone/>
            </a:pPr>
            <a:r>
              <a:rPr lang="en-US" sz="1400" dirty="0">
                <a:solidFill>
                  <a:srgbClr val="81C995"/>
                </a:solidFill>
                <a:latin typeface="Courier New" pitchFamily="34" charset="0"/>
                <a:ea typeface="Courier New" pitchFamily="34" charset="-122"/>
                <a:cs typeface="Courier New" pitchFamily="34" charset="-120"/>
              </a:rPr>
              <a:t>▶ Hi Coder!</a:t>
            </a:r>
            <a:endParaRPr lang="en-US" sz="1400" dirty="0"/>
          </a:p>
          <a:p>
            <a:pPr algn="l" indent="0" marL="0">
              <a:lnSpc>
                <a:spcPct val="120000"/>
              </a:lnSpc>
              <a:buNone/>
            </a:pPr>
            <a:r>
              <a:rPr lang="en-US" sz="1400" dirty="0">
                <a:solidFill>
                  <a:srgbClr val="81C995"/>
                </a:solidFill>
                <a:latin typeface="Courier New" pitchFamily="34" charset="0"/>
                <a:ea typeface="Courier New" pitchFamily="34" charset="-122"/>
                <a:cs typeface="Courier New" pitchFamily="34" charset="-120"/>
              </a:rPr>
              <a:t>▶ Grade level: 6</a:t>
            </a:r>
            <a:endParaRPr lang="en-US" sz="1400" dirty="0"/>
          </a:p>
        </p:txBody>
      </p:sp>
      <p:sp>
        <p:nvSpPr>
          <p:cNvPr id="15" name="Shape 13"/>
          <p:cNvSpPr/>
          <p:nvPr/>
        </p:nvSpPr>
        <p:spPr>
          <a:xfrm>
            <a:off x="7315200" y="2697480"/>
            <a:ext cx="4023360" cy="2331720"/>
          </a:xfrm>
          <a:prstGeom prst="roundRect">
            <a:avLst>
              <a:gd name="adj" fmla="val 3922"/>
            </a:avLst>
          </a:prstGeom>
          <a:solidFill>
            <a:srgbClr val="FFFFFF"/>
          </a:solidFill>
          <a:ln/>
        </p:spPr>
      </p:sp>
      <p:sp>
        <p:nvSpPr>
          <p:cNvPr id="16" name="Text 14"/>
          <p:cNvSpPr/>
          <p:nvPr/>
        </p:nvSpPr>
        <p:spPr>
          <a:xfrm>
            <a:off x="7589520" y="2880360"/>
            <a:ext cx="3474720" cy="365760"/>
          </a:xfrm>
          <a:prstGeom prst="rect">
            <a:avLst/>
          </a:prstGeom>
          <a:noFill/>
          <a:ln/>
        </p:spPr>
        <p:txBody>
          <a:bodyPr wrap="square" lIns="0" tIns="0" rIns="0" bIns="0" rtlCol="0" anchor="ctr"/>
          <a:lstStyle/>
          <a:p>
            <a:pPr algn="l" indent="0" marL="0">
              <a:buNone/>
            </a:pPr>
            <a:r>
              <a:rPr lang="en-US" sz="1200" b="1" spc="200" kern="0" dirty="0">
                <a:solidFill>
                  <a:srgbClr val="4285F4"/>
                </a:solidFill>
                <a:latin typeface="Calibri" pitchFamily="34" charset="0"/>
                <a:ea typeface="Calibri" pitchFamily="34" charset="-122"/>
                <a:cs typeface="Calibri" pitchFamily="34" charset="-120"/>
              </a:rPr>
              <a:t>Teacher demo</a:t>
            </a:r>
            <a:endParaRPr lang="en-US" sz="1200" dirty="0"/>
          </a:p>
        </p:txBody>
      </p:sp>
      <p:sp>
        <p:nvSpPr>
          <p:cNvPr id="17" name="Text 15"/>
          <p:cNvSpPr/>
          <p:nvPr/>
        </p:nvSpPr>
        <p:spPr>
          <a:xfrm>
            <a:off x="7589520" y="3291840"/>
            <a:ext cx="3474720" cy="1645920"/>
          </a:xfrm>
          <a:prstGeom prst="rect">
            <a:avLst/>
          </a:prstGeom>
          <a:noFill/>
          <a:ln/>
        </p:spPr>
        <p:txBody>
          <a:bodyPr wrap="square" lIns="0" tIns="0" rIns="0" bIns="0" rtlCol="0" anchor="t"/>
          <a:lstStyle/>
          <a:p>
            <a:pPr algn="l" indent="0" marL="0">
              <a:lnSpc>
                <a:spcPct val="125000"/>
              </a:lnSpc>
              <a:buNone/>
            </a:pPr>
            <a:r>
              <a:rPr lang="en-US" sz="1300" dirty="0">
                <a:solidFill>
                  <a:srgbClr val="202124"/>
                </a:solidFill>
                <a:latin typeface="Calibri" pitchFamily="34" charset="0"/>
                <a:ea typeface="Calibri" pitchFamily="34" charset="-122"/>
                <a:cs typeface="Calibri" pitchFamily="34" charset="-120"/>
              </a:rPr>
              <a:t>1.  Open </a:t>
            </a:r>
            <a:pPr algn="l" indent="0" marL="0">
              <a:lnSpc>
                <a:spcPct val="125000"/>
              </a:lnSpc>
              <a:buNone/>
            </a:pPr>
            <a:r>
              <a:rPr lang="en-US" sz="1300" b="1" dirty="0">
                <a:solidFill>
                  <a:srgbClr val="1A73E8"/>
                </a:solidFill>
                <a:latin typeface="Calibri" pitchFamily="34" charset="0"/>
                <a:ea typeface="Calibri" pitchFamily="34" charset="-122"/>
                <a:cs typeface="Calibri" pitchFamily="34" charset="-120"/>
              </a:rPr>
              <a:t>typescriptlang.org/play</a:t>
            </a:r>
            <a:pPr algn="l" indent="0" marL="0">
              <a:lnSpc>
                <a:spcPct val="125000"/>
              </a:lnSpc>
              <a:buNone/>
            </a:pPr>
            <a:endParaRPr lang="en-US" sz="1300" dirty="0"/>
          </a:p>
          <a:p>
            <a:pPr algn="l" indent="0" marL="0">
              <a:lnSpc>
                <a:spcPct val="125000"/>
              </a:lnSpc>
              <a:buNone/>
            </a:pPr>
            <a:r>
              <a:rPr lang="en-US" sz="1300" dirty="0">
                <a:solidFill>
                  <a:srgbClr val="202124"/>
                </a:solidFill>
                <a:latin typeface="Calibri" pitchFamily="34" charset="0"/>
                <a:ea typeface="Calibri" pitchFamily="34" charset="-122"/>
                <a:cs typeface="Calibri" pitchFamily="34" charset="-120"/>
              </a:rPr>
              <a:t>2.  Type the code on the left</a:t>
            </a:r>
            <a:endParaRPr lang="en-US" sz="1300" dirty="0"/>
          </a:p>
          <a:p>
            <a:pPr algn="l" indent="0" marL="0">
              <a:lnSpc>
                <a:spcPct val="125000"/>
              </a:lnSpc>
              <a:buNone/>
            </a:pPr>
            <a:r>
              <a:rPr lang="en-US" sz="1300" dirty="0">
                <a:solidFill>
                  <a:srgbClr val="202124"/>
                </a:solidFill>
                <a:latin typeface="Calibri" pitchFamily="34" charset="0"/>
                <a:ea typeface="Calibri" pitchFamily="34" charset="-122"/>
                <a:cs typeface="Calibri" pitchFamily="34" charset="-120"/>
              </a:rPr>
              <a:t>3.  Change the name to a student's name</a:t>
            </a:r>
            <a:endParaRPr lang="en-US" sz="1300" dirty="0"/>
          </a:p>
          <a:p>
            <a:pPr algn="l" indent="0" marL="0">
              <a:lnSpc>
                <a:spcPct val="125000"/>
              </a:lnSpc>
              <a:buNone/>
            </a:pPr>
            <a:r>
              <a:rPr lang="en-US" sz="1300" dirty="0">
                <a:solidFill>
                  <a:srgbClr val="202124"/>
                </a:solidFill>
                <a:latin typeface="Calibri" pitchFamily="34" charset="0"/>
                <a:ea typeface="Calibri" pitchFamily="34" charset="-122"/>
                <a:cs typeface="Calibri" pitchFamily="34" charset="-120"/>
              </a:rPr>
              <a:t>4.  Watch it print instantly — no install!</a:t>
            </a:r>
            <a:endParaRPr lang="en-US" sz="1300" dirty="0"/>
          </a:p>
        </p:txBody>
      </p:sp>
      <p:sp>
        <p:nvSpPr>
          <p:cNvPr id="18" name="Text 16"/>
          <p:cNvSpPr/>
          <p:nvPr/>
        </p:nvSpPr>
        <p:spPr>
          <a:xfrm>
            <a:off x="868680" y="5532120"/>
            <a:ext cx="10515600" cy="457200"/>
          </a:xfrm>
          <a:prstGeom prst="rect">
            <a:avLst/>
          </a:prstGeom>
          <a:noFill/>
          <a:ln/>
        </p:spPr>
        <p:txBody>
          <a:bodyPr wrap="square" lIns="0" tIns="0" rIns="0" bIns="0" rtlCol="0" anchor="ctr"/>
          <a:lstStyle/>
          <a:p>
            <a:pPr algn="l" indent="0" marL="0">
              <a:buNone/>
            </a:pPr>
            <a:r>
              <a:rPr lang="en-US" sz="1700" b="1" dirty="0">
                <a:solidFill>
                  <a:srgbClr val="FBBC04"/>
                </a:solidFill>
                <a:latin typeface="Georgia" pitchFamily="34" charset="0"/>
                <a:ea typeface="Georgia" pitchFamily="34" charset="-122"/>
                <a:cs typeface="Georgia" pitchFamily="34" charset="-120"/>
              </a:rPr>
              <a:t>Then it's BREAK time — back in a few for your turn!</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02124"/>
        </a:solidFill>
      </p:bgPr>
    </p:bg>
    <p:spTree>
      <p:nvGrpSpPr>
        <p:cNvPr id="1" name=""/>
        <p:cNvGrpSpPr/>
        <p:nvPr/>
      </p:nvGrpSpPr>
      <p:grpSpPr>
        <a:xfrm>
          <a:off x="0" y="0"/>
          <a:ext cx="0" cy="0"/>
          <a:chOff x="0" y="0"/>
          <a:chExt cx="0" cy="0"/>
        </a:xfrm>
      </p:grpSpPr>
      <p:sp>
        <p:nvSpPr>
          <p:cNvPr id="2" name="Shape 0"/>
          <p:cNvSpPr/>
          <p:nvPr/>
        </p:nvSpPr>
        <p:spPr>
          <a:xfrm>
            <a:off x="9509760" y="-1645920"/>
            <a:ext cx="4206240" cy="4206240"/>
          </a:xfrm>
          <a:prstGeom prst="ellipse">
            <a:avLst/>
          </a:prstGeom>
          <a:solidFill>
            <a:srgbClr val="34A853">
              <a:alpha val="16000"/>
            </a:srgbClr>
          </a:solidFill>
          <a:ln/>
        </p:spPr>
      </p:sp>
      <p:sp>
        <p:nvSpPr>
          <p:cNvPr id="3" name="Shape 1"/>
          <p:cNvSpPr/>
          <p:nvPr/>
        </p:nvSpPr>
        <p:spPr>
          <a:xfrm>
            <a:off x="-1097280" y="4206240"/>
            <a:ext cx="3291840" cy="3291840"/>
          </a:xfrm>
          <a:prstGeom prst="ellipse">
            <a:avLst/>
          </a:prstGeom>
          <a:solidFill>
            <a:srgbClr val="34A853">
              <a:alpha val="12000"/>
            </a:srgbClr>
          </a:solidFill>
          <a:ln/>
        </p:spPr>
      </p:sp>
      <p:sp>
        <p:nvSpPr>
          <p:cNvPr id="4" name="Shape 2"/>
          <p:cNvSpPr/>
          <p:nvPr/>
        </p:nvSpPr>
        <p:spPr>
          <a:xfrm>
            <a:off x="868680" y="2514600"/>
            <a:ext cx="146304" cy="146304"/>
          </a:xfrm>
          <a:prstGeom prst="ellipse">
            <a:avLst/>
          </a:prstGeom>
          <a:solidFill>
            <a:srgbClr val="4285F4"/>
          </a:solidFill>
          <a:ln/>
        </p:spPr>
      </p:sp>
      <p:sp>
        <p:nvSpPr>
          <p:cNvPr id="5" name="Shape 3"/>
          <p:cNvSpPr/>
          <p:nvPr/>
        </p:nvSpPr>
        <p:spPr>
          <a:xfrm>
            <a:off x="1106424" y="2514600"/>
            <a:ext cx="146304" cy="146304"/>
          </a:xfrm>
          <a:prstGeom prst="ellipse">
            <a:avLst/>
          </a:prstGeom>
          <a:solidFill>
            <a:srgbClr val="EA4335"/>
          </a:solidFill>
          <a:ln/>
        </p:spPr>
      </p:sp>
      <p:sp>
        <p:nvSpPr>
          <p:cNvPr id="6" name="Shape 4"/>
          <p:cNvSpPr/>
          <p:nvPr/>
        </p:nvSpPr>
        <p:spPr>
          <a:xfrm>
            <a:off x="1344168" y="2514600"/>
            <a:ext cx="146304" cy="146304"/>
          </a:xfrm>
          <a:prstGeom prst="ellipse">
            <a:avLst/>
          </a:prstGeom>
          <a:solidFill>
            <a:srgbClr val="FBBC04"/>
          </a:solidFill>
          <a:ln/>
        </p:spPr>
      </p:sp>
      <p:sp>
        <p:nvSpPr>
          <p:cNvPr id="7" name="Shape 5"/>
          <p:cNvSpPr/>
          <p:nvPr/>
        </p:nvSpPr>
        <p:spPr>
          <a:xfrm>
            <a:off x="1581912" y="2514600"/>
            <a:ext cx="146304" cy="146304"/>
          </a:xfrm>
          <a:prstGeom prst="ellipse">
            <a:avLst/>
          </a:prstGeom>
          <a:solidFill>
            <a:srgbClr val="34A853"/>
          </a:solidFill>
          <a:ln/>
        </p:spPr>
      </p:sp>
      <p:sp>
        <p:nvSpPr>
          <p:cNvPr id="8" name="Text 6"/>
          <p:cNvSpPr/>
          <p:nvPr/>
        </p:nvSpPr>
        <p:spPr>
          <a:xfrm>
            <a:off x="868680" y="2788920"/>
            <a:ext cx="10058400" cy="365760"/>
          </a:xfrm>
          <a:prstGeom prst="rect">
            <a:avLst/>
          </a:prstGeom>
          <a:noFill/>
          <a:ln/>
        </p:spPr>
        <p:txBody>
          <a:bodyPr wrap="square" lIns="0" tIns="0" rIns="0" bIns="0" rtlCol="0" anchor="ctr"/>
          <a:lstStyle/>
          <a:p>
            <a:pPr algn="l" indent="0" marL="0">
              <a:buNone/>
            </a:pPr>
            <a:r>
              <a:rPr lang="en-US" sz="1300" b="1" spc="300" kern="0" dirty="0">
                <a:solidFill>
                  <a:srgbClr val="9AA0A6"/>
                </a:solidFill>
                <a:latin typeface="Calibri" pitchFamily="34" charset="0"/>
                <a:ea typeface="Calibri" pitchFamily="34" charset="-122"/>
                <a:cs typeface="Calibri" pitchFamily="34" charset="-120"/>
              </a:rPr>
              <a:t>AFTER THE BREAK</a:t>
            </a:r>
            <a:endParaRPr lang="en-US" sz="1300" dirty="0"/>
          </a:p>
        </p:txBody>
      </p:sp>
      <p:sp>
        <p:nvSpPr>
          <p:cNvPr id="9" name="Text 7"/>
          <p:cNvSpPr/>
          <p:nvPr/>
        </p:nvSpPr>
        <p:spPr>
          <a:xfrm>
            <a:off x="822960" y="3200400"/>
            <a:ext cx="10607040" cy="1005840"/>
          </a:xfrm>
          <a:prstGeom prst="rect">
            <a:avLst/>
          </a:prstGeom>
          <a:noFill/>
          <a:ln/>
        </p:spPr>
        <p:txBody>
          <a:bodyPr wrap="square" lIns="0" tIns="0" rIns="0" bIns="0" rtlCol="0" anchor="ctr"/>
          <a:lstStyle/>
          <a:p>
            <a:pPr algn="l" indent="0" marL="0">
              <a:buNone/>
            </a:pPr>
            <a:r>
              <a:rPr lang="en-US" sz="4400" b="1" dirty="0">
                <a:solidFill>
                  <a:srgbClr val="FFFFFF"/>
                </a:solidFill>
                <a:latin typeface="Georgia" pitchFamily="34" charset="0"/>
                <a:ea typeface="Georgia" pitchFamily="34" charset="-122"/>
                <a:cs typeface="Georgia" pitchFamily="34" charset="-120"/>
              </a:rPr>
              <a:t>Your First Code</a:t>
            </a:r>
            <a:endParaRPr lang="en-US" sz="4400" dirty="0"/>
          </a:p>
        </p:txBody>
      </p:sp>
      <p:sp>
        <p:nvSpPr>
          <p:cNvPr id="10" name="Text 8"/>
          <p:cNvSpPr/>
          <p:nvPr/>
        </p:nvSpPr>
        <p:spPr>
          <a:xfrm>
            <a:off x="868680" y="4343400"/>
            <a:ext cx="9875520" cy="731520"/>
          </a:xfrm>
          <a:prstGeom prst="rect">
            <a:avLst/>
          </a:prstGeom>
          <a:noFill/>
          <a:ln/>
        </p:spPr>
        <p:txBody>
          <a:bodyPr wrap="square" lIns="0" tIns="0" rIns="0" bIns="0" rtlCol="0" anchor="ctr"/>
          <a:lstStyle/>
          <a:p>
            <a:pPr algn="l" indent="0" marL="0">
              <a:lnSpc>
                <a:spcPct val="110000"/>
              </a:lnSpc>
              <a:buNone/>
            </a:pPr>
            <a:r>
              <a:rPr lang="en-US" sz="1700" dirty="0">
                <a:solidFill>
                  <a:srgbClr val="E8EAED"/>
                </a:solidFill>
                <a:latin typeface="Calibri" pitchFamily="34" charset="0"/>
                <a:ea typeface="Calibri" pitchFamily="34" charset="-122"/>
                <a:cs typeface="Calibri" pitchFamily="34" charset="-120"/>
              </a:rPr>
              <a:t>Now YOU write TypeScript. Two ideas to master today: printing and variables.</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4285F4"/>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4285F4"/>
                </a:solidFill>
                <a:latin typeface="Calibri" pitchFamily="34" charset="0"/>
                <a:ea typeface="Calibri" pitchFamily="34" charset="-122"/>
                <a:cs typeface="Calibri" pitchFamily="34" charset="-120"/>
              </a:rPr>
              <a:t>BASICS</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Your coding lab: the Playground</a:t>
            </a:r>
            <a:endParaRPr lang="en-US" sz="2900" dirty="0"/>
          </a:p>
        </p:txBody>
      </p:sp>
      <p:sp>
        <p:nvSpPr>
          <p:cNvPr id="9" name="Text 7"/>
          <p:cNvSpPr/>
          <p:nvPr/>
        </p:nvSpPr>
        <p:spPr>
          <a:xfrm>
            <a:off x="548640" y="1691640"/>
            <a:ext cx="10972800" cy="822960"/>
          </a:xfrm>
          <a:prstGeom prst="rect">
            <a:avLst/>
          </a:prstGeom>
          <a:noFill/>
          <a:ln/>
        </p:spPr>
        <p:txBody>
          <a:bodyPr wrap="square" lIns="0" tIns="0" rIns="0" bIns="0" rtlCol="0" anchor="t"/>
          <a:lstStyle/>
          <a:p>
            <a:pPr algn="l" indent="0" marL="0">
              <a:lnSpc>
                <a:spcPct val="115000"/>
              </a:lnSpc>
              <a:buNone/>
            </a:pPr>
            <a:r>
              <a:rPr lang="en-US" sz="1650" dirty="0">
                <a:solidFill>
                  <a:srgbClr val="5F6368"/>
                </a:solidFill>
                <a:latin typeface="Calibri" pitchFamily="34" charset="0"/>
                <a:ea typeface="Calibri" pitchFamily="34" charset="-122"/>
                <a:cs typeface="Calibri" pitchFamily="34" charset="-120"/>
              </a:rPr>
              <a:t>We'll use the </a:t>
            </a:r>
            <a:pPr algn="l" indent="0" marL="0">
              <a:lnSpc>
                <a:spcPct val="115000"/>
              </a:lnSpc>
              <a:buNone/>
            </a:pPr>
            <a:r>
              <a:rPr lang="en-US" sz="1650" b="1" dirty="0">
                <a:solidFill>
                  <a:srgbClr val="4285F4"/>
                </a:solidFill>
                <a:latin typeface="Calibri" pitchFamily="34" charset="0"/>
                <a:ea typeface="Calibri" pitchFamily="34" charset="-122"/>
                <a:cs typeface="Calibri" pitchFamily="34" charset="-120"/>
              </a:rPr>
              <a:t>TypeScript Playground</a:t>
            </a:r>
            <a:pPr algn="l" indent="0" marL="0">
              <a:lnSpc>
                <a:spcPct val="115000"/>
              </a:lnSpc>
              <a:buNone/>
            </a:pPr>
            <a:r>
              <a:rPr lang="en-US" sz="1650" dirty="0">
                <a:solidFill>
                  <a:srgbClr val="5F6368"/>
                </a:solidFill>
                <a:latin typeface="Calibri" pitchFamily="34" charset="0"/>
                <a:ea typeface="Calibri" pitchFamily="34" charset="-122"/>
                <a:cs typeface="Calibri" pitchFamily="34" charset="-120"/>
              </a:rPr>
              <a:t> — a free website where you type code on one side and see it run on the other. Nothing to install, works on any computer.</a:t>
            </a:r>
            <a:endParaRPr lang="en-US" sz="1650" dirty="0"/>
          </a:p>
        </p:txBody>
      </p:sp>
      <p:sp>
        <p:nvSpPr>
          <p:cNvPr id="10" name="Shape 8"/>
          <p:cNvSpPr/>
          <p:nvPr/>
        </p:nvSpPr>
        <p:spPr>
          <a:xfrm>
            <a:off x="548640" y="2651760"/>
            <a:ext cx="11064240" cy="822960"/>
          </a:xfrm>
          <a:prstGeom prst="roundRect">
            <a:avLst>
              <a:gd name="adj" fmla="val 10000"/>
            </a:avLst>
          </a:prstGeom>
          <a:solidFill>
            <a:srgbClr val="E8F0FE"/>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1" name="Text 9"/>
          <p:cNvSpPr/>
          <p:nvPr/>
        </p:nvSpPr>
        <p:spPr>
          <a:xfrm>
            <a:off x="868680" y="2651760"/>
            <a:ext cx="10424160" cy="822960"/>
          </a:xfrm>
          <a:prstGeom prst="rect">
            <a:avLst/>
          </a:prstGeom>
          <a:noFill/>
          <a:ln/>
        </p:spPr>
        <p:txBody>
          <a:bodyPr wrap="square" lIns="0" tIns="0" rIns="0" bIns="0" rtlCol="0" anchor="ctr"/>
          <a:lstStyle/>
          <a:p>
            <a:pPr algn="l" indent="0" marL="0">
              <a:buNone/>
            </a:pPr>
            <a:r>
              <a:rPr lang="en-US" sz="1800" dirty="0">
                <a:solidFill>
                  <a:srgbClr val="202124"/>
                </a:solidFill>
                <a:latin typeface="Calibri" pitchFamily="34" charset="0"/>
                <a:ea typeface="Calibri" pitchFamily="34" charset="-122"/>
                <a:cs typeface="Calibri" pitchFamily="34" charset="-120"/>
              </a:rPr>
              <a:t>Go here:   </a:t>
            </a:r>
            <a:pPr algn="l" indent="0" marL="0">
              <a:buNone/>
            </a:pPr>
            <a:r>
              <a:rPr lang="en-US" sz="1800" b="1" dirty="0">
                <a:solidFill>
                  <a:srgbClr val="1A73E8"/>
                </a:solidFill>
                <a:latin typeface="Courier New" pitchFamily="34" charset="0"/>
                <a:ea typeface="Courier New" pitchFamily="34" charset="-122"/>
                <a:cs typeface="Courier New" pitchFamily="34" charset="-120"/>
              </a:rPr>
              <a:t>typescriptlang.org/play</a:t>
            </a:r>
            <a:endParaRPr lang="en-US" sz="1800" dirty="0"/>
          </a:p>
        </p:txBody>
      </p:sp>
      <p:sp>
        <p:nvSpPr>
          <p:cNvPr id="12" name="Shape 10"/>
          <p:cNvSpPr/>
          <p:nvPr/>
        </p:nvSpPr>
        <p:spPr>
          <a:xfrm>
            <a:off x="548640" y="3703320"/>
            <a:ext cx="3474720" cy="1691640"/>
          </a:xfrm>
          <a:prstGeom prst="roundRect">
            <a:avLst>
              <a:gd name="adj" fmla="val 4865"/>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3" name="Shape 11"/>
          <p:cNvSpPr/>
          <p:nvPr/>
        </p:nvSpPr>
        <p:spPr>
          <a:xfrm>
            <a:off x="822960" y="3931920"/>
            <a:ext cx="502920" cy="502920"/>
          </a:xfrm>
          <a:prstGeom prst="ellipse">
            <a:avLst/>
          </a:prstGeom>
          <a:solidFill>
            <a:srgbClr val="4285F4"/>
          </a:solidFill>
          <a:ln/>
        </p:spPr>
      </p:sp>
      <p:sp>
        <p:nvSpPr>
          <p:cNvPr id="14" name="Text 12"/>
          <p:cNvSpPr/>
          <p:nvPr/>
        </p:nvSpPr>
        <p:spPr>
          <a:xfrm>
            <a:off x="822960" y="3931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15" name="Text 13"/>
          <p:cNvSpPr/>
          <p:nvPr/>
        </p:nvSpPr>
        <p:spPr>
          <a:xfrm>
            <a:off x="1463040" y="3950208"/>
            <a:ext cx="2468880" cy="457200"/>
          </a:xfrm>
          <a:prstGeom prst="rect">
            <a:avLst/>
          </a:prstGeom>
          <a:noFill/>
          <a:ln/>
        </p:spPr>
        <p:txBody>
          <a:bodyPr wrap="square" lIns="0" tIns="0" rIns="0" bIns="0" rtlCol="0" anchor="ctr"/>
          <a:lstStyle/>
          <a:p>
            <a:pPr algn="l" indent="0" marL="0">
              <a:buNone/>
            </a:pPr>
            <a:r>
              <a:rPr lang="en-US" sz="1500" b="1" dirty="0">
                <a:solidFill>
                  <a:srgbClr val="202124"/>
                </a:solidFill>
                <a:latin typeface="Calibri" pitchFamily="34" charset="0"/>
                <a:ea typeface="Calibri" pitchFamily="34" charset="-122"/>
                <a:cs typeface="Calibri" pitchFamily="34" charset="-120"/>
              </a:rPr>
              <a:t>Left side</a:t>
            </a:r>
            <a:endParaRPr lang="en-US" sz="1500" dirty="0"/>
          </a:p>
        </p:txBody>
      </p:sp>
      <p:sp>
        <p:nvSpPr>
          <p:cNvPr id="16" name="Text 14"/>
          <p:cNvSpPr/>
          <p:nvPr/>
        </p:nvSpPr>
        <p:spPr>
          <a:xfrm>
            <a:off x="822960" y="4526280"/>
            <a:ext cx="3017520" cy="777240"/>
          </a:xfrm>
          <a:prstGeom prst="rect">
            <a:avLst/>
          </a:prstGeom>
          <a:noFill/>
          <a:ln/>
        </p:spPr>
        <p:txBody>
          <a:bodyPr wrap="square" lIns="0" tIns="0" rIns="0" bIns="0" rtlCol="0" anchor="t"/>
          <a:lstStyle/>
          <a:p>
            <a:pPr algn="l" indent="0" marL="0">
              <a:lnSpc>
                <a:spcPct val="110000"/>
              </a:lnSpc>
              <a:buNone/>
            </a:pPr>
            <a:r>
              <a:rPr lang="en-US" sz="1300" dirty="0">
                <a:solidFill>
                  <a:srgbClr val="5F6368"/>
                </a:solidFill>
                <a:latin typeface="Calibri" pitchFamily="34" charset="0"/>
                <a:ea typeface="Calibri" pitchFamily="34" charset="-122"/>
                <a:cs typeface="Calibri" pitchFamily="34" charset="-120"/>
              </a:rPr>
              <a:t>You type your TypeScript code here.</a:t>
            </a:r>
            <a:endParaRPr lang="en-US" sz="1300" dirty="0"/>
          </a:p>
        </p:txBody>
      </p:sp>
      <p:sp>
        <p:nvSpPr>
          <p:cNvPr id="17" name="Shape 15"/>
          <p:cNvSpPr/>
          <p:nvPr/>
        </p:nvSpPr>
        <p:spPr>
          <a:xfrm>
            <a:off x="4251960" y="3703320"/>
            <a:ext cx="3474720" cy="1691640"/>
          </a:xfrm>
          <a:prstGeom prst="roundRect">
            <a:avLst>
              <a:gd name="adj" fmla="val 4865"/>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8" name="Shape 16"/>
          <p:cNvSpPr/>
          <p:nvPr/>
        </p:nvSpPr>
        <p:spPr>
          <a:xfrm>
            <a:off x="4526280" y="3931920"/>
            <a:ext cx="502920" cy="502920"/>
          </a:xfrm>
          <a:prstGeom prst="ellipse">
            <a:avLst/>
          </a:prstGeom>
          <a:solidFill>
            <a:srgbClr val="EA4335"/>
          </a:solidFill>
          <a:ln/>
        </p:spPr>
      </p:sp>
      <p:sp>
        <p:nvSpPr>
          <p:cNvPr id="19" name="Text 17"/>
          <p:cNvSpPr/>
          <p:nvPr/>
        </p:nvSpPr>
        <p:spPr>
          <a:xfrm>
            <a:off x="4526280" y="3931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20" name="Text 18"/>
          <p:cNvSpPr/>
          <p:nvPr/>
        </p:nvSpPr>
        <p:spPr>
          <a:xfrm>
            <a:off x="5166360" y="3950208"/>
            <a:ext cx="2468880" cy="457200"/>
          </a:xfrm>
          <a:prstGeom prst="rect">
            <a:avLst/>
          </a:prstGeom>
          <a:noFill/>
          <a:ln/>
        </p:spPr>
        <p:txBody>
          <a:bodyPr wrap="square" lIns="0" tIns="0" rIns="0" bIns="0" rtlCol="0" anchor="ctr"/>
          <a:lstStyle/>
          <a:p>
            <a:pPr algn="l" indent="0" marL="0">
              <a:buNone/>
            </a:pPr>
            <a:r>
              <a:rPr lang="en-US" sz="1500" b="1" dirty="0">
                <a:solidFill>
                  <a:srgbClr val="202124"/>
                </a:solidFill>
                <a:latin typeface="Calibri" pitchFamily="34" charset="0"/>
                <a:ea typeface="Calibri" pitchFamily="34" charset="-122"/>
                <a:cs typeface="Calibri" pitchFamily="34" charset="-120"/>
              </a:rPr>
              <a:t>Run ▶</a:t>
            </a:r>
            <a:endParaRPr lang="en-US" sz="1500" dirty="0"/>
          </a:p>
        </p:txBody>
      </p:sp>
      <p:sp>
        <p:nvSpPr>
          <p:cNvPr id="21" name="Text 19"/>
          <p:cNvSpPr/>
          <p:nvPr/>
        </p:nvSpPr>
        <p:spPr>
          <a:xfrm>
            <a:off x="4526280" y="4526280"/>
            <a:ext cx="3017520" cy="777240"/>
          </a:xfrm>
          <a:prstGeom prst="rect">
            <a:avLst/>
          </a:prstGeom>
          <a:noFill/>
          <a:ln/>
        </p:spPr>
        <p:txBody>
          <a:bodyPr wrap="square" lIns="0" tIns="0" rIns="0" bIns="0" rtlCol="0" anchor="t"/>
          <a:lstStyle/>
          <a:p>
            <a:pPr algn="l" indent="0" marL="0">
              <a:lnSpc>
                <a:spcPct val="110000"/>
              </a:lnSpc>
              <a:buNone/>
            </a:pPr>
            <a:r>
              <a:rPr lang="en-US" sz="1300" dirty="0">
                <a:solidFill>
                  <a:srgbClr val="5F6368"/>
                </a:solidFill>
                <a:latin typeface="Calibri" pitchFamily="34" charset="0"/>
                <a:ea typeface="Calibri" pitchFamily="34" charset="-122"/>
                <a:cs typeface="Calibri" pitchFamily="34" charset="-120"/>
              </a:rPr>
              <a:t>Press Run to make your code go.</a:t>
            </a:r>
            <a:endParaRPr lang="en-US" sz="1300" dirty="0"/>
          </a:p>
        </p:txBody>
      </p:sp>
      <p:sp>
        <p:nvSpPr>
          <p:cNvPr id="22" name="Shape 20"/>
          <p:cNvSpPr/>
          <p:nvPr/>
        </p:nvSpPr>
        <p:spPr>
          <a:xfrm>
            <a:off x="7955280" y="3703320"/>
            <a:ext cx="3474720" cy="1691640"/>
          </a:xfrm>
          <a:prstGeom prst="roundRect">
            <a:avLst>
              <a:gd name="adj" fmla="val 4865"/>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23" name="Shape 21"/>
          <p:cNvSpPr/>
          <p:nvPr/>
        </p:nvSpPr>
        <p:spPr>
          <a:xfrm>
            <a:off x="8229600" y="3931920"/>
            <a:ext cx="502920" cy="502920"/>
          </a:xfrm>
          <a:prstGeom prst="ellipse">
            <a:avLst/>
          </a:prstGeom>
          <a:solidFill>
            <a:srgbClr val="34A853"/>
          </a:solidFill>
          <a:ln/>
        </p:spPr>
      </p:sp>
      <p:sp>
        <p:nvSpPr>
          <p:cNvPr id="24" name="Text 22"/>
          <p:cNvSpPr/>
          <p:nvPr/>
        </p:nvSpPr>
        <p:spPr>
          <a:xfrm>
            <a:off x="8229600" y="3931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5" name="Text 23"/>
          <p:cNvSpPr/>
          <p:nvPr/>
        </p:nvSpPr>
        <p:spPr>
          <a:xfrm>
            <a:off x="8869680" y="3950208"/>
            <a:ext cx="2468880" cy="457200"/>
          </a:xfrm>
          <a:prstGeom prst="rect">
            <a:avLst/>
          </a:prstGeom>
          <a:noFill/>
          <a:ln/>
        </p:spPr>
        <p:txBody>
          <a:bodyPr wrap="square" lIns="0" tIns="0" rIns="0" bIns="0" rtlCol="0" anchor="ctr"/>
          <a:lstStyle/>
          <a:p>
            <a:pPr algn="l" indent="0" marL="0">
              <a:buNone/>
            </a:pPr>
            <a:r>
              <a:rPr lang="en-US" sz="1500" b="1" dirty="0">
                <a:solidFill>
                  <a:srgbClr val="202124"/>
                </a:solidFill>
                <a:latin typeface="Calibri" pitchFamily="34" charset="0"/>
                <a:ea typeface="Calibri" pitchFamily="34" charset="-122"/>
                <a:cs typeface="Calibri" pitchFamily="34" charset="-120"/>
              </a:rPr>
              <a:t>Console</a:t>
            </a:r>
            <a:endParaRPr lang="en-US" sz="1500" dirty="0"/>
          </a:p>
        </p:txBody>
      </p:sp>
      <p:sp>
        <p:nvSpPr>
          <p:cNvPr id="26" name="Text 24"/>
          <p:cNvSpPr/>
          <p:nvPr/>
        </p:nvSpPr>
        <p:spPr>
          <a:xfrm>
            <a:off x="8229600" y="4526280"/>
            <a:ext cx="3017520" cy="777240"/>
          </a:xfrm>
          <a:prstGeom prst="rect">
            <a:avLst/>
          </a:prstGeom>
          <a:noFill/>
          <a:ln/>
        </p:spPr>
        <p:txBody>
          <a:bodyPr wrap="square" lIns="0" tIns="0" rIns="0" bIns="0" rtlCol="0" anchor="t"/>
          <a:lstStyle/>
          <a:p>
            <a:pPr algn="l" indent="0" marL="0">
              <a:lnSpc>
                <a:spcPct val="110000"/>
              </a:lnSpc>
              <a:buNone/>
            </a:pPr>
            <a:r>
              <a:rPr lang="en-US" sz="1300" dirty="0">
                <a:solidFill>
                  <a:srgbClr val="5F6368"/>
                </a:solidFill>
                <a:latin typeface="Calibri" pitchFamily="34" charset="0"/>
                <a:ea typeface="Calibri" pitchFamily="34" charset="-122"/>
                <a:cs typeface="Calibri" pitchFamily="34" charset="-120"/>
              </a:rPr>
              <a:t>Your printed messages appear here at the bottom.</a:t>
            </a:r>
            <a:endParaRPr lang="en-US" sz="1300" dirty="0"/>
          </a:p>
        </p:txBody>
      </p:sp>
      <p:sp>
        <p:nvSpPr>
          <p:cNvPr id="27" name="Text 25"/>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28" name="Text 26"/>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EA4335"/>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EA4335"/>
                </a:solidFill>
                <a:latin typeface="Calibri" pitchFamily="34" charset="0"/>
                <a:ea typeface="Calibri" pitchFamily="34" charset="-122"/>
                <a:cs typeface="Calibri" pitchFamily="34" charset="-120"/>
              </a:rPr>
              <a:t>BASICS</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Skill #1: printing with console.log</a:t>
            </a:r>
            <a:endParaRPr lang="en-US" sz="2900" dirty="0"/>
          </a:p>
        </p:txBody>
      </p:sp>
      <p:sp>
        <p:nvSpPr>
          <p:cNvPr id="9" name="Text 7"/>
          <p:cNvSpPr/>
          <p:nvPr/>
        </p:nvSpPr>
        <p:spPr>
          <a:xfrm>
            <a:off x="548640" y="1691640"/>
            <a:ext cx="10972800" cy="822960"/>
          </a:xfrm>
          <a:prstGeom prst="rect">
            <a:avLst/>
          </a:prstGeom>
          <a:noFill/>
          <a:ln/>
        </p:spPr>
        <p:txBody>
          <a:bodyPr wrap="square" lIns="0" tIns="0" rIns="0" bIns="0" rtlCol="0" anchor="t"/>
          <a:lstStyle/>
          <a:p>
            <a:pPr algn="l" indent="0" marL="0">
              <a:lnSpc>
                <a:spcPct val="115000"/>
              </a:lnSpc>
              <a:buNone/>
            </a:pPr>
            <a:r>
              <a:rPr lang="en-US" sz="1600" b="1" dirty="0">
                <a:solidFill>
                  <a:srgbClr val="202124"/>
                </a:solidFill>
                <a:latin typeface="Courier New" pitchFamily="34" charset="0"/>
                <a:ea typeface="Courier New" pitchFamily="34" charset="-122"/>
                <a:cs typeface="Courier New" pitchFamily="34" charset="-120"/>
              </a:rPr>
              <a:t>console.log(...)</a:t>
            </a:r>
            <a:pPr algn="l" indent="0" marL="0">
              <a:lnSpc>
                <a:spcPct val="115000"/>
              </a:lnSpc>
              <a:buNone/>
            </a:pPr>
            <a:r>
              <a:rPr lang="en-US" sz="1600" dirty="0">
                <a:solidFill>
                  <a:srgbClr val="5F6368"/>
                </a:solidFill>
                <a:latin typeface="Calibri" pitchFamily="34" charset="0"/>
                <a:ea typeface="Calibri" pitchFamily="34" charset="-122"/>
                <a:cs typeface="Calibri" pitchFamily="34" charset="-120"/>
              </a:rPr>
              <a:t> is how your program “speaks.” Whatever you put in the parentheses gets printed to the screen. It's the very first thing every coder learns.</a:t>
            </a:r>
            <a:endParaRPr lang="en-US" sz="1600" dirty="0"/>
          </a:p>
        </p:txBody>
      </p:sp>
      <p:sp>
        <p:nvSpPr>
          <p:cNvPr id="10" name="Shape 8"/>
          <p:cNvSpPr/>
          <p:nvPr/>
        </p:nvSpPr>
        <p:spPr>
          <a:xfrm>
            <a:off x="548640" y="2697480"/>
            <a:ext cx="5486400" cy="2377440"/>
          </a:xfrm>
          <a:prstGeom prst="roundRect">
            <a:avLst>
              <a:gd name="adj" fmla="val 2692"/>
            </a:avLst>
          </a:prstGeom>
          <a:solidFill>
            <a:srgbClr val="202124"/>
          </a:solidFill>
          <a:ln/>
          <a:effectLst>
            <a:outerShdw sx="100000" sy="100000" kx="0" ky="0" algn="bl" rotWithShape="0" blurRad="127000" dist="38100" dir="5400000">
              <a:srgbClr val="000000">
                <a:alpha val="25000"/>
              </a:srgbClr>
            </a:outerShdw>
          </a:effectLst>
        </p:spPr>
      </p:sp>
      <p:sp>
        <p:nvSpPr>
          <p:cNvPr id="11" name="Shape 9"/>
          <p:cNvSpPr/>
          <p:nvPr/>
        </p:nvSpPr>
        <p:spPr>
          <a:xfrm>
            <a:off x="749808" y="2862072"/>
            <a:ext cx="91440" cy="91440"/>
          </a:xfrm>
          <a:prstGeom prst="ellipse">
            <a:avLst/>
          </a:prstGeom>
          <a:solidFill>
            <a:srgbClr val="EA4335"/>
          </a:solidFill>
          <a:ln/>
        </p:spPr>
      </p:sp>
      <p:sp>
        <p:nvSpPr>
          <p:cNvPr id="12" name="Shape 10"/>
          <p:cNvSpPr/>
          <p:nvPr/>
        </p:nvSpPr>
        <p:spPr>
          <a:xfrm>
            <a:off x="950976" y="2862072"/>
            <a:ext cx="91440" cy="91440"/>
          </a:xfrm>
          <a:prstGeom prst="ellipse">
            <a:avLst/>
          </a:prstGeom>
          <a:solidFill>
            <a:srgbClr val="FBBC04"/>
          </a:solidFill>
          <a:ln/>
        </p:spPr>
      </p:sp>
      <p:sp>
        <p:nvSpPr>
          <p:cNvPr id="13" name="Shape 11"/>
          <p:cNvSpPr/>
          <p:nvPr/>
        </p:nvSpPr>
        <p:spPr>
          <a:xfrm>
            <a:off x="1152144" y="2862072"/>
            <a:ext cx="91440" cy="91440"/>
          </a:xfrm>
          <a:prstGeom prst="ellipse">
            <a:avLst/>
          </a:prstGeom>
          <a:solidFill>
            <a:srgbClr val="34A853"/>
          </a:solidFill>
          <a:ln/>
        </p:spPr>
      </p:sp>
      <p:sp>
        <p:nvSpPr>
          <p:cNvPr id="14" name="Text 12"/>
          <p:cNvSpPr/>
          <p:nvPr/>
        </p:nvSpPr>
        <p:spPr>
          <a:xfrm>
            <a:off x="777240" y="3154680"/>
            <a:ext cx="5029200" cy="1737360"/>
          </a:xfrm>
          <a:prstGeom prst="rect">
            <a:avLst/>
          </a:prstGeom>
          <a:noFill/>
          <a:ln/>
        </p:spPr>
        <p:txBody>
          <a:bodyPr wrap="square" lIns="0" tIns="0" rIns="0" bIns="0" rtlCol="0" anchor="t"/>
          <a:lstStyle/>
          <a:p>
            <a:pPr algn="l" indent="0" marL="0">
              <a:lnSpc>
                <a:spcPct val="112000"/>
              </a:lnSpc>
              <a:buNone/>
            </a:pPr>
            <a:r>
              <a:rPr lang="en-US" sz="1350" dirty="0">
                <a:solidFill>
                  <a:srgbClr val="E8EAED"/>
                </a:solidFill>
                <a:latin typeface="Courier New" pitchFamily="34" charset="0"/>
                <a:ea typeface="Courier New" pitchFamily="34" charset="-122"/>
                <a:cs typeface="Courier New" pitchFamily="34" charset="-120"/>
              </a:rPr>
              <a:t>console.log("Hello, world!");</a:t>
            </a:r>
            <a:endParaRPr lang="en-US" sz="1350" dirty="0"/>
          </a:p>
          <a:p>
            <a:pPr algn="l" indent="0" marL="0">
              <a:lnSpc>
                <a:spcPct val="112000"/>
              </a:lnSpc>
              <a:buNone/>
            </a:pPr>
            <a:r>
              <a:rPr lang="en-US" sz="1350" dirty="0">
                <a:solidFill>
                  <a:srgbClr val="E8EAED"/>
                </a:solidFill>
                <a:latin typeface="Courier New" pitchFamily="34" charset="0"/>
                <a:ea typeface="Courier New" pitchFamily="34" charset="-122"/>
                <a:cs typeface="Courier New" pitchFamily="34" charset="-120"/>
              </a:rPr>
              <a:t>console.log("I am learning to code.");</a:t>
            </a:r>
            <a:endParaRPr lang="en-US" sz="1350" dirty="0"/>
          </a:p>
          <a:p>
            <a:pPr algn="l" indent="0" marL="0">
              <a:lnSpc>
                <a:spcPct val="112000"/>
              </a:lnSpc>
              <a:buNone/>
            </a:pPr>
            <a:r>
              <a:rPr lang="en-US" sz="1350" dirty="0">
                <a:solidFill>
                  <a:srgbClr val="E8EAED"/>
                </a:solidFill>
                <a:latin typeface="Courier New" pitchFamily="34" charset="0"/>
                <a:ea typeface="Courier New" pitchFamily="34" charset="-122"/>
                <a:cs typeface="Courier New" pitchFamily="34" charset="-120"/>
              </a:rPr>
              <a:t>console.log(7 + 3);</a:t>
            </a:r>
            <a:endParaRPr lang="en-US" sz="1350" dirty="0"/>
          </a:p>
          <a:p>
            <a:pPr algn="l" indent="0" marL="0">
              <a:lnSpc>
                <a:spcPct val="112000"/>
              </a:lnSpc>
              <a:buNone/>
            </a:pPr>
            <a:r>
              <a:rPr lang="en-US" sz="1350" dirty="0">
                <a:solidFill>
                  <a:srgbClr val="81C995"/>
                </a:solidFill>
                <a:latin typeface="Courier New" pitchFamily="34" charset="0"/>
                <a:ea typeface="Courier New" pitchFamily="34" charset="-122"/>
                <a:cs typeface="Courier New" pitchFamily="34" charset="-120"/>
              </a:rPr>
              <a:t>▶ Hello, world!</a:t>
            </a:r>
            <a:endParaRPr lang="en-US" sz="1350" dirty="0"/>
          </a:p>
          <a:p>
            <a:pPr algn="l" indent="0" marL="0">
              <a:lnSpc>
                <a:spcPct val="112000"/>
              </a:lnSpc>
              <a:buNone/>
            </a:pPr>
            <a:r>
              <a:rPr lang="en-US" sz="1350" dirty="0">
                <a:solidFill>
                  <a:srgbClr val="81C995"/>
                </a:solidFill>
                <a:latin typeface="Courier New" pitchFamily="34" charset="0"/>
                <a:ea typeface="Courier New" pitchFamily="34" charset="-122"/>
                <a:cs typeface="Courier New" pitchFamily="34" charset="-120"/>
              </a:rPr>
              <a:t>▶ I am learning to code.</a:t>
            </a:r>
            <a:endParaRPr lang="en-US" sz="1350" dirty="0"/>
          </a:p>
          <a:p>
            <a:pPr algn="l" indent="0" marL="0">
              <a:lnSpc>
                <a:spcPct val="112000"/>
              </a:lnSpc>
              <a:buNone/>
            </a:pPr>
            <a:r>
              <a:rPr lang="en-US" sz="1350" dirty="0">
                <a:solidFill>
                  <a:srgbClr val="81C995"/>
                </a:solidFill>
                <a:latin typeface="Courier New" pitchFamily="34" charset="0"/>
                <a:ea typeface="Courier New" pitchFamily="34" charset="-122"/>
                <a:cs typeface="Courier New" pitchFamily="34" charset="-120"/>
              </a:rPr>
              <a:t>▶ 10</a:t>
            </a:r>
            <a:endParaRPr lang="en-US" sz="1350" dirty="0"/>
          </a:p>
        </p:txBody>
      </p:sp>
      <p:sp>
        <p:nvSpPr>
          <p:cNvPr id="15" name="Shape 13"/>
          <p:cNvSpPr/>
          <p:nvPr/>
        </p:nvSpPr>
        <p:spPr>
          <a:xfrm>
            <a:off x="6309360" y="2697480"/>
            <a:ext cx="5303520" cy="2377440"/>
          </a:xfrm>
          <a:prstGeom prst="roundRect">
            <a:avLst>
              <a:gd name="adj" fmla="val 3462"/>
            </a:avLst>
          </a:prstGeom>
          <a:solidFill>
            <a:srgbClr val="FEF7E0"/>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6" name="Text 14"/>
          <p:cNvSpPr/>
          <p:nvPr/>
        </p:nvSpPr>
        <p:spPr>
          <a:xfrm>
            <a:off x="6583680" y="2880360"/>
            <a:ext cx="4754880" cy="320040"/>
          </a:xfrm>
          <a:prstGeom prst="rect">
            <a:avLst/>
          </a:prstGeom>
          <a:noFill/>
          <a:ln/>
        </p:spPr>
        <p:txBody>
          <a:bodyPr wrap="square" lIns="0" tIns="0" rIns="0" bIns="0" rtlCol="0" anchor="ctr"/>
          <a:lstStyle/>
          <a:p>
            <a:pPr algn="l" indent="0" marL="0">
              <a:buNone/>
            </a:pPr>
            <a:r>
              <a:rPr lang="en-US" sz="1200" b="1" spc="200" kern="0" dirty="0">
                <a:solidFill>
                  <a:srgbClr val="C5221F"/>
                </a:solidFill>
                <a:latin typeface="Calibri" pitchFamily="34" charset="0"/>
                <a:ea typeface="Calibri" pitchFamily="34" charset="-122"/>
                <a:cs typeface="Calibri" pitchFamily="34" charset="-120"/>
              </a:rPr>
              <a:t>CONCEPT</a:t>
            </a:r>
            <a:endParaRPr lang="en-US" sz="1200" dirty="0"/>
          </a:p>
        </p:txBody>
      </p:sp>
      <p:sp>
        <p:nvSpPr>
          <p:cNvPr id="17" name="Text 15"/>
          <p:cNvSpPr/>
          <p:nvPr/>
        </p:nvSpPr>
        <p:spPr>
          <a:xfrm>
            <a:off x="6583680" y="3246120"/>
            <a:ext cx="4754880" cy="1737360"/>
          </a:xfrm>
          <a:prstGeom prst="rect">
            <a:avLst/>
          </a:prstGeom>
          <a:noFill/>
          <a:ln/>
        </p:spPr>
        <p:txBody>
          <a:bodyPr wrap="square" lIns="0" tIns="0" rIns="0" bIns="0" rtlCol="0" anchor="t"/>
          <a:lstStyle/>
          <a:p>
            <a:pPr algn="l" indent="0" marL="0">
              <a:lnSpc>
                <a:spcPct val="115000"/>
              </a:lnSpc>
              <a:buNone/>
            </a:pPr>
            <a:r>
              <a:rPr lang="en-US" sz="1350" b="1" dirty="0">
                <a:solidFill>
                  <a:srgbClr val="202124"/>
                </a:solidFill>
                <a:latin typeface="Calibri" pitchFamily="34" charset="0"/>
                <a:ea typeface="Calibri" pitchFamily="34" charset="-122"/>
                <a:cs typeface="Calibri" pitchFamily="34" charset="-120"/>
              </a:rPr>
              <a:t>Text vs. numbers.
</a:t>
            </a:r>
            <a:pPr algn="l" indent="0" marL="0">
              <a:lnSpc>
                <a:spcPct val="115000"/>
              </a:lnSpc>
              <a:buNone/>
            </a:pPr>
            <a:r>
              <a:rPr lang="en-US" sz="1350" dirty="0">
                <a:solidFill>
                  <a:srgbClr val="5F6368"/>
                </a:solidFill>
                <a:latin typeface="Calibri" pitchFamily="34" charset="0"/>
                <a:ea typeface="Calibri" pitchFamily="34" charset="-122"/>
                <a:cs typeface="Calibri" pitchFamily="34" charset="-120"/>
              </a:rPr>
              <a:t>Text goes in “quotes” and prints exactly as written. Numbers have no quotes and can be math'd. </a:t>
            </a:r>
            <a:pPr algn="l" indent="0" marL="0">
              <a:lnSpc>
                <a:spcPct val="115000"/>
              </a:lnSpc>
              <a:buNone/>
            </a:pPr>
            <a:r>
              <a:rPr lang="en-US" sz="1350" dirty="0">
                <a:solidFill>
                  <a:srgbClr val="C5221F"/>
                </a:solidFill>
                <a:latin typeface="Courier New" pitchFamily="34" charset="0"/>
                <a:ea typeface="Courier New" pitchFamily="34" charset="-122"/>
                <a:cs typeface="Courier New" pitchFamily="34" charset="-120"/>
              </a:rPr>
              <a:t>"7 + 3"</a:t>
            </a:r>
            <a:pPr algn="l" indent="0" marL="0">
              <a:lnSpc>
                <a:spcPct val="115000"/>
              </a:lnSpc>
              <a:buNone/>
            </a:pPr>
            <a:r>
              <a:rPr lang="en-US" sz="1350" dirty="0">
                <a:solidFill>
                  <a:srgbClr val="5F6368"/>
                </a:solidFill>
                <a:latin typeface="Calibri" pitchFamily="34" charset="0"/>
                <a:ea typeface="Calibri" pitchFamily="34" charset="-122"/>
                <a:cs typeface="Calibri" pitchFamily="34" charset="-120"/>
              </a:rPr>
              <a:t> prints </a:t>
            </a:r>
            <a:pPr algn="l" indent="0" marL="0">
              <a:lnSpc>
                <a:spcPct val="115000"/>
              </a:lnSpc>
              <a:buNone/>
            </a:pPr>
            <a:r>
              <a:rPr lang="en-US" sz="1350" dirty="0">
                <a:solidFill>
                  <a:srgbClr val="5F6368"/>
                </a:solidFill>
                <a:latin typeface="Courier New" pitchFamily="34" charset="0"/>
                <a:ea typeface="Courier New" pitchFamily="34" charset="-122"/>
                <a:cs typeface="Courier New" pitchFamily="34" charset="-120"/>
              </a:rPr>
              <a:t>7 + 3</a:t>
            </a:r>
            <a:pPr algn="l" indent="0" marL="0">
              <a:lnSpc>
                <a:spcPct val="115000"/>
              </a:lnSpc>
              <a:buNone/>
            </a:pPr>
            <a:r>
              <a:rPr lang="en-US" sz="1350" dirty="0">
                <a:solidFill>
                  <a:srgbClr val="5F6368"/>
                </a:solidFill>
                <a:latin typeface="Calibri" pitchFamily="34" charset="0"/>
                <a:ea typeface="Calibri" pitchFamily="34" charset="-122"/>
                <a:cs typeface="Calibri" pitchFamily="34" charset="-120"/>
              </a:rPr>
              <a:t>, but </a:t>
            </a:r>
            <a:pPr algn="l" indent="0" marL="0">
              <a:lnSpc>
                <a:spcPct val="115000"/>
              </a:lnSpc>
              <a:buNone/>
            </a:pPr>
            <a:r>
              <a:rPr lang="en-US" sz="1350" dirty="0">
                <a:solidFill>
                  <a:srgbClr val="1E8E3E"/>
                </a:solidFill>
                <a:latin typeface="Courier New" pitchFamily="34" charset="0"/>
                <a:ea typeface="Courier New" pitchFamily="34" charset="-122"/>
                <a:cs typeface="Courier New" pitchFamily="34" charset="-120"/>
              </a:rPr>
              <a:t>7 + 3</a:t>
            </a:r>
            <a:pPr algn="l" indent="0" marL="0">
              <a:lnSpc>
                <a:spcPct val="115000"/>
              </a:lnSpc>
              <a:buNone/>
            </a:pPr>
            <a:r>
              <a:rPr lang="en-US" sz="1350" dirty="0">
                <a:solidFill>
                  <a:srgbClr val="5F6368"/>
                </a:solidFill>
                <a:latin typeface="Calibri" pitchFamily="34" charset="0"/>
                <a:ea typeface="Calibri" pitchFamily="34" charset="-122"/>
                <a:cs typeface="Calibri" pitchFamily="34" charset="-120"/>
              </a:rPr>
              <a:t> prints </a:t>
            </a:r>
            <a:pPr algn="l" indent="0" marL="0">
              <a:lnSpc>
                <a:spcPct val="115000"/>
              </a:lnSpc>
              <a:buNone/>
            </a:pPr>
            <a:r>
              <a:rPr lang="en-US" sz="1350" b="1" dirty="0">
                <a:solidFill>
                  <a:srgbClr val="5F6368"/>
                </a:solidFill>
                <a:latin typeface="Courier New" pitchFamily="34" charset="0"/>
                <a:ea typeface="Courier New" pitchFamily="34" charset="-122"/>
                <a:cs typeface="Courier New" pitchFamily="34" charset="-120"/>
              </a:rPr>
              <a:t>10</a:t>
            </a:r>
            <a:pPr algn="l" indent="0" marL="0">
              <a:lnSpc>
                <a:spcPct val="115000"/>
              </a:lnSpc>
              <a:buNone/>
            </a:pPr>
            <a:r>
              <a:rPr lang="en-US" sz="1350" dirty="0">
                <a:solidFill>
                  <a:srgbClr val="5F6368"/>
                </a:solidFill>
                <a:latin typeface="Calibri" pitchFamily="34" charset="0"/>
                <a:ea typeface="Calibri" pitchFamily="34" charset="-122"/>
                <a:cs typeface="Calibri" pitchFamily="34" charset="-120"/>
              </a:rPr>
              <a:t>.</a:t>
            </a:r>
            <a:endParaRPr lang="en-US" sz="1350" dirty="0"/>
          </a:p>
        </p:txBody>
      </p:sp>
      <p:sp>
        <p:nvSpPr>
          <p:cNvPr id="18" name="Text 1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19" name="Text 17"/>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34A853"/>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34A853"/>
                </a:solidFill>
                <a:latin typeface="Calibri" pitchFamily="34" charset="0"/>
                <a:ea typeface="Calibri" pitchFamily="34" charset="-122"/>
                <a:cs typeface="Calibri" pitchFamily="34" charset="-120"/>
              </a:rPr>
              <a:t>BASICS</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Skill #2: variables (labeled boxes)</a:t>
            </a:r>
            <a:endParaRPr lang="en-US" sz="2900" dirty="0"/>
          </a:p>
        </p:txBody>
      </p:sp>
      <p:sp>
        <p:nvSpPr>
          <p:cNvPr id="9" name="Text 7"/>
          <p:cNvSpPr/>
          <p:nvPr/>
        </p:nvSpPr>
        <p:spPr>
          <a:xfrm>
            <a:off x="548640" y="1691640"/>
            <a:ext cx="10972800" cy="822960"/>
          </a:xfrm>
          <a:prstGeom prst="rect">
            <a:avLst/>
          </a:prstGeom>
          <a:noFill/>
          <a:ln/>
        </p:spPr>
        <p:txBody>
          <a:bodyPr wrap="square" lIns="0" tIns="0" rIns="0" bIns="0" rtlCol="0" anchor="t"/>
          <a:lstStyle/>
          <a:p>
            <a:pPr algn="l" indent="0" marL="0">
              <a:lnSpc>
                <a:spcPct val="115000"/>
              </a:lnSpc>
              <a:buNone/>
            </a:pPr>
            <a:r>
              <a:rPr lang="en-US" sz="1600" dirty="0">
                <a:solidFill>
                  <a:srgbClr val="5F6368"/>
                </a:solidFill>
                <a:latin typeface="Calibri" pitchFamily="34" charset="0"/>
                <a:ea typeface="Calibri" pitchFamily="34" charset="-122"/>
                <a:cs typeface="Calibri" pitchFamily="34" charset="-120"/>
              </a:rPr>
              <a:t>A variable is a labeled box that stores a value so you can use it later. You make one with the word </a:t>
            </a:r>
            <a:pPr algn="l" indent="0" marL="0">
              <a:lnSpc>
                <a:spcPct val="115000"/>
              </a:lnSpc>
              <a:buNone/>
            </a:pPr>
            <a:r>
              <a:rPr lang="en-US" sz="1600" b="1" dirty="0">
                <a:solidFill>
                  <a:srgbClr val="34A853"/>
                </a:solidFill>
                <a:latin typeface="Courier New" pitchFamily="34" charset="0"/>
                <a:ea typeface="Courier New" pitchFamily="34" charset="-122"/>
                <a:cs typeface="Courier New" pitchFamily="34" charset="-120"/>
              </a:rPr>
              <a:t>let</a:t>
            </a:r>
            <a:pPr algn="l" indent="0" marL="0">
              <a:lnSpc>
                <a:spcPct val="115000"/>
              </a:lnSpc>
              <a:buNone/>
            </a:pPr>
            <a:r>
              <a:rPr lang="en-US" sz="1600" dirty="0">
                <a:solidFill>
                  <a:srgbClr val="5F6368"/>
                </a:solidFill>
                <a:latin typeface="Calibri" pitchFamily="34" charset="0"/>
                <a:ea typeface="Calibri" pitchFamily="34" charset="-122"/>
                <a:cs typeface="Calibri" pitchFamily="34" charset="-120"/>
              </a:rPr>
              <a:t>, give it a name, and put something inside with </a:t>
            </a:r>
            <a:pPr algn="l" indent="0" marL="0">
              <a:lnSpc>
                <a:spcPct val="115000"/>
              </a:lnSpc>
              <a:buNone/>
            </a:pPr>
            <a:r>
              <a:rPr lang="en-US" sz="1600" b="1" dirty="0">
                <a:solidFill>
                  <a:srgbClr val="000000"/>
                </a:solidFill>
                <a:latin typeface="Courier New" pitchFamily="34" charset="0"/>
                <a:ea typeface="Courier New" pitchFamily="34" charset="-122"/>
                <a:cs typeface="Courier New" pitchFamily="34" charset="-120"/>
              </a:rPr>
              <a:t>=</a:t>
            </a:r>
            <a:pPr algn="l" indent="0" marL="0">
              <a:lnSpc>
                <a:spcPct val="115000"/>
              </a:lnSpc>
              <a:buNone/>
            </a:pPr>
            <a:r>
              <a:rPr lang="en-US" sz="1600" dirty="0">
                <a:solidFill>
                  <a:srgbClr val="5F6368"/>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548640" y="2697480"/>
            <a:ext cx="5760720" cy="2423160"/>
          </a:xfrm>
          <a:prstGeom prst="roundRect">
            <a:avLst>
              <a:gd name="adj" fmla="val 2642"/>
            </a:avLst>
          </a:prstGeom>
          <a:solidFill>
            <a:srgbClr val="202124"/>
          </a:solidFill>
          <a:ln/>
          <a:effectLst>
            <a:outerShdw sx="100000" sy="100000" kx="0" ky="0" algn="bl" rotWithShape="0" blurRad="127000" dist="38100" dir="5400000">
              <a:srgbClr val="000000">
                <a:alpha val="25000"/>
              </a:srgbClr>
            </a:outerShdw>
          </a:effectLst>
        </p:spPr>
      </p:sp>
      <p:sp>
        <p:nvSpPr>
          <p:cNvPr id="11" name="Shape 9"/>
          <p:cNvSpPr/>
          <p:nvPr/>
        </p:nvSpPr>
        <p:spPr>
          <a:xfrm>
            <a:off x="749808" y="2862072"/>
            <a:ext cx="91440" cy="91440"/>
          </a:xfrm>
          <a:prstGeom prst="ellipse">
            <a:avLst/>
          </a:prstGeom>
          <a:solidFill>
            <a:srgbClr val="EA4335"/>
          </a:solidFill>
          <a:ln/>
        </p:spPr>
      </p:sp>
      <p:sp>
        <p:nvSpPr>
          <p:cNvPr id="12" name="Shape 10"/>
          <p:cNvSpPr/>
          <p:nvPr/>
        </p:nvSpPr>
        <p:spPr>
          <a:xfrm>
            <a:off x="950976" y="2862072"/>
            <a:ext cx="91440" cy="91440"/>
          </a:xfrm>
          <a:prstGeom prst="ellipse">
            <a:avLst/>
          </a:prstGeom>
          <a:solidFill>
            <a:srgbClr val="FBBC04"/>
          </a:solidFill>
          <a:ln/>
        </p:spPr>
      </p:sp>
      <p:sp>
        <p:nvSpPr>
          <p:cNvPr id="13" name="Shape 11"/>
          <p:cNvSpPr/>
          <p:nvPr/>
        </p:nvSpPr>
        <p:spPr>
          <a:xfrm>
            <a:off x="1152144" y="2862072"/>
            <a:ext cx="91440" cy="91440"/>
          </a:xfrm>
          <a:prstGeom prst="ellipse">
            <a:avLst/>
          </a:prstGeom>
          <a:solidFill>
            <a:srgbClr val="34A853"/>
          </a:solidFill>
          <a:ln/>
        </p:spPr>
      </p:sp>
      <p:sp>
        <p:nvSpPr>
          <p:cNvPr id="14" name="Text 12"/>
          <p:cNvSpPr/>
          <p:nvPr/>
        </p:nvSpPr>
        <p:spPr>
          <a:xfrm>
            <a:off x="777240" y="3154680"/>
            <a:ext cx="5303520" cy="1783080"/>
          </a:xfrm>
          <a:prstGeom prst="rect">
            <a:avLst/>
          </a:prstGeom>
          <a:noFill/>
          <a:ln/>
        </p:spPr>
        <p:txBody>
          <a:bodyPr wrap="square" lIns="0" tIns="0" rIns="0" bIns="0" rtlCol="0" anchor="t"/>
          <a:lstStyle/>
          <a:p>
            <a:pPr algn="l" indent="0" marL="0">
              <a:lnSpc>
                <a:spcPct val="112000"/>
              </a:lnSpc>
              <a:buNone/>
            </a:pPr>
            <a:r>
              <a:rPr lang="en-US" sz="1300" dirty="0">
                <a:solidFill>
                  <a:srgbClr val="8AB4F8"/>
                </a:solidFill>
                <a:latin typeface="Courier New" pitchFamily="34" charset="0"/>
                <a:ea typeface="Courier New" pitchFamily="34" charset="-122"/>
                <a:cs typeface="Courier New" pitchFamily="34" charset="-120"/>
              </a:rPr>
              <a:t>let playerName = "Alex";</a:t>
            </a:r>
            <a:endParaRPr lang="en-US" sz="1300" dirty="0"/>
          </a:p>
          <a:p>
            <a:pPr algn="l" indent="0" marL="0">
              <a:lnSpc>
                <a:spcPct val="112000"/>
              </a:lnSpc>
              <a:buNone/>
            </a:pPr>
            <a:r>
              <a:rPr lang="en-US" sz="1300" dirty="0">
                <a:solidFill>
                  <a:srgbClr val="8AB4F8"/>
                </a:solidFill>
                <a:latin typeface="Courier New" pitchFamily="34" charset="0"/>
                <a:ea typeface="Courier New" pitchFamily="34" charset="-122"/>
                <a:cs typeface="Courier New" pitchFamily="34" charset="-120"/>
              </a:rPr>
              <a:t>let score = 0;</a:t>
            </a:r>
            <a:endParaRPr lang="en-US" sz="1300" dirty="0"/>
          </a:p>
          <a:p>
            <a:pPr algn="l" indent="0" marL="0">
              <a:lnSpc>
                <a:spcPct val="112000"/>
              </a:lnSpc>
              <a:buNone/>
            </a:pPr>
            <a:r>
              <a:rPr lang="en-US" sz="1300" dirty="0">
                <a:solidFill>
                  <a:srgbClr val="E8EAED"/>
                </a:solidFill>
                <a:latin typeface="Courier New" pitchFamily="34" charset="0"/>
                <a:ea typeface="Courier New" pitchFamily="34" charset="-122"/>
                <a:cs typeface="Courier New" pitchFamily="34" charset="-120"/>
              </a:rPr>
              <a:t>score = score + 10;</a:t>
            </a:r>
            <a:endParaRPr lang="en-US" sz="1300" dirty="0"/>
          </a:p>
          <a:p>
            <a:pPr algn="l" indent="0" marL="0">
              <a:lnSpc>
                <a:spcPct val="112000"/>
              </a:lnSpc>
              <a:buNone/>
            </a:pPr>
            <a:r>
              <a:rPr lang="en-US" sz="1300" dirty="0">
                <a:solidFill>
                  <a:srgbClr val="E8EAED"/>
                </a:solidFill>
                <a:latin typeface="Courier New" pitchFamily="34" charset="0"/>
                <a:ea typeface="Courier New" pitchFamily="34" charset="-122"/>
                <a:cs typeface="Courier New" pitchFamily="34" charset="-120"/>
              </a:rPr>
              <a:t>console.log(playerName);</a:t>
            </a:r>
            <a:endParaRPr lang="en-US" sz="1300" dirty="0"/>
          </a:p>
          <a:p>
            <a:pPr algn="l" indent="0" marL="0">
              <a:lnSpc>
                <a:spcPct val="112000"/>
              </a:lnSpc>
              <a:buNone/>
            </a:pPr>
            <a:r>
              <a:rPr lang="en-US" sz="1300" dirty="0">
                <a:solidFill>
                  <a:srgbClr val="E8EAED"/>
                </a:solidFill>
                <a:latin typeface="Courier New" pitchFamily="34" charset="0"/>
                <a:ea typeface="Courier New" pitchFamily="34" charset="-122"/>
                <a:cs typeface="Courier New" pitchFamily="34" charset="-120"/>
              </a:rPr>
              <a:t>console.log(score);</a:t>
            </a:r>
            <a:endParaRPr lang="en-US" sz="1300" dirty="0"/>
          </a:p>
          <a:p>
            <a:pPr algn="l" indent="0" marL="0">
              <a:lnSpc>
                <a:spcPct val="112000"/>
              </a:lnSpc>
              <a:buNone/>
            </a:pPr>
            <a:r>
              <a:rPr lang="en-US" sz="1300" dirty="0">
                <a:solidFill>
                  <a:srgbClr val="81C995"/>
                </a:solidFill>
                <a:latin typeface="Courier New" pitchFamily="34" charset="0"/>
                <a:ea typeface="Courier New" pitchFamily="34" charset="-122"/>
                <a:cs typeface="Courier New" pitchFamily="34" charset="-120"/>
              </a:rPr>
              <a:t>▶ Alex</a:t>
            </a:r>
            <a:endParaRPr lang="en-US" sz="1300" dirty="0"/>
          </a:p>
          <a:p>
            <a:pPr algn="l" indent="0" marL="0">
              <a:lnSpc>
                <a:spcPct val="112000"/>
              </a:lnSpc>
              <a:buNone/>
            </a:pPr>
            <a:r>
              <a:rPr lang="en-US" sz="1300" dirty="0">
                <a:solidFill>
                  <a:srgbClr val="81C995"/>
                </a:solidFill>
                <a:latin typeface="Courier New" pitchFamily="34" charset="0"/>
                <a:ea typeface="Courier New" pitchFamily="34" charset="-122"/>
                <a:cs typeface="Courier New" pitchFamily="34" charset="-120"/>
              </a:rPr>
              <a:t>▶ 10</a:t>
            </a:r>
            <a:endParaRPr lang="en-US" sz="1300" dirty="0"/>
          </a:p>
        </p:txBody>
      </p:sp>
      <p:sp>
        <p:nvSpPr>
          <p:cNvPr id="15" name="Shape 13"/>
          <p:cNvSpPr/>
          <p:nvPr/>
        </p:nvSpPr>
        <p:spPr>
          <a:xfrm>
            <a:off x="6583680" y="2697480"/>
            <a:ext cx="5029200" cy="2423160"/>
          </a:xfrm>
          <a:prstGeom prst="roundRect">
            <a:avLst>
              <a:gd name="adj" fmla="val 3396"/>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6" name="Text 14"/>
          <p:cNvSpPr/>
          <p:nvPr/>
        </p:nvSpPr>
        <p:spPr>
          <a:xfrm>
            <a:off x="6858000" y="2834640"/>
            <a:ext cx="4480560" cy="365760"/>
          </a:xfrm>
          <a:prstGeom prst="rect">
            <a:avLst/>
          </a:prstGeom>
          <a:noFill/>
          <a:ln/>
        </p:spPr>
        <p:txBody>
          <a:bodyPr wrap="square" lIns="0" tIns="0" rIns="0" bIns="0" rtlCol="0" anchor="ctr"/>
          <a:lstStyle/>
          <a:p>
            <a:pPr algn="l" indent="0" marL="0">
              <a:buNone/>
            </a:pPr>
            <a:r>
              <a:rPr lang="en-US" sz="1500" b="1" dirty="0">
                <a:solidFill>
                  <a:srgbClr val="34A853"/>
                </a:solidFill>
                <a:latin typeface="Georgia" pitchFamily="34" charset="0"/>
                <a:ea typeface="Georgia" pitchFamily="34" charset="-122"/>
                <a:cs typeface="Georgia" pitchFamily="34" charset="-120"/>
              </a:rPr>
              <a:t>Picture it like this</a:t>
            </a:r>
            <a:endParaRPr lang="en-US" sz="1500" dirty="0"/>
          </a:p>
        </p:txBody>
      </p:sp>
      <p:sp>
        <p:nvSpPr>
          <p:cNvPr id="17" name="Text 15"/>
          <p:cNvSpPr/>
          <p:nvPr/>
        </p:nvSpPr>
        <p:spPr>
          <a:xfrm>
            <a:off x="6858000" y="3337560"/>
            <a:ext cx="1920240" cy="548640"/>
          </a:xfrm>
          <a:prstGeom prst="rect">
            <a:avLst/>
          </a:prstGeom>
          <a:noFill/>
          <a:ln/>
        </p:spPr>
        <p:txBody>
          <a:bodyPr wrap="square" lIns="0" tIns="0" rIns="0" bIns="0" rtlCol="0" anchor="ctr"/>
          <a:lstStyle/>
          <a:p>
            <a:pPr algn="l" indent="0" marL="0">
              <a:buNone/>
            </a:pPr>
            <a:r>
              <a:rPr lang="en-US" sz="1300" dirty="0">
                <a:solidFill>
                  <a:srgbClr val="5F6368"/>
                </a:solidFill>
                <a:latin typeface="Courier New" pitchFamily="34" charset="0"/>
                <a:ea typeface="Courier New" pitchFamily="34" charset="-122"/>
                <a:cs typeface="Courier New" pitchFamily="34" charset="-120"/>
              </a:rPr>
              <a:t>playerName</a:t>
            </a:r>
            <a:endParaRPr lang="en-US" sz="1300" dirty="0"/>
          </a:p>
        </p:txBody>
      </p:sp>
      <p:sp>
        <p:nvSpPr>
          <p:cNvPr id="18" name="Shape 16"/>
          <p:cNvSpPr/>
          <p:nvPr/>
        </p:nvSpPr>
        <p:spPr>
          <a:xfrm>
            <a:off x="8778240" y="3337560"/>
            <a:ext cx="2468880" cy="548640"/>
          </a:xfrm>
          <a:prstGeom prst="roundRect">
            <a:avLst>
              <a:gd name="adj" fmla="val 8333"/>
            </a:avLst>
          </a:prstGeom>
          <a:solidFill>
            <a:srgbClr val="F8F9FA"/>
          </a:solidFill>
          <a:ln w="19050">
            <a:solidFill>
              <a:srgbClr val="4285F4"/>
            </a:solidFill>
            <a:prstDash val="solid"/>
          </a:ln>
        </p:spPr>
      </p:sp>
      <p:sp>
        <p:nvSpPr>
          <p:cNvPr id="19" name="Text 17"/>
          <p:cNvSpPr/>
          <p:nvPr/>
        </p:nvSpPr>
        <p:spPr>
          <a:xfrm>
            <a:off x="8778240" y="3337560"/>
            <a:ext cx="2468880" cy="548640"/>
          </a:xfrm>
          <a:prstGeom prst="rect">
            <a:avLst/>
          </a:prstGeom>
          <a:noFill/>
          <a:ln/>
        </p:spPr>
        <p:txBody>
          <a:bodyPr wrap="square" lIns="0" tIns="0" rIns="0" bIns="0" rtlCol="0" anchor="ctr"/>
          <a:lstStyle/>
          <a:p>
            <a:pPr algn="ctr" indent="0" marL="0">
              <a:buNone/>
            </a:pPr>
            <a:r>
              <a:rPr lang="en-US" sz="1500" b="1" dirty="0">
                <a:solidFill>
                  <a:srgbClr val="4285F4"/>
                </a:solidFill>
                <a:latin typeface="Courier New" pitchFamily="34" charset="0"/>
                <a:ea typeface="Courier New" pitchFamily="34" charset="-122"/>
                <a:cs typeface="Courier New" pitchFamily="34" charset="-120"/>
              </a:rPr>
              <a:t>"Alex"</a:t>
            </a:r>
            <a:endParaRPr lang="en-US" sz="1500" dirty="0"/>
          </a:p>
        </p:txBody>
      </p:sp>
      <p:sp>
        <p:nvSpPr>
          <p:cNvPr id="20" name="Text 18"/>
          <p:cNvSpPr/>
          <p:nvPr/>
        </p:nvSpPr>
        <p:spPr>
          <a:xfrm>
            <a:off x="6858000" y="4160520"/>
            <a:ext cx="1920240" cy="548640"/>
          </a:xfrm>
          <a:prstGeom prst="rect">
            <a:avLst/>
          </a:prstGeom>
          <a:noFill/>
          <a:ln/>
        </p:spPr>
        <p:txBody>
          <a:bodyPr wrap="square" lIns="0" tIns="0" rIns="0" bIns="0" rtlCol="0" anchor="ctr"/>
          <a:lstStyle/>
          <a:p>
            <a:pPr algn="l" indent="0" marL="0">
              <a:buNone/>
            </a:pPr>
            <a:r>
              <a:rPr lang="en-US" sz="1300" dirty="0">
                <a:solidFill>
                  <a:srgbClr val="5F6368"/>
                </a:solidFill>
                <a:latin typeface="Courier New" pitchFamily="34" charset="0"/>
                <a:ea typeface="Courier New" pitchFamily="34" charset="-122"/>
                <a:cs typeface="Courier New" pitchFamily="34" charset="-120"/>
              </a:rPr>
              <a:t>score</a:t>
            </a:r>
            <a:endParaRPr lang="en-US" sz="1300" dirty="0"/>
          </a:p>
        </p:txBody>
      </p:sp>
      <p:sp>
        <p:nvSpPr>
          <p:cNvPr id="21" name="Shape 19"/>
          <p:cNvSpPr/>
          <p:nvPr/>
        </p:nvSpPr>
        <p:spPr>
          <a:xfrm>
            <a:off x="8778240" y="4160520"/>
            <a:ext cx="2468880" cy="548640"/>
          </a:xfrm>
          <a:prstGeom prst="roundRect">
            <a:avLst>
              <a:gd name="adj" fmla="val 8333"/>
            </a:avLst>
          </a:prstGeom>
          <a:solidFill>
            <a:srgbClr val="F8F9FA"/>
          </a:solidFill>
          <a:ln w="19050">
            <a:solidFill>
              <a:srgbClr val="EA4335"/>
            </a:solidFill>
            <a:prstDash val="solid"/>
          </a:ln>
        </p:spPr>
      </p:sp>
      <p:sp>
        <p:nvSpPr>
          <p:cNvPr id="22" name="Text 20"/>
          <p:cNvSpPr/>
          <p:nvPr/>
        </p:nvSpPr>
        <p:spPr>
          <a:xfrm>
            <a:off x="8778240" y="4160520"/>
            <a:ext cx="2468880" cy="548640"/>
          </a:xfrm>
          <a:prstGeom prst="rect">
            <a:avLst/>
          </a:prstGeom>
          <a:noFill/>
          <a:ln/>
        </p:spPr>
        <p:txBody>
          <a:bodyPr wrap="square" lIns="0" tIns="0" rIns="0" bIns="0" rtlCol="0" anchor="ctr"/>
          <a:lstStyle/>
          <a:p>
            <a:pPr algn="ctr" indent="0" marL="0">
              <a:buNone/>
            </a:pPr>
            <a:r>
              <a:rPr lang="en-US" sz="1500" b="1" dirty="0">
                <a:solidFill>
                  <a:srgbClr val="EA4335"/>
                </a:solidFill>
                <a:latin typeface="Courier New" pitchFamily="34" charset="0"/>
                <a:ea typeface="Courier New" pitchFamily="34" charset="-122"/>
                <a:cs typeface="Courier New" pitchFamily="34" charset="-120"/>
              </a:rPr>
              <a:t>10</a:t>
            </a:r>
            <a:endParaRPr lang="en-US" sz="150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24" name="Text 22"/>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4285F4"/>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4285F4"/>
                </a:solidFill>
                <a:latin typeface="Calibri" pitchFamily="34" charset="0"/>
                <a:ea typeface="Calibri" pitchFamily="34" charset="-122"/>
                <a:cs typeface="Calibri" pitchFamily="34" charset="-120"/>
              </a:rPr>
              <a:t>BASICS</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The TypeScript touch: name your types</a:t>
            </a:r>
            <a:endParaRPr lang="en-US" sz="2900" dirty="0"/>
          </a:p>
        </p:txBody>
      </p:sp>
      <p:sp>
        <p:nvSpPr>
          <p:cNvPr id="9" name="Text 7"/>
          <p:cNvSpPr/>
          <p:nvPr/>
        </p:nvSpPr>
        <p:spPr>
          <a:xfrm>
            <a:off x="548640" y="1691640"/>
            <a:ext cx="10972800" cy="822960"/>
          </a:xfrm>
          <a:prstGeom prst="rect">
            <a:avLst/>
          </a:prstGeom>
          <a:noFill/>
          <a:ln/>
        </p:spPr>
        <p:txBody>
          <a:bodyPr wrap="square" lIns="0" tIns="0" rIns="0" bIns="0" rtlCol="0" anchor="t"/>
          <a:lstStyle/>
          <a:p>
            <a:pPr algn="l" indent="0" marL="0">
              <a:lnSpc>
                <a:spcPct val="115000"/>
              </a:lnSpc>
              <a:buNone/>
            </a:pPr>
            <a:r>
              <a:rPr lang="en-US" sz="1600" dirty="0">
                <a:solidFill>
                  <a:srgbClr val="5F6368"/>
                </a:solidFill>
                <a:latin typeface="Calibri" pitchFamily="34" charset="0"/>
                <a:ea typeface="Calibri" pitchFamily="34" charset="-122"/>
                <a:cs typeface="Calibri" pitchFamily="34" charset="-120"/>
              </a:rPr>
              <a:t>This is the part that makes it TypeScript instead of plain JavaScript. You can tell the box what KIND of thing it holds. Then TypeScript guards it for you.</a:t>
            </a:r>
            <a:endParaRPr lang="en-US" sz="1600" dirty="0"/>
          </a:p>
        </p:txBody>
      </p:sp>
      <p:sp>
        <p:nvSpPr>
          <p:cNvPr id="10" name="Shape 8"/>
          <p:cNvSpPr/>
          <p:nvPr/>
        </p:nvSpPr>
        <p:spPr>
          <a:xfrm>
            <a:off x="548640" y="2697480"/>
            <a:ext cx="5760720" cy="2423160"/>
          </a:xfrm>
          <a:prstGeom prst="roundRect">
            <a:avLst>
              <a:gd name="adj" fmla="val 2642"/>
            </a:avLst>
          </a:prstGeom>
          <a:solidFill>
            <a:srgbClr val="202124"/>
          </a:solidFill>
          <a:ln/>
          <a:effectLst>
            <a:outerShdw sx="100000" sy="100000" kx="0" ky="0" algn="bl" rotWithShape="0" blurRad="127000" dist="38100" dir="5400000">
              <a:srgbClr val="000000">
                <a:alpha val="25000"/>
              </a:srgbClr>
            </a:outerShdw>
          </a:effectLst>
        </p:spPr>
      </p:sp>
      <p:sp>
        <p:nvSpPr>
          <p:cNvPr id="11" name="Shape 9"/>
          <p:cNvSpPr/>
          <p:nvPr/>
        </p:nvSpPr>
        <p:spPr>
          <a:xfrm>
            <a:off x="749808" y="2862072"/>
            <a:ext cx="91440" cy="91440"/>
          </a:xfrm>
          <a:prstGeom prst="ellipse">
            <a:avLst/>
          </a:prstGeom>
          <a:solidFill>
            <a:srgbClr val="EA4335"/>
          </a:solidFill>
          <a:ln/>
        </p:spPr>
      </p:sp>
      <p:sp>
        <p:nvSpPr>
          <p:cNvPr id="12" name="Shape 10"/>
          <p:cNvSpPr/>
          <p:nvPr/>
        </p:nvSpPr>
        <p:spPr>
          <a:xfrm>
            <a:off x="950976" y="2862072"/>
            <a:ext cx="91440" cy="91440"/>
          </a:xfrm>
          <a:prstGeom prst="ellipse">
            <a:avLst/>
          </a:prstGeom>
          <a:solidFill>
            <a:srgbClr val="FBBC04"/>
          </a:solidFill>
          <a:ln/>
        </p:spPr>
      </p:sp>
      <p:sp>
        <p:nvSpPr>
          <p:cNvPr id="13" name="Shape 11"/>
          <p:cNvSpPr/>
          <p:nvPr/>
        </p:nvSpPr>
        <p:spPr>
          <a:xfrm>
            <a:off x="1152144" y="2862072"/>
            <a:ext cx="91440" cy="91440"/>
          </a:xfrm>
          <a:prstGeom prst="ellipse">
            <a:avLst/>
          </a:prstGeom>
          <a:solidFill>
            <a:srgbClr val="34A853"/>
          </a:solidFill>
          <a:ln/>
        </p:spPr>
      </p:sp>
      <p:sp>
        <p:nvSpPr>
          <p:cNvPr id="14" name="Text 12"/>
          <p:cNvSpPr/>
          <p:nvPr/>
        </p:nvSpPr>
        <p:spPr>
          <a:xfrm>
            <a:off x="777240" y="3154680"/>
            <a:ext cx="5303520" cy="1783080"/>
          </a:xfrm>
          <a:prstGeom prst="rect">
            <a:avLst/>
          </a:prstGeom>
          <a:noFill/>
          <a:ln/>
        </p:spPr>
        <p:txBody>
          <a:bodyPr wrap="square" lIns="0" tIns="0" rIns="0" bIns="0" rtlCol="0" anchor="t"/>
          <a:lstStyle/>
          <a:p>
            <a:pPr algn="l" indent="0" marL="0">
              <a:lnSpc>
                <a:spcPct val="112000"/>
              </a:lnSpc>
              <a:buNone/>
            </a:pPr>
            <a:r>
              <a:rPr lang="en-US" sz="1300" dirty="0">
                <a:solidFill>
                  <a:srgbClr val="E8EAED"/>
                </a:solidFill>
                <a:latin typeface="Courier New" pitchFamily="34" charset="0"/>
                <a:ea typeface="Courier New" pitchFamily="34" charset="-122"/>
                <a:cs typeface="Courier New" pitchFamily="34" charset="-120"/>
              </a:rPr>
              <a:t>let score: number = 10;</a:t>
            </a:r>
            <a:endParaRPr lang="en-US" sz="1300" dirty="0"/>
          </a:p>
          <a:p>
            <a:pPr algn="l" indent="0" marL="0">
              <a:lnSpc>
                <a:spcPct val="112000"/>
              </a:lnSpc>
              <a:buNone/>
            </a:pPr>
            <a:r>
              <a:rPr lang="en-US" sz="1300" dirty="0">
                <a:solidFill>
                  <a:srgbClr val="E8EAED"/>
                </a:solidFill>
                <a:latin typeface="Courier New" pitchFamily="34" charset="0"/>
                <a:ea typeface="Courier New" pitchFamily="34" charset="-122"/>
                <a:cs typeface="Courier New" pitchFamily="34" charset="-120"/>
              </a:rPr>
              <a:t>let name: string = "Alex";</a:t>
            </a:r>
            <a:endParaRPr lang="en-US" sz="1300" dirty="0"/>
          </a:p>
          <a:p>
            <a:pPr algn="l" indent="0" marL="0">
              <a:lnSpc>
                <a:spcPct val="112000"/>
              </a:lnSpc>
              <a:buNone/>
            </a:pPr>
            <a:r>
              <a:rPr lang="en-US" sz="1300" dirty="0">
                <a:solidFill>
                  <a:srgbClr val="E8EAED"/>
                </a:solidFill>
                <a:latin typeface="Courier New" pitchFamily="34" charset="0"/>
                <a:ea typeface="Courier New" pitchFamily="34" charset="-122"/>
                <a:cs typeface="Courier New" pitchFamily="34" charset="-120"/>
              </a:rPr>
              <a:t>let isWinner: boolean = true;</a:t>
            </a:r>
            <a:endParaRPr lang="en-US" sz="1300" dirty="0"/>
          </a:p>
          <a:p>
            <a:pPr algn="l" indent="0" marL="0">
              <a:lnSpc>
                <a:spcPct val="112000"/>
              </a:lnSpc>
              <a:buNone/>
            </a:pPr>
            <a:r>
              <a:rPr lang="en-US" sz="1300" dirty="0">
                <a:solidFill>
                  <a:srgbClr val="E8EAED"/>
                </a:solidFill>
                <a:latin typeface="Courier New" pitchFamily="34" charset="0"/>
                <a:ea typeface="Courier New" pitchFamily="34" charset="-122"/>
                <a:cs typeface="Courier New" pitchFamily="34" charset="-120"/>
              </a:rPr>
              <a:t> </a:t>
            </a:r>
            <a:endParaRPr lang="en-US" sz="1300" dirty="0"/>
          </a:p>
          <a:p>
            <a:pPr algn="l" indent="0" marL="0">
              <a:lnSpc>
                <a:spcPct val="112000"/>
              </a:lnSpc>
              <a:buNone/>
            </a:pPr>
            <a:r>
              <a:rPr lang="en-US" sz="1300" dirty="0">
                <a:solidFill>
                  <a:srgbClr val="E8EAED"/>
                </a:solidFill>
                <a:latin typeface="Courier New" pitchFamily="34" charset="0"/>
                <a:ea typeface="Courier New" pitchFamily="34" charset="-122"/>
                <a:cs typeface="Courier New" pitchFamily="34" charset="-120"/>
              </a:rPr>
              <a:t>score = "oops";</a:t>
            </a:r>
            <a:endParaRPr lang="en-US" sz="1300" dirty="0"/>
          </a:p>
          <a:p>
            <a:pPr algn="l" indent="0" marL="0">
              <a:lnSpc>
                <a:spcPct val="112000"/>
              </a:lnSpc>
              <a:buNone/>
            </a:pPr>
            <a:r>
              <a:rPr lang="en-US" sz="1300" dirty="0">
                <a:solidFill>
                  <a:srgbClr val="EA8A85"/>
                </a:solidFill>
                <a:latin typeface="Courier New" pitchFamily="34" charset="0"/>
                <a:ea typeface="Courier New" pitchFamily="34" charset="-122"/>
                <a:cs typeface="Courier New" pitchFamily="34" charset="-120"/>
              </a:rPr>
              <a:t>✖ Error: not a number!</a:t>
            </a:r>
            <a:endParaRPr lang="en-US" sz="1300" dirty="0"/>
          </a:p>
        </p:txBody>
      </p:sp>
      <p:sp>
        <p:nvSpPr>
          <p:cNvPr id="15" name="Shape 13"/>
          <p:cNvSpPr/>
          <p:nvPr/>
        </p:nvSpPr>
        <p:spPr>
          <a:xfrm>
            <a:off x="6583680" y="2697480"/>
            <a:ext cx="5029200" cy="2423160"/>
          </a:xfrm>
          <a:prstGeom prst="roundRect">
            <a:avLst>
              <a:gd name="adj" fmla="val 3396"/>
            </a:avLst>
          </a:prstGeom>
          <a:solidFill>
            <a:srgbClr val="FEF7E0"/>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6" name="Text 14"/>
          <p:cNvSpPr/>
          <p:nvPr/>
        </p:nvSpPr>
        <p:spPr>
          <a:xfrm>
            <a:off x="6858000" y="2852928"/>
            <a:ext cx="4480560" cy="320040"/>
          </a:xfrm>
          <a:prstGeom prst="rect">
            <a:avLst/>
          </a:prstGeom>
          <a:noFill/>
          <a:ln/>
        </p:spPr>
        <p:txBody>
          <a:bodyPr wrap="square" lIns="0" tIns="0" rIns="0" bIns="0" rtlCol="0" anchor="ctr"/>
          <a:lstStyle/>
          <a:p>
            <a:pPr algn="l" indent="0" marL="0">
              <a:buNone/>
            </a:pPr>
            <a:r>
              <a:rPr lang="en-US" sz="1200" b="1" spc="200" kern="0" dirty="0">
                <a:solidFill>
                  <a:srgbClr val="1A73E8"/>
                </a:solidFill>
                <a:latin typeface="Calibri" pitchFamily="34" charset="0"/>
                <a:ea typeface="Calibri" pitchFamily="34" charset="-122"/>
                <a:cs typeface="Calibri" pitchFamily="34" charset="-120"/>
              </a:rPr>
              <a:t>THREE TYPES TO KNOW</a:t>
            </a:r>
            <a:endParaRPr lang="en-US" sz="1200" dirty="0"/>
          </a:p>
        </p:txBody>
      </p:sp>
      <p:sp>
        <p:nvSpPr>
          <p:cNvPr id="17" name="Text 15"/>
          <p:cNvSpPr/>
          <p:nvPr/>
        </p:nvSpPr>
        <p:spPr>
          <a:xfrm>
            <a:off x="6858000" y="3200400"/>
            <a:ext cx="2011680" cy="411480"/>
          </a:xfrm>
          <a:prstGeom prst="rect">
            <a:avLst/>
          </a:prstGeom>
          <a:noFill/>
          <a:ln/>
        </p:spPr>
        <p:txBody>
          <a:bodyPr wrap="square" lIns="0" tIns="0" rIns="0" bIns="0" rtlCol="0" anchor="ctr"/>
          <a:lstStyle/>
          <a:p>
            <a:pPr algn="l" indent="0" marL="0">
              <a:buNone/>
            </a:pPr>
            <a:r>
              <a:rPr lang="en-US" sz="1400" b="1" dirty="0">
                <a:solidFill>
                  <a:srgbClr val="4285F4"/>
                </a:solidFill>
                <a:latin typeface="Courier New" pitchFamily="34" charset="0"/>
                <a:ea typeface="Courier New" pitchFamily="34" charset="-122"/>
                <a:cs typeface="Courier New" pitchFamily="34" charset="-120"/>
              </a:rPr>
              <a:t>string</a:t>
            </a:r>
            <a:endParaRPr lang="en-US" sz="1400" dirty="0"/>
          </a:p>
        </p:txBody>
      </p:sp>
      <p:sp>
        <p:nvSpPr>
          <p:cNvPr id="18" name="Text 16"/>
          <p:cNvSpPr/>
          <p:nvPr/>
        </p:nvSpPr>
        <p:spPr>
          <a:xfrm>
            <a:off x="8778240" y="3200400"/>
            <a:ext cx="2651760" cy="411480"/>
          </a:xfrm>
          <a:prstGeom prst="rect">
            <a:avLst/>
          </a:prstGeom>
          <a:noFill/>
          <a:ln/>
        </p:spPr>
        <p:txBody>
          <a:bodyPr wrap="square" lIns="0" tIns="0" rIns="0" bIns="0" rtlCol="0" anchor="ctr"/>
          <a:lstStyle/>
          <a:p>
            <a:pPr algn="l" indent="0" marL="0">
              <a:buNone/>
            </a:pPr>
            <a:r>
              <a:rPr lang="en-US" sz="1350" dirty="0">
                <a:solidFill>
                  <a:srgbClr val="5F6368"/>
                </a:solidFill>
                <a:latin typeface="Calibri" pitchFamily="34" charset="0"/>
                <a:ea typeface="Calibri" pitchFamily="34" charset="-122"/>
                <a:cs typeface="Calibri" pitchFamily="34" charset="-120"/>
              </a:rPr>
              <a:t>text in quotes</a:t>
            </a:r>
            <a:endParaRPr lang="en-US" sz="1350" dirty="0"/>
          </a:p>
        </p:txBody>
      </p:sp>
      <p:sp>
        <p:nvSpPr>
          <p:cNvPr id="19" name="Text 17"/>
          <p:cNvSpPr/>
          <p:nvPr/>
        </p:nvSpPr>
        <p:spPr>
          <a:xfrm>
            <a:off x="6858000" y="3657600"/>
            <a:ext cx="2011680" cy="411480"/>
          </a:xfrm>
          <a:prstGeom prst="rect">
            <a:avLst/>
          </a:prstGeom>
          <a:noFill/>
          <a:ln/>
        </p:spPr>
        <p:txBody>
          <a:bodyPr wrap="square" lIns="0" tIns="0" rIns="0" bIns="0" rtlCol="0" anchor="ctr"/>
          <a:lstStyle/>
          <a:p>
            <a:pPr algn="l" indent="0" marL="0">
              <a:buNone/>
            </a:pPr>
            <a:r>
              <a:rPr lang="en-US" sz="1400" b="1" dirty="0">
                <a:solidFill>
                  <a:srgbClr val="EA4335"/>
                </a:solidFill>
                <a:latin typeface="Courier New" pitchFamily="34" charset="0"/>
                <a:ea typeface="Courier New" pitchFamily="34" charset="-122"/>
                <a:cs typeface="Courier New" pitchFamily="34" charset="-120"/>
              </a:rPr>
              <a:t>number</a:t>
            </a:r>
            <a:endParaRPr lang="en-US" sz="1400" dirty="0"/>
          </a:p>
        </p:txBody>
      </p:sp>
      <p:sp>
        <p:nvSpPr>
          <p:cNvPr id="20" name="Text 18"/>
          <p:cNvSpPr/>
          <p:nvPr/>
        </p:nvSpPr>
        <p:spPr>
          <a:xfrm>
            <a:off x="8778240" y="3657600"/>
            <a:ext cx="2651760" cy="411480"/>
          </a:xfrm>
          <a:prstGeom prst="rect">
            <a:avLst/>
          </a:prstGeom>
          <a:noFill/>
          <a:ln/>
        </p:spPr>
        <p:txBody>
          <a:bodyPr wrap="square" lIns="0" tIns="0" rIns="0" bIns="0" rtlCol="0" anchor="ctr"/>
          <a:lstStyle/>
          <a:p>
            <a:pPr algn="l" indent="0" marL="0">
              <a:buNone/>
            </a:pPr>
            <a:r>
              <a:rPr lang="en-US" sz="1350" dirty="0">
                <a:solidFill>
                  <a:srgbClr val="5F6368"/>
                </a:solidFill>
                <a:latin typeface="Calibri" pitchFamily="34" charset="0"/>
                <a:ea typeface="Calibri" pitchFamily="34" charset="-122"/>
                <a:cs typeface="Calibri" pitchFamily="34" charset="-120"/>
              </a:rPr>
              <a:t>any number</a:t>
            </a:r>
            <a:endParaRPr lang="en-US" sz="1350" dirty="0"/>
          </a:p>
        </p:txBody>
      </p:sp>
      <p:sp>
        <p:nvSpPr>
          <p:cNvPr id="21" name="Text 19"/>
          <p:cNvSpPr/>
          <p:nvPr/>
        </p:nvSpPr>
        <p:spPr>
          <a:xfrm>
            <a:off x="6858000" y="4114800"/>
            <a:ext cx="2011680" cy="411480"/>
          </a:xfrm>
          <a:prstGeom prst="rect">
            <a:avLst/>
          </a:prstGeom>
          <a:noFill/>
          <a:ln/>
        </p:spPr>
        <p:txBody>
          <a:bodyPr wrap="square" lIns="0" tIns="0" rIns="0" bIns="0" rtlCol="0" anchor="ctr"/>
          <a:lstStyle/>
          <a:p>
            <a:pPr algn="l" indent="0" marL="0">
              <a:buNone/>
            </a:pPr>
            <a:r>
              <a:rPr lang="en-US" sz="1400" b="1" dirty="0">
                <a:solidFill>
                  <a:srgbClr val="34A853"/>
                </a:solidFill>
                <a:latin typeface="Courier New" pitchFamily="34" charset="0"/>
                <a:ea typeface="Courier New" pitchFamily="34" charset="-122"/>
                <a:cs typeface="Courier New" pitchFamily="34" charset="-120"/>
              </a:rPr>
              <a:t>boolean</a:t>
            </a:r>
            <a:endParaRPr lang="en-US" sz="1400" dirty="0"/>
          </a:p>
        </p:txBody>
      </p:sp>
      <p:sp>
        <p:nvSpPr>
          <p:cNvPr id="22" name="Text 20"/>
          <p:cNvSpPr/>
          <p:nvPr/>
        </p:nvSpPr>
        <p:spPr>
          <a:xfrm>
            <a:off x="8778240" y="4114800"/>
            <a:ext cx="2651760" cy="411480"/>
          </a:xfrm>
          <a:prstGeom prst="rect">
            <a:avLst/>
          </a:prstGeom>
          <a:noFill/>
          <a:ln/>
        </p:spPr>
        <p:txBody>
          <a:bodyPr wrap="square" lIns="0" tIns="0" rIns="0" bIns="0" rtlCol="0" anchor="ctr"/>
          <a:lstStyle/>
          <a:p>
            <a:pPr algn="l" indent="0" marL="0">
              <a:buNone/>
            </a:pPr>
            <a:r>
              <a:rPr lang="en-US" sz="1350" dirty="0">
                <a:solidFill>
                  <a:srgbClr val="5F6368"/>
                </a:solidFill>
                <a:latin typeface="Calibri" pitchFamily="34" charset="0"/>
                <a:ea typeface="Calibri" pitchFamily="34" charset="-122"/>
                <a:cs typeface="Calibri" pitchFamily="34" charset="-120"/>
              </a:rPr>
              <a:t>true or false</a:t>
            </a:r>
            <a:endParaRPr lang="en-US" sz="1350" dirty="0"/>
          </a:p>
        </p:txBody>
      </p:sp>
      <p:sp>
        <p:nvSpPr>
          <p:cNvPr id="23" name="Text 21"/>
          <p:cNvSpPr/>
          <p:nvPr/>
        </p:nvSpPr>
        <p:spPr>
          <a:xfrm>
            <a:off x="6858000" y="4645152"/>
            <a:ext cx="4526280" cy="411480"/>
          </a:xfrm>
          <a:prstGeom prst="rect">
            <a:avLst/>
          </a:prstGeom>
          <a:noFill/>
          <a:ln/>
        </p:spPr>
        <p:txBody>
          <a:bodyPr wrap="square" lIns="0" tIns="0" rIns="0" bIns="0" rtlCol="0" anchor="t"/>
          <a:lstStyle/>
          <a:p>
            <a:pPr algn="l" indent="0" marL="0">
              <a:lnSpc>
                <a:spcPct val="110000"/>
              </a:lnSpc>
              <a:buNone/>
            </a:pPr>
            <a:r>
              <a:rPr lang="en-US" sz="1200" i="1" dirty="0">
                <a:solidFill>
                  <a:srgbClr val="5F6368"/>
                </a:solidFill>
                <a:latin typeface="Calibri" pitchFamily="34" charset="0"/>
                <a:ea typeface="Calibri" pitchFamily="34" charset="-122"/>
                <a:cs typeface="Calibri" pitchFamily="34" charset="-120"/>
              </a:rPr>
              <a:t>Wrong type in the box? TypeScript stops you — that's the safety helmet!</a:t>
            </a:r>
            <a:endParaRPr lang="en-US" sz="1200" dirty="0"/>
          </a:p>
        </p:txBody>
      </p:sp>
      <p:sp>
        <p:nvSpPr>
          <p:cNvPr id="24" name="Text 2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25" name="Text 23"/>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1440"/>
          </a:xfrm>
          <a:prstGeom prst="rect">
            <a:avLst/>
          </a:prstGeom>
          <a:solidFill>
            <a:srgbClr val="34A853"/>
          </a:solidFill>
          <a:ln/>
        </p:spPr>
      </p:sp>
      <p:sp>
        <p:nvSpPr>
          <p:cNvPr id="3" name="Shape 1"/>
          <p:cNvSpPr/>
          <p:nvPr/>
        </p:nvSpPr>
        <p:spPr>
          <a:xfrm>
            <a:off x="548640" y="548640"/>
            <a:ext cx="91440" cy="91440"/>
          </a:xfrm>
          <a:prstGeom prst="ellipse">
            <a:avLst/>
          </a:prstGeom>
          <a:solidFill>
            <a:srgbClr val="4285F4"/>
          </a:solidFill>
          <a:ln/>
        </p:spPr>
      </p:sp>
      <p:sp>
        <p:nvSpPr>
          <p:cNvPr id="4" name="Shape 2"/>
          <p:cNvSpPr/>
          <p:nvPr/>
        </p:nvSpPr>
        <p:spPr>
          <a:xfrm>
            <a:off x="685800" y="548640"/>
            <a:ext cx="91440" cy="91440"/>
          </a:xfrm>
          <a:prstGeom prst="ellipse">
            <a:avLst/>
          </a:prstGeom>
          <a:solidFill>
            <a:srgbClr val="EA4335"/>
          </a:solidFill>
          <a:ln/>
        </p:spPr>
      </p:sp>
      <p:sp>
        <p:nvSpPr>
          <p:cNvPr id="5" name="Shape 3"/>
          <p:cNvSpPr/>
          <p:nvPr/>
        </p:nvSpPr>
        <p:spPr>
          <a:xfrm>
            <a:off x="822960" y="548640"/>
            <a:ext cx="91440" cy="91440"/>
          </a:xfrm>
          <a:prstGeom prst="ellipse">
            <a:avLst/>
          </a:prstGeom>
          <a:solidFill>
            <a:srgbClr val="FBBC04"/>
          </a:solidFill>
          <a:ln/>
        </p:spPr>
      </p:sp>
      <p:sp>
        <p:nvSpPr>
          <p:cNvPr id="6" name="Shape 4"/>
          <p:cNvSpPr/>
          <p:nvPr/>
        </p:nvSpPr>
        <p:spPr>
          <a:xfrm>
            <a:off x="960120" y="548640"/>
            <a:ext cx="91440" cy="91440"/>
          </a:xfrm>
          <a:prstGeom prst="ellipse">
            <a:avLst/>
          </a:prstGeom>
          <a:solidFill>
            <a:srgbClr val="34A853"/>
          </a:solidFill>
          <a:ln/>
        </p:spPr>
      </p:sp>
      <p:sp>
        <p:nvSpPr>
          <p:cNvPr id="7" name="Text 5"/>
          <p:cNvSpPr/>
          <p:nvPr/>
        </p:nvSpPr>
        <p:spPr>
          <a:xfrm>
            <a:off x="1170432" y="466344"/>
            <a:ext cx="7315200" cy="274320"/>
          </a:xfrm>
          <a:prstGeom prst="rect">
            <a:avLst/>
          </a:prstGeom>
          <a:noFill/>
          <a:ln/>
        </p:spPr>
        <p:txBody>
          <a:bodyPr wrap="square" lIns="0" tIns="0" rIns="0" bIns="0" rtlCol="0" anchor="ctr"/>
          <a:lstStyle/>
          <a:p>
            <a:pPr algn="l" indent="0" marL="0">
              <a:buNone/>
            </a:pPr>
            <a:r>
              <a:rPr lang="en-US" sz="1150" b="1" spc="300" kern="0" dirty="0">
                <a:solidFill>
                  <a:srgbClr val="34A853"/>
                </a:solidFill>
                <a:latin typeface="Calibri" pitchFamily="34" charset="0"/>
                <a:ea typeface="Calibri" pitchFamily="34" charset="-122"/>
                <a:cs typeface="Calibri" pitchFamily="34" charset="-120"/>
              </a:rPr>
              <a:t>BASICS</a:t>
            </a:r>
            <a:endParaRPr lang="en-US" sz="1150" dirty="0"/>
          </a:p>
        </p:txBody>
      </p:sp>
      <p:sp>
        <p:nvSpPr>
          <p:cNvPr id="8" name="Text 6"/>
          <p:cNvSpPr/>
          <p:nvPr/>
        </p:nvSpPr>
        <p:spPr>
          <a:xfrm>
            <a:off x="502920" y="841248"/>
            <a:ext cx="11155680" cy="685800"/>
          </a:xfrm>
          <a:prstGeom prst="rect">
            <a:avLst/>
          </a:prstGeom>
          <a:noFill/>
          <a:ln/>
        </p:spPr>
        <p:txBody>
          <a:bodyPr wrap="square" lIns="0" tIns="0" rIns="0" bIns="0" rtlCol="0" anchor="ctr"/>
          <a:lstStyle/>
          <a:p>
            <a:pPr algn="l" indent="0" marL="0">
              <a:buNone/>
            </a:pPr>
            <a:r>
              <a:rPr lang="en-US" sz="2900" b="1" dirty="0">
                <a:solidFill>
                  <a:srgbClr val="202124"/>
                </a:solidFill>
                <a:latin typeface="Georgia" pitchFamily="34" charset="0"/>
                <a:ea typeface="Georgia" pitchFamily="34" charset="-122"/>
                <a:cs typeface="Georgia" pitchFamily="34" charset="-120"/>
              </a:rPr>
              <a:t>Your turn — to the Missions!</a:t>
            </a:r>
            <a:endParaRPr lang="en-US" sz="2900" dirty="0"/>
          </a:p>
        </p:txBody>
      </p:sp>
      <p:sp>
        <p:nvSpPr>
          <p:cNvPr id="9" name="Text 7"/>
          <p:cNvSpPr/>
          <p:nvPr/>
        </p:nvSpPr>
        <p:spPr>
          <a:xfrm>
            <a:off x="548640" y="1691640"/>
            <a:ext cx="10972800" cy="640080"/>
          </a:xfrm>
          <a:prstGeom prst="rect">
            <a:avLst/>
          </a:prstGeom>
          <a:noFill/>
          <a:ln/>
        </p:spPr>
        <p:txBody>
          <a:bodyPr wrap="square" lIns="0" tIns="0" rIns="0" bIns="0" rtlCol="0" anchor="t"/>
          <a:lstStyle/>
          <a:p>
            <a:pPr algn="l" indent="0" marL="0">
              <a:buNone/>
            </a:pPr>
            <a:r>
              <a:rPr lang="en-US" sz="1650" dirty="0">
                <a:solidFill>
                  <a:srgbClr val="5F6368"/>
                </a:solidFill>
                <a:latin typeface="Calibri" pitchFamily="34" charset="0"/>
                <a:ea typeface="Calibri" pitchFamily="34" charset="-122"/>
                <a:cs typeface="Calibri" pitchFamily="34" charset="-120"/>
              </a:rPr>
              <a:t>You now know the two building blocks every program is made of. Time to use them in today's classwork.</a:t>
            </a:r>
            <a:endParaRPr lang="en-US" sz="1650" dirty="0"/>
          </a:p>
        </p:txBody>
      </p:sp>
      <p:sp>
        <p:nvSpPr>
          <p:cNvPr id="10" name="Shape 8"/>
          <p:cNvSpPr/>
          <p:nvPr/>
        </p:nvSpPr>
        <p:spPr>
          <a:xfrm>
            <a:off x="548640" y="2514600"/>
            <a:ext cx="5394960" cy="2834640"/>
          </a:xfrm>
          <a:prstGeom prst="roundRect">
            <a:avLst>
              <a:gd name="adj" fmla="val 2903"/>
            </a:avLst>
          </a:prstGeom>
          <a:solidFill>
            <a:srgbClr val="F8F9FA"/>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1" name="Text 9"/>
          <p:cNvSpPr/>
          <p:nvPr/>
        </p:nvSpPr>
        <p:spPr>
          <a:xfrm>
            <a:off x="822960" y="2697480"/>
            <a:ext cx="4846320" cy="411480"/>
          </a:xfrm>
          <a:prstGeom prst="rect">
            <a:avLst/>
          </a:prstGeom>
          <a:noFill/>
          <a:ln/>
        </p:spPr>
        <p:txBody>
          <a:bodyPr wrap="square" lIns="0" tIns="0" rIns="0" bIns="0" rtlCol="0" anchor="ctr"/>
          <a:lstStyle/>
          <a:p>
            <a:pPr algn="l" indent="0" marL="0">
              <a:buNone/>
            </a:pPr>
            <a:r>
              <a:rPr lang="en-US" sz="1700" b="1" dirty="0">
                <a:solidFill>
                  <a:srgbClr val="34A853"/>
                </a:solidFill>
                <a:latin typeface="Georgia" pitchFamily="34" charset="0"/>
                <a:ea typeface="Georgia" pitchFamily="34" charset="-122"/>
                <a:cs typeface="Georgia" pitchFamily="34" charset="-120"/>
              </a:rPr>
              <a:t>What you can do now</a:t>
            </a:r>
            <a:endParaRPr lang="en-US" sz="1700" dirty="0"/>
          </a:p>
        </p:txBody>
      </p:sp>
      <p:sp>
        <p:nvSpPr>
          <p:cNvPr id="12" name="Text 10"/>
          <p:cNvSpPr/>
          <p:nvPr/>
        </p:nvSpPr>
        <p:spPr>
          <a:xfrm>
            <a:off x="914400" y="3200400"/>
            <a:ext cx="4846320" cy="2011680"/>
          </a:xfrm>
          <a:prstGeom prst="rect">
            <a:avLst/>
          </a:prstGeom>
          <a:noFill/>
          <a:ln/>
        </p:spPr>
        <p:txBody>
          <a:bodyPr wrap="square" lIns="0" tIns="0" rIns="0" bIns="0" rtlCol="0" anchor="t"/>
          <a:lstStyle/>
          <a:p>
            <a:pPr algn="l" marL="254000" indent="-254000">
              <a:spcAft>
                <a:spcPts val="1000"/>
              </a:spcAft>
              <a:buSzPct val="100000"/>
              <a:buChar char="✓"/>
            </a:pPr>
            <a:r>
              <a:rPr lang="en-US" sz="1450" dirty="0">
                <a:solidFill>
                  <a:srgbClr val="5F6368"/>
                </a:solidFill>
                <a:latin typeface="Calibri" pitchFamily="34" charset="0"/>
                <a:ea typeface="Calibri" pitchFamily="34" charset="-122"/>
                <a:cs typeface="Calibri" pitchFamily="34" charset="-120"/>
              </a:rPr>
              <a:t>Print anything with console.log</a:t>
            </a:r>
            <a:endParaRPr lang="en-US" sz="1450" dirty="0"/>
          </a:p>
          <a:p>
            <a:pPr algn="l" marL="254000" indent="-254000">
              <a:spcAft>
                <a:spcPts val="1000"/>
              </a:spcAft>
              <a:buSzPct val="100000"/>
              <a:buChar char="✓"/>
            </a:pPr>
            <a:r>
              <a:rPr lang="en-US" sz="1450" dirty="0">
                <a:solidFill>
                  <a:srgbClr val="5F6368"/>
                </a:solidFill>
                <a:latin typeface="Calibri" pitchFamily="34" charset="0"/>
                <a:ea typeface="Calibri" pitchFamily="34" charset="-122"/>
                <a:cs typeface="Calibri" pitchFamily="34" charset="-120"/>
              </a:rPr>
              <a:t>Store values in variables with let</a:t>
            </a:r>
            <a:endParaRPr lang="en-US" sz="1450" dirty="0"/>
          </a:p>
          <a:p>
            <a:pPr algn="l" marL="254000" indent="-254000">
              <a:spcAft>
                <a:spcPts val="1000"/>
              </a:spcAft>
              <a:buSzPct val="100000"/>
              <a:buChar char="✓"/>
            </a:pPr>
            <a:r>
              <a:rPr lang="en-US" sz="1450" dirty="0">
                <a:solidFill>
                  <a:srgbClr val="5F6368"/>
                </a:solidFill>
                <a:latin typeface="Calibri" pitchFamily="34" charset="0"/>
                <a:ea typeface="Calibri" pitchFamily="34" charset="-122"/>
                <a:cs typeface="Calibri" pitchFamily="34" charset="-120"/>
              </a:rPr>
              <a:t>Label types: string, number, boolean</a:t>
            </a:r>
            <a:endParaRPr lang="en-US" sz="1450" dirty="0"/>
          </a:p>
          <a:p>
            <a:pPr algn="l" marL="254000" indent="-254000">
              <a:spcAft>
                <a:spcPts val="1000"/>
              </a:spcAft>
              <a:buSzPct val="100000"/>
              <a:buChar char="✓"/>
            </a:pPr>
            <a:r>
              <a:rPr lang="en-US" sz="1450" dirty="0">
                <a:solidFill>
                  <a:srgbClr val="5F6368"/>
                </a:solidFill>
                <a:latin typeface="Calibri" pitchFamily="34" charset="0"/>
                <a:ea typeface="Calibri" pitchFamily="34" charset="-122"/>
                <a:cs typeface="Calibri" pitchFamily="34" charset="-120"/>
              </a:rPr>
              <a:t>Do math and combine text</a:t>
            </a:r>
            <a:endParaRPr lang="en-US" sz="1450" dirty="0"/>
          </a:p>
        </p:txBody>
      </p:sp>
      <p:sp>
        <p:nvSpPr>
          <p:cNvPr id="13" name="Shape 11"/>
          <p:cNvSpPr/>
          <p:nvPr/>
        </p:nvSpPr>
        <p:spPr>
          <a:xfrm>
            <a:off x="6217920" y="2514600"/>
            <a:ext cx="5394960" cy="2834640"/>
          </a:xfrm>
          <a:prstGeom prst="roundRect">
            <a:avLst>
              <a:gd name="adj" fmla="val 2903"/>
            </a:avLst>
          </a:prstGeom>
          <a:solidFill>
            <a:srgbClr val="FFFFFF"/>
          </a:solidFill>
          <a:ln w="12700">
            <a:solidFill>
              <a:srgbClr val="E8EAED"/>
            </a:solidFill>
            <a:prstDash val="solid"/>
          </a:ln>
          <a:effectLst>
            <a:outerShdw sx="100000" sy="100000" kx="0" ky="0" algn="bl" rotWithShape="0" blurRad="76200" dist="25400" dir="5400000">
              <a:srgbClr val="BFBFBF">
                <a:alpha val="35000"/>
              </a:srgbClr>
            </a:outerShdw>
          </a:effectLst>
        </p:spPr>
      </p:sp>
      <p:sp>
        <p:nvSpPr>
          <p:cNvPr id="14" name="Shape 12"/>
          <p:cNvSpPr/>
          <p:nvPr/>
        </p:nvSpPr>
        <p:spPr>
          <a:xfrm>
            <a:off x="6217920" y="2514600"/>
            <a:ext cx="5394960" cy="640080"/>
          </a:xfrm>
          <a:prstGeom prst="rect">
            <a:avLst/>
          </a:prstGeom>
          <a:solidFill>
            <a:srgbClr val="4285F4"/>
          </a:solidFill>
          <a:ln/>
        </p:spPr>
      </p:sp>
      <p:sp>
        <p:nvSpPr>
          <p:cNvPr id="15" name="Text 13"/>
          <p:cNvSpPr/>
          <p:nvPr/>
        </p:nvSpPr>
        <p:spPr>
          <a:xfrm>
            <a:off x="6492240" y="2514600"/>
            <a:ext cx="4846320" cy="640080"/>
          </a:xfrm>
          <a:prstGeom prst="rect">
            <a:avLst/>
          </a:prstGeom>
          <a:noFill/>
          <a:ln/>
        </p:spPr>
        <p:txBody>
          <a:bodyPr wrap="square" lIns="0" tIns="0" rIns="0" bIns="0" rtlCol="0" anchor="ctr"/>
          <a:lstStyle/>
          <a:p>
            <a:pPr algn="l" indent="0" marL="0">
              <a:buNone/>
            </a:pPr>
            <a:r>
              <a:rPr lang="en-US" sz="1700" b="1" dirty="0">
                <a:solidFill>
                  <a:srgbClr val="FFFFFF"/>
                </a:solidFill>
                <a:latin typeface="Georgia" pitchFamily="34" charset="0"/>
                <a:ea typeface="Georgia" pitchFamily="34" charset="-122"/>
                <a:cs typeface="Georgia" pitchFamily="34" charset="-120"/>
              </a:rPr>
              <a:t>In the classwork you'll…</a:t>
            </a:r>
            <a:endParaRPr lang="en-US" sz="1700" dirty="0"/>
          </a:p>
        </p:txBody>
      </p:sp>
      <p:sp>
        <p:nvSpPr>
          <p:cNvPr id="16" name="Text 14"/>
          <p:cNvSpPr/>
          <p:nvPr/>
        </p:nvSpPr>
        <p:spPr>
          <a:xfrm>
            <a:off x="6583680" y="3291840"/>
            <a:ext cx="4846320" cy="1920240"/>
          </a:xfrm>
          <a:prstGeom prst="rect">
            <a:avLst/>
          </a:prstGeom>
          <a:noFill/>
          <a:ln/>
        </p:spPr>
        <p:txBody>
          <a:bodyPr wrap="square" lIns="0" tIns="0" rIns="0" bIns="0" rtlCol="0" anchor="t"/>
          <a:lstStyle/>
          <a:p>
            <a:pPr algn="l" marL="254000" indent="-254000">
              <a:spcAft>
                <a:spcPts val="800"/>
              </a:spcAft>
              <a:buSzPct val="100000"/>
              <a:buChar char="•"/>
            </a:pPr>
            <a:r>
              <a:rPr lang="en-US" sz="1400" dirty="0">
                <a:solidFill>
                  <a:srgbClr val="5F6368"/>
                </a:solidFill>
                <a:latin typeface="Calibri" pitchFamily="34" charset="0"/>
                <a:ea typeface="Calibri" pitchFamily="34" charset="-122"/>
                <a:cs typeface="Calibri" pitchFamily="34" charset="-120"/>
              </a:rPr>
              <a:t>Work in groups with a rotating Driver</a:t>
            </a:r>
            <a:endParaRPr lang="en-US" sz="1400" dirty="0"/>
          </a:p>
          <a:p>
            <a:pPr algn="l" marL="254000" indent="-254000">
              <a:spcAft>
                <a:spcPts val="800"/>
              </a:spcAft>
              <a:buSzPct val="100000"/>
              <a:buChar char="•"/>
            </a:pPr>
            <a:r>
              <a:rPr lang="en-US" sz="1400" dirty="0">
                <a:solidFill>
                  <a:srgbClr val="5F6368"/>
                </a:solidFill>
                <a:latin typeface="Calibri" pitchFamily="34" charset="0"/>
                <a:ea typeface="Calibri" pitchFamily="34" charset="-122"/>
                <a:cs typeface="Calibri" pitchFamily="34" charset="-120"/>
              </a:rPr>
              <a:t>Write your own printing program</a:t>
            </a:r>
            <a:endParaRPr lang="en-US" sz="1400" dirty="0"/>
          </a:p>
          <a:p>
            <a:pPr algn="l" marL="254000" indent="-254000">
              <a:spcAft>
                <a:spcPts val="800"/>
              </a:spcAft>
              <a:buSzPct val="100000"/>
              <a:buChar char="•"/>
            </a:pPr>
            <a:r>
              <a:rPr lang="en-US" sz="1400" dirty="0">
                <a:solidFill>
                  <a:srgbClr val="5F6368"/>
                </a:solidFill>
                <a:latin typeface="Calibri" pitchFamily="34" charset="0"/>
                <a:ea typeface="Calibri" pitchFamily="34" charset="-122"/>
                <a:cs typeface="Calibri" pitchFamily="34" charset="-120"/>
              </a:rPr>
              <a:t>Build a mini “player card” with variables</a:t>
            </a:r>
            <a:endParaRPr lang="en-US" sz="1400" dirty="0"/>
          </a:p>
          <a:p>
            <a:pPr algn="l" marL="254000" indent="-254000">
              <a:spcAft>
                <a:spcPts val="800"/>
              </a:spcAft>
              <a:buSzPct val="100000"/>
              <a:buChar char="•"/>
            </a:pPr>
            <a:r>
              <a:rPr lang="en-US" sz="1400" dirty="0">
                <a:solidFill>
                  <a:srgbClr val="5F6368"/>
                </a:solidFill>
                <a:latin typeface="Calibri" pitchFamily="34" charset="0"/>
                <a:ea typeface="Calibri" pitchFamily="34" charset="-122"/>
                <a:cs typeface="Calibri" pitchFamily="34" charset="-120"/>
              </a:rPr>
              <a:t>Hunt down and fix a sneaky bug</a:t>
            </a:r>
            <a:endParaRPr lang="en-US" sz="1400" dirty="0"/>
          </a:p>
          <a:p>
            <a:pPr algn="l" marL="254000" indent="-254000">
              <a:spcAft>
                <a:spcPts val="800"/>
              </a:spcAft>
              <a:buSzPct val="100000"/>
              <a:buChar char="•"/>
            </a:pPr>
            <a:r>
              <a:rPr lang="en-US" sz="1400" dirty="0">
                <a:solidFill>
                  <a:srgbClr val="5F6368"/>
                </a:solidFill>
                <a:latin typeface="Calibri" pitchFamily="34" charset="0"/>
                <a:ea typeface="Calibri" pitchFamily="34" charset="-122"/>
                <a:cs typeface="Calibri" pitchFamily="34" charset="-120"/>
              </a:rPr>
              <a:t>Take on a design challenge</a:t>
            </a:r>
            <a:endParaRPr lang="en-US" sz="1400" dirty="0"/>
          </a:p>
        </p:txBody>
      </p:sp>
      <p:sp>
        <p:nvSpPr>
          <p:cNvPr id="17" name="Text 15"/>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80868B"/>
                </a:solidFill>
                <a:latin typeface="Calibri" pitchFamily="34" charset="0"/>
                <a:ea typeface="Calibri" pitchFamily="34" charset="-122"/>
                <a:cs typeface="Calibri" pitchFamily="34" charset="-120"/>
              </a:rPr>
              <a:t>Intro to Coding  ·  TypeScript</a:t>
            </a:r>
            <a:endParaRPr lang="en-US" sz="900" dirty="0"/>
          </a:p>
        </p:txBody>
      </p:sp>
      <p:sp>
        <p:nvSpPr>
          <p:cNvPr id="18" name="Text 16"/>
          <p:cNvSpPr/>
          <p:nvPr/>
        </p:nvSpPr>
        <p:spPr>
          <a:xfrm>
            <a:off x="11338560" y="6473952"/>
            <a:ext cx="365760" cy="274320"/>
          </a:xfrm>
          <a:prstGeom prst="rect">
            <a:avLst/>
          </a:prstGeom>
          <a:noFill/>
          <a:ln/>
        </p:spPr>
        <p:txBody>
          <a:bodyPr wrap="square" lIns="0" tIns="0" rIns="0" bIns="0" rtlCol="0" anchor="ctr"/>
          <a:lstStyle/>
          <a:p>
            <a:pPr algn="r" indent="0" marL="0">
              <a:buNone/>
            </a:pPr>
            <a:r>
              <a:rPr lang="en-US" sz="900" dirty="0">
                <a:solidFill>
                  <a:srgbClr val="8086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02124"/>
        </a:solidFill>
      </p:bgPr>
    </p:bg>
    <p:spTree>
      <p:nvGrpSpPr>
        <p:cNvPr id="1" name=""/>
        <p:cNvGrpSpPr/>
        <p:nvPr/>
      </p:nvGrpSpPr>
      <p:grpSpPr>
        <a:xfrm>
          <a:off x="0" y="0"/>
          <a:ext cx="0" cy="0"/>
          <a:chOff x="0" y="0"/>
          <a:chExt cx="0" cy="0"/>
        </a:xfrm>
      </p:grpSpPr>
      <p:sp>
        <p:nvSpPr>
          <p:cNvPr id="2" name="Shape 0"/>
          <p:cNvSpPr/>
          <p:nvPr/>
        </p:nvSpPr>
        <p:spPr>
          <a:xfrm>
            <a:off x="-1463040" y="-1463040"/>
            <a:ext cx="3840480" cy="3840480"/>
          </a:xfrm>
          <a:prstGeom prst="ellipse">
            <a:avLst/>
          </a:prstGeom>
          <a:solidFill>
            <a:srgbClr val="4285F4">
              <a:alpha val="18000"/>
            </a:srgbClr>
          </a:solidFill>
          <a:ln/>
        </p:spPr>
      </p:sp>
      <p:sp>
        <p:nvSpPr>
          <p:cNvPr id="3" name="Shape 1"/>
          <p:cNvSpPr/>
          <p:nvPr/>
        </p:nvSpPr>
        <p:spPr>
          <a:xfrm>
            <a:off x="9875520" y="4206240"/>
            <a:ext cx="3657600" cy="3657600"/>
          </a:xfrm>
          <a:prstGeom prst="ellipse">
            <a:avLst/>
          </a:prstGeom>
          <a:solidFill>
            <a:srgbClr val="34A853">
              <a:alpha val="16000"/>
            </a:srgbClr>
          </a:solidFill>
          <a:ln/>
        </p:spPr>
      </p:sp>
      <p:sp>
        <p:nvSpPr>
          <p:cNvPr id="4" name="Shape 2"/>
          <p:cNvSpPr/>
          <p:nvPr/>
        </p:nvSpPr>
        <p:spPr>
          <a:xfrm>
            <a:off x="9509760" y="-1371600"/>
            <a:ext cx="2377440" cy="2377440"/>
          </a:xfrm>
          <a:prstGeom prst="ellipse">
            <a:avLst/>
          </a:prstGeom>
          <a:solidFill>
            <a:srgbClr val="FBBC04">
              <a:alpha val="14000"/>
            </a:srgbClr>
          </a:solidFill>
          <a:ln/>
        </p:spPr>
      </p:sp>
      <p:sp>
        <p:nvSpPr>
          <p:cNvPr id="5" name="Shape 3"/>
          <p:cNvSpPr/>
          <p:nvPr/>
        </p:nvSpPr>
        <p:spPr>
          <a:xfrm>
            <a:off x="868680" y="2286000"/>
            <a:ext cx="146304" cy="146304"/>
          </a:xfrm>
          <a:prstGeom prst="ellipse">
            <a:avLst/>
          </a:prstGeom>
          <a:solidFill>
            <a:srgbClr val="4285F4"/>
          </a:solidFill>
          <a:ln/>
        </p:spPr>
      </p:sp>
      <p:sp>
        <p:nvSpPr>
          <p:cNvPr id="6" name="Shape 4"/>
          <p:cNvSpPr/>
          <p:nvPr/>
        </p:nvSpPr>
        <p:spPr>
          <a:xfrm>
            <a:off x="1106424" y="2286000"/>
            <a:ext cx="146304" cy="146304"/>
          </a:xfrm>
          <a:prstGeom prst="ellipse">
            <a:avLst/>
          </a:prstGeom>
          <a:solidFill>
            <a:srgbClr val="EA4335"/>
          </a:solidFill>
          <a:ln/>
        </p:spPr>
      </p:sp>
      <p:sp>
        <p:nvSpPr>
          <p:cNvPr id="7" name="Shape 5"/>
          <p:cNvSpPr/>
          <p:nvPr/>
        </p:nvSpPr>
        <p:spPr>
          <a:xfrm>
            <a:off x="1344168" y="2286000"/>
            <a:ext cx="146304" cy="146304"/>
          </a:xfrm>
          <a:prstGeom prst="ellipse">
            <a:avLst/>
          </a:prstGeom>
          <a:solidFill>
            <a:srgbClr val="FBBC04"/>
          </a:solidFill>
          <a:ln/>
        </p:spPr>
      </p:sp>
      <p:sp>
        <p:nvSpPr>
          <p:cNvPr id="8" name="Shape 6"/>
          <p:cNvSpPr/>
          <p:nvPr/>
        </p:nvSpPr>
        <p:spPr>
          <a:xfrm>
            <a:off x="1581912" y="2286000"/>
            <a:ext cx="146304" cy="146304"/>
          </a:xfrm>
          <a:prstGeom prst="ellipse">
            <a:avLst/>
          </a:prstGeom>
          <a:solidFill>
            <a:srgbClr val="34A853"/>
          </a:solidFill>
          <a:ln/>
        </p:spPr>
      </p:sp>
      <p:sp>
        <p:nvSpPr>
          <p:cNvPr id="9" name="Text 7"/>
          <p:cNvSpPr/>
          <p:nvPr/>
        </p:nvSpPr>
        <p:spPr>
          <a:xfrm>
            <a:off x="868680" y="2560320"/>
            <a:ext cx="10058400" cy="365760"/>
          </a:xfrm>
          <a:prstGeom prst="rect">
            <a:avLst/>
          </a:prstGeom>
          <a:noFill/>
          <a:ln/>
        </p:spPr>
        <p:txBody>
          <a:bodyPr wrap="square" lIns="0" tIns="0" rIns="0" bIns="0" rtlCol="0" anchor="ctr"/>
          <a:lstStyle/>
          <a:p>
            <a:pPr algn="l" indent="0" marL="0">
              <a:buNone/>
            </a:pPr>
            <a:r>
              <a:rPr lang="en-US" sz="1300" b="1" spc="300" kern="0" dirty="0">
                <a:solidFill>
                  <a:srgbClr val="9AA0A6"/>
                </a:solidFill>
                <a:latin typeface="Calibri" pitchFamily="34" charset="0"/>
                <a:ea typeface="Calibri" pitchFamily="34" charset="-122"/>
                <a:cs typeface="Calibri" pitchFamily="34" charset="-120"/>
              </a:rPr>
              <a:t>TODAY YOU LEARNED</a:t>
            </a:r>
            <a:endParaRPr lang="en-US" sz="1300" dirty="0"/>
          </a:p>
        </p:txBody>
      </p:sp>
      <p:sp>
        <p:nvSpPr>
          <p:cNvPr id="10" name="Text 8"/>
          <p:cNvSpPr/>
          <p:nvPr/>
        </p:nvSpPr>
        <p:spPr>
          <a:xfrm>
            <a:off x="822960" y="2971800"/>
            <a:ext cx="1051560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Georgia" pitchFamily="34" charset="0"/>
                <a:ea typeface="Georgia" pitchFamily="34" charset="-122"/>
                <a:cs typeface="Georgia" pitchFamily="34" charset="-120"/>
              </a:rPr>
              <a:t>You're officially a coder.</a:t>
            </a:r>
            <a:endParaRPr lang="en-US" sz="4000" dirty="0"/>
          </a:p>
        </p:txBody>
      </p:sp>
      <p:sp>
        <p:nvSpPr>
          <p:cNvPr id="11" name="Text 9"/>
          <p:cNvSpPr/>
          <p:nvPr/>
        </p:nvSpPr>
        <p:spPr>
          <a:xfrm>
            <a:off x="868680" y="3977640"/>
            <a:ext cx="10241280" cy="914400"/>
          </a:xfrm>
          <a:prstGeom prst="rect">
            <a:avLst/>
          </a:prstGeom>
          <a:noFill/>
          <a:ln/>
        </p:spPr>
        <p:txBody>
          <a:bodyPr wrap="square" lIns="0" tIns="0" rIns="0" bIns="0" rtlCol="0" anchor="ctr"/>
          <a:lstStyle/>
          <a:p>
            <a:pPr algn="l" indent="0" marL="0">
              <a:lnSpc>
                <a:spcPct val="125000"/>
              </a:lnSpc>
              <a:buNone/>
            </a:pPr>
            <a:r>
              <a:rPr lang="en-US" sz="1600" dirty="0">
                <a:solidFill>
                  <a:srgbClr val="E8EAED"/>
                </a:solidFill>
                <a:latin typeface="Calibri" pitchFamily="34" charset="0"/>
                <a:ea typeface="Calibri" pitchFamily="34" charset="-122"/>
                <a:cs typeface="Calibri" pitchFamily="34" charset="-120"/>
              </a:rPr>
              <a:t>What code is  ·  the history  ·  coding in the AI era  ·  why it still matters</a:t>
            </a:r>
            <a:endParaRPr lang="en-US" sz="1600" dirty="0"/>
          </a:p>
          <a:p>
            <a:pPr algn="l" indent="0" marL="0">
              <a:lnSpc>
                <a:spcPct val="125000"/>
              </a:lnSpc>
              <a:buNone/>
            </a:pPr>
            <a:r>
              <a:rPr lang="en-US" sz="1600" dirty="0">
                <a:solidFill>
                  <a:srgbClr val="E8EAED"/>
                </a:solidFill>
                <a:latin typeface="Calibri" pitchFamily="34" charset="0"/>
                <a:ea typeface="Calibri" pitchFamily="34" charset="-122"/>
                <a:cs typeface="Calibri" pitchFamily="34" charset="-120"/>
              </a:rPr>
              <a:t>what TypeScript is  ·  console.log  ·  variables &amp; types</a:t>
            </a:r>
            <a:endParaRPr lang="en-US" sz="1600" dirty="0"/>
          </a:p>
        </p:txBody>
      </p:sp>
      <p:sp>
        <p:nvSpPr>
          <p:cNvPr id="12" name="Text 10"/>
          <p:cNvSpPr/>
          <p:nvPr/>
        </p:nvSpPr>
        <p:spPr>
          <a:xfrm>
            <a:off x="868680" y="5257800"/>
            <a:ext cx="10058400" cy="457200"/>
          </a:xfrm>
          <a:prstGeom prst="rect">
            <a:avLst/>
          </a:prstGeom>
          <a:noFill/>
          <a:ln/>
        </p:spPr>
        <p:txBody>
          <a:bodyPr wrap="square" lIns="0" tIns="0" rIns="0" bIns="0" rtlCol="0" anchor="ctr"/>
          <a:lstStyle/>
          <a:p>
            <a:pPr algn="l" indent="0" marL="0">
              <a:buNone/>
            </a:pPr>
            <a:r>
              <a:rPr lang="en-US" sz="1800" b="1" dirty="0">
                <a:solidFill>
                  <a:srgbClr val="FBBC04"/>
                </a:solidFill>
                <a:latin typeface="Georgia" pitchFamily="34" charset="0"/>
                <a:ea typeface="Georgia" pitchFamily="34" charset="-122"/>
                <a:cs typeface="Georgia" pitchFamily="34" charset="-120"/>
              </a:rPr>
              <a:t>Next up: your Missions, then the Kahoot showdown!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2026-07-18T04:55:53Z</dcterms:created>
  <dcterms:modified xsi:type="dcterms:W3CDTF">2026-07-18T04:55:53Z</dcterms:modified>
</cp:coreProperties>
</file>