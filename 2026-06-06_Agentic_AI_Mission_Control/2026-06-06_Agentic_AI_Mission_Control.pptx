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554480"/>
            <a:ext cx="9966960" cy="2834639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3A5F"/>
                </a:solidFill>
                <a:latin typeface="Segoe UI Semibold"/>
              </a:defRPr>
            </a:pPr>
            <a:r>
              <a:t>Agentic AI</a:t>
            </a:r>
            <a:br/>
            <a:r>
              <a:t>Mission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79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E3A5F"/>
                </a:solidFill>
                <a:latin typeface="Segoe UI"/>
              </a:defRPr>
            </a:pPr>
            <a:r>
              <a:t>From Vibe Coding to Supervised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DD8E6"/>
                </a:solidFill>
                <a:latin typeface="Segoe UI"/>
              </a:defRPr>
            </a:pPr>
            <a:r>
              <a:t>June 6,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4754880"/>
            <a:ext cx="6702552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12064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AI Phase  |  Kids Computer Science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Today's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417320"/>
            <a:ext cx="502920" cy="502920"/>
          </a:xfrm>
          <a:prstGeom prst="ellipse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08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Recap: building apps with AI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75688"/>
            <a:ext cx="502920" cy="502920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6712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What makes a workflow agentic?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34056"/>
            <a:ext cx="502920" cy="50292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8254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The agent job brief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92424"/>
            <a:ext cx="502920" cy="50292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8386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Tools, permissions, and approval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050791"/>
            <a:ext cx="502920" cy="50292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142231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Teacher demo: mission control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709159"/>
            <a:ext cx="502920" cy="50292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80059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Classwork: improve and test an app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367528"/>
            <a:ext cx="502920" cy="50292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4589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Kahoot + homework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Quick Recap: May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514600" cy="141732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7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Canvas + Lovable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21854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AI app-building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514600" cy="141732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64207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057400"/>
            <a:ext cx="21854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Structure: buttons,</a:t>
            </a:r>
            <a:br/>
            <a:r>
              <a:t>text, sections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2514600" cy="141732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64207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057400"/>
            <a:ext cx="21854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Style: colors,</a:t>
            </a:r>
            <a:br/>
            <a:r>
              <a:t>fonts, layout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554480"/>
            <a:ext cx="2514600" cy="141732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64207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1472" y="2057400"/>
            <a:ext cx="21854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Behavior: clicks,</a:t>
            </a:r>
            <a:br/>
            <a:r>
              <a:t>score, movement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  <a:latin typeface="Segoe UI"/>
              </a:defRPr>
            </a:pPr>
            <a:r>
              <a:t>Last week: describe -&gt; build -&gt; test -&gt; refine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Today we add supervision: goals, limits, approvals, and tests.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Three Ways to Use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063240" cy="160020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331720"/>
            <a:ext cx="2734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Answers questions</a:t>
            </a:r>
            <a:br/>
            <a:r>
              <a:t>or explains ideas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77640" y="2395728"/>
            <a:ext cx="457200" cy="32004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063240" cy="16002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3852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App 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331720"/>
            <a:ext cx="2734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Turns prompts into</a:t>
            </a:r>
            <a:br/>
            <a:r>
              <a:t>apps or games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26679" y="2395728"/>
            <a:ext cx="457200" cy="32004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3063240" cy="160020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93852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Agentic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331720"/>
            <a:ext cx="2734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Plans, uses tools,</a:t>
            </a:r>
            <a:br/>
            <a:r>
              <a:t>checks, and refines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Agentic does not mean unsupervised. The human is still in charge.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How We Got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083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3A5F"/>
                </a:solidFill>
                <a:latin typeface="Segoe UI"/>
              </a:defRPr>
            </a:pPr>
            <a:r>
              <a:t>From chatbots to agents that can use code, browsers, and computers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538728"/>
            <a:ext cx="10835640" cy="548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3337560"/>
            <a:ext cx="310896" cy="310896"/>
          </a:xfrm>
          <a:prstGeom prst="ellipse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1325880" cy="1078992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404872"/>
            <a:ext cx="1216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Nov 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642615"/>
            <a:ext cx="1216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ChatGPT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916936"/>
            <a:ext cx="1216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40" b="0">
                <a:solidFill>
                  <a:srgbClr val="FFFFFF"/>
                </a:solidFill>
                <a:latin typeface="Segoe UI"/>
              </a:defRPr>
            </a:pPr>
            <a:r>
              <a:t>Chat interface</a:t>
            </a:r>
            <a:br/>
            <a:r>
              <a:t>becomes mainstream</a:t>
            </a:r>
          </a:p>
        </p:txBody>
      </p:sp>
      <p:sp>
        <p:nvSpPr>
          <p:cNvPr id="12" name="Oval 11"/>
          <p:cNvSpPr/>
          <p:nvPr/>
        </p:nvSpPr>
        <p:spPr>
          <a:xfrm>
            <a:off x="2578608" y="3337560"/>
            <a:ext cx="310896" cy="310896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03120" y="3977639"/>
            <a:ext cx="1325880" cy="1078992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57984" y="4050791"/>
            <a:ext cx="1216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Mar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984" y="4288536"/>
            <a:ext cx="1216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GPT-4 + Claude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7984" y="4562855"/>
            <a:ext cx="1216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40" b="0">
                <a:solidFill>
                  <a:srgbClr val="FFFFFF"/>
                </a:solidFill>
                <a:latin typeface="Segoe UI"/>
              </a:defRPr>
            </a:pPr>
            <a:r>
              <a:t>Stronger reasoning</a:t>
            </a:r>
            <a:br/>
            <a:r>
              <a:t>assistants</a:t>
            </a:r>
          </a:p>
        </p:txBody>
      </p:sp>
      <p:sp>
        <p:nvSpPr>
          <p:cNvPr id="17" name="Oval 16"/>
          <p:cNvSpPr/>
          <p:nvPr/>
        </p:nvSpPr>
        <p:spPr>
          <a:xfrm>
            <a:off x="4224527" y="3337560"/>
            <a:ext cx="310896" cy="310896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49039" y="2331720"/>
            <a:ext cx="1325880" cy="1078992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03903" y="2404872"/>
            <a:ext cx="1216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Oct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3903" y="2642615"/>
            <a:ext cx="1216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Computer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3903" y="2916936"/>
            <a:ext cx="1216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40" b="0">
                <a:solidFill>
                  <a:srgbClr val="FFFFFF"/>
                </a:solidFill>
                <a:latin typeface="Segoe UI"/>
              </a:defRPr>
            </a:pPr>
            <a:r>
              <a:t>Claude can look,</a:t>
            </a:r>
            <a:br/>
            <a:r>
              <a:t>click, and type</a:t>
            </a:r>
          </a:p>
        </p:txBody>
      </p:sp>
      <p:sp>
        <p:nvSpPr>
          <p:cNvPr id="22" name="Oval 21"/>
          <p:cNvSpPr/>
          <p:nvPr/>
        </p:nvSpPr>
        <p:spPr>
          <a:xfrm>
            <a:off x="5870448" y="3337560"/>
            <a:ext cx="310896" cy="310896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94960" y="3977639"/>
            <a:ext cx="1325880" cy="1078992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9824" y="4050791"/>
            <a:ext cx="1216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Jan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9824" y="4288536"/>
            <a:ext cx="1216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Operator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9824" y="4562855"/>
            <a:ext cx="1216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40" b="0">
                <a:solidFill>
                  <a:srgbClr val="FFFFFF"/>
                </a:solidFill>
                <a:latin typeface="Segoe UI"/>
              </a:defRPr>
            </a:pPr>
            <a:r>
              <a:t>Browser agent for</a:t>
            </a:r>
            <a:br/>
            <a:r>
              <a:t>web tasks</a:t>
            </a:r>
          </a:p>
        </p:txBody>
      </p:sp>
      <p:sp>
        <p:nvSpPr>
          <p:cNvPr id="27" name="Oval 26"/>
          <p:cNvSpPr/>
          <p:nvPr/>
        </p:nvSpPr>
        <p:spPr>
          <a:xfrm>
            <a:off x="7516368" y="3337560"/>
            <a:ext cx="310896" cy="310896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40880" y="2331720"/>
            <a:ext cx="1325880" cy="1078992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95744" y="2404872"/>
            <a:ext cx="1216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Feb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5744" y="2642615"/>
            <a:ext cx="1216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Claude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95744" y="2916936"/>
            <a:ext cx="1216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40" b="0">
                <a:solidFill>
                  <a:srgbClr val="FFFFFF"/>
                </a:solidFill>
                <a:latin typeface="Segoe UI"/>
              </a:defRPr>
            </a:pPr>
            <a:r>
              <a:t>Coding agent in</a:t>
            </a:r>
            <a:br/>
            <a:r>
              <a:t>the terminal</a:t>
            </a:r>
          </a:p>
        </p:txBody>
      </p:sp>
      <p:sp>
        <p:nvSpPr>
          <p:cNvPr id="32" name="Oval 31"/>
          <p:cNvSpPr/>
          <p:nvPr/>
        </p:nvSpPr>
        <p:spPr>
          <a:xfrm>
            <a:off x="9162288" y="3337560"/>
            <a:ext cx="310896" cy="310896"/>
          </a:xfrm>
          <a:prstGeom prst="ellipse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86800" y="3977639"/>
            <a:ext cx="1325880" cy="1078992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41664" y="4050791"/>
            <a:ext cx="1216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May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41664" y="4288536"/>
            <a:ext cx="1216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Codex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41664" y="4562855"/>
            <a:ext cx="1216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40" b="0">
                <a:solidFill>
                  <a:srgbClr val="FFFFFF"/>
                </a:solidFill>
                <a:latin typeface="Segoe UI"/>
              </a:defRPr>
            </a:pPr>
            <a:r>
              <a:t>Cloud coding agent</a:t>
            </a:r>
            <a:br/>
            <a:r>
              <a:t>inside ChatGPT</a:t>
            </a:r>
          </a:p>
        </p:txBody>
      </p:sp>
      <p:sp>
        <p:nvSpPr>
          <p:cNvPr id="37" name="Oval 36"/>
          <p:cNvSpPr/>
          <p:nvPr/>
        </p:nvSpPr>
        <p:spPr>
          <a:xfrm>
            <a:off x="10808208" y="3337560"/>
            <a:ext cx="310896" cy="310896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332720" y="2331720"/>
            <a:ext cx="1325880" cy="1078992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87584" y="2404872"/>
            <a:ext cx="1216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87584" y="2642615"/>
            <a:ext cx="1216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OpenClaw + Hermes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87584" y="2916936"/>
            <a:ext cx="1216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40" b="0">
                <a:solidFill>
                  <a:srgbClr val="FFFFFF"/>
                </a:solidFill>
                <a:latin typeface="Segoe UI"/>
              </a:defRPr>
            </a:pPr>
            <a:r>
              <a:t>Agent platforms</a:t>
            </a:r>
            <a:br/>
            <a:r>
              <a:t>connect models to tools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These are examples of the trend. Today we focus on safe supervision, not installing new tools.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The Supervised Agent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74519"/>
            <a:ext cx="2011680" cy="132588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377439"/>
            <a:ext cx="168249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What should I do?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87168" y="2331720"/>
            <a:ext cx="347472" cy="27432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88920" y="1874519"/>
            <a:ext cx="2011680" cy="132588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2377439"/>
            <a:ext cx="168249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Use one tool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18888" y="2331720"/>
            <a:ext cx="347472" cy="27432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1874519"/>
            <a:ext cx="2011680" cy="132588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1" y="2377439"/>
            <a:ext cx="168249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What happened?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50608" y="2331720"/>
            <a:ext cx="347472" cy="27432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52359" y="1874519"/>
            <a:ext cx="2011680" cy="132588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1" y="2377439"/>
            <a:ext cx="168249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Did it work?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82328" y="2331720"/>
            <a:ext cx="347472" cy="27432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84080" y="1874519"/>
            <a:ext cx="2011680" cy="132588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REFINE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8672" y="2377439"/>
            <a:ext cx="168249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Fix or improve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977639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3A5F"/>
                </a:solidFill>
                <a:latin typeface="Segoe UI"/>
              </a:defRPr>
            </a:pPr>
            <a:r>
              <a:t>A good supervisor slows the AI down at the risky moments.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Same loop as debugging, but with clearer rules.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The Agent Job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154680" cy="12344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64207"/>
            <a:ext cx="2825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897B"/>
                </a:solidFill>
                <a:latin typeface="Segoe UI"/>
              </a:defRPr>
            </a:pPr>
            <a: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What should happen?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3154680" cy="12344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664207"/>
            <a:ext cx="2825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8E3C"/>
                </a:solidFill>
                <a:latin typeface="Segoe UI"/>
              </a:defRPr>
            </a:pPr>
            <a:r>
              <a:t>Success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How will we know?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554480"/>
            <a:ext cx="3154680" cy="12344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4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1664207"/>
            <a:ext cx="2825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67A6"/>
                </a:solidFill>
                <a:latin typeface="Segoe UI"/>
              </a:defRPr>
            </a:pPr>
            <a:r>
              <a:t>Allowed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01168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What can it use?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46120"/>
            <a:ext cx="3154680" cy="12344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355848"/>
            <a:ext cx="2825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32F2F"/>
                </a:solidFill>
                <a:latin typeface="Segoe UI"/>
              </a:defRPr>
            </a:pPr>
            <a:r>
              <a:t>Not Allowed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0332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What is off limits?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246120"/>
            <a:ext cx="3154680" cy="12344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3355848"/>
            <a:ext cx="2825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300"/>
                </a:solidFill>
                <a:latin typeface="Segoe UI"/>
              </a:defRPr>
            </a:pPr>
            <a:r>
              <a:t>Approval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70332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When must it ask?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246120"/>
            <a:ext cx="3154680" cy="12344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355848"/>
            <a:ext cx="2825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73AB7"/>
                </a:solidFill>
                <a:latin typeface="Segoe UI"/>
              </a:defRPr>
            </a:pPr>
            <a:r>
              <a:t>Test Checklist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70332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How do we verify?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Do not just prompt. Write the mission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Success Criteria Make Testing Possible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7"/>
            <a:ext cx="4700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32F2F"/>
                </a:solidFill>
                <a:latin typeface="Segoe UI"/>
              </a:defRPr>
            </a:pPr>
            <a:r>
              <a:t>Vague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6634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"Make the game better"</a:t>
            </a:r>
            <a:br/>
            <a:br/>
            <a:r>
              <a:t>Hard to test.</a:t>
            </a:r>
            <a:br/>
            <a:r>
              <a:t>Different people may imagine different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02920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664207"/>
            <a:ext cx="4700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8E3C"/>
                </a:solidFill>
                <a:latin typeface="Segoe UI"/>
              </a:defRPr>
            </a:pPr>
            <a:r>
              <a:t>Clear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6634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"The restart button resets the score to 0"</a:t>
            </a:r>
            <a:br/>
            <a:br/>
            <a:r>
              <a:t>Easy to test.</a:t>
            </a:r>
            <a:br/>
            <a:r>
              <a:t>Everyone knows what done means.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If you cannot test it, the agent cannot prove it finished.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Tools Give Agents Hands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011680" cy="146304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385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16824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Preview apps</a:t>
            </a:r>
            <a:br/>
            <a:r>
              <a:t>or open websites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1828800"/>
            <a:ext cx="2011680" cy="146304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799" y="19385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331720"/>
            <a:ext cx="16824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Read or edit</a:t>
            </a:r>
            <a:br/>
            <a:r>
              <a:t>project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1828800"/>
            <a:ext cx="2011680" cy="146304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9385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0951" y="2331720"/>
            <a:ext cx="16824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Run scripts</a:t>
            </a:r>
            <a:br/>
            <a:r>
              <a:t>or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828800"/>
            <a:ext cx="2011680" cy="146304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9385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1" y="2331720"/>
            <a:ext cx="16824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Look up live</a:t>
            </a:r>
            <a:br/>
            <a:r>
              <a:t>information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1828800"/>
            <a:ext cx="2011680" cy="146304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19385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Messages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94392" y="2331720"/>
            <a:ext cx="16824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Send updates</a:t>
            </a:r>
            <a:br/>
            <a:r>
              <a:t>or reminders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More tools = more power and more responsibility.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Permissions Before Power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246120" cy="3246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0992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8E3C"/>
                </a:solidFill>
                <a:latin typeface="Segoe UI"/>
              </a:defRPr>
            </a:pPr>
            <a:r>
              <a:t>Usually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880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Read a page</a:t>
            </a:r>
            <a:br/>
            <a:r>
              <a:t>Preview an app</a:t>
            </a:r>
            <a:br/>
            <a:r>
              <a:t>Explain code</a:t>
            </a:r>
            <a:br/>
            <a:r>
              <a:t>Make a checklist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600200"/>
            <a:ext cx="3246120" cy="3246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70992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300"/>
                </a:solidFill>
                <a:latin typeface="Segoe UI"/>
              </a:defRPr>
            </a:pPr>
            <a:r>
              <a:t>Needs 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057400"/>
            <a:ext cx="2880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Search the web</a:t>
            </a:r>
            <a:br/>
            <a:r>
              <a:t>Edit a file</a:t>
            </a:r>
            <a:br/>
            <a:r>
              <a:t>Run code</a:t>
            </a:r>
            <a:br/>
            <a:r>
              <a:t>Use memory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00200"/>
            <a:ext cx="3246120" cy="3246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170992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32F2F"/>
                </a:solidFill>
                <a:latin typeface="Segoe UI"/>
              </a:defRPr>
            </a:pPr>
            <a:r>
              <a:t>Ask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057400"/>
            <a:ext cx="2880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Delete files</a:t>
            </a:r>
            <a:br/>
            <a:r>
              <a:t>Send messages</a:t>
            </a:r>
            <a:br/>
            <a:r>
              <a:t>Spend money</a:t>
            </a:r>
            <a:br/>
            <a:r>
              <a:t>Share private info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 safe agent knows when to stop and ask.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Future Agent Tools Preview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  <a:latin typeface="Segoe UI"/>
              </a:defRPr>
            </a:pPr>
            <a:r>
              <a:t>Some agents can connect an LLM to real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2331720" cy="137160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2432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17520"/>
            <a:ext cx="2002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reasons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2971800"/>
            <a:ext cx="384048" cy="256032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2514600"/>
            <a:ext cx="2331720" cy="13716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62432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3017520"/>
            <a:ext cx="2002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files, browser,</a:t>
            </a:r>
            <a:br/>
            <a:r>
              <a:t>commands, messages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43600" y="2971800"/>
            <a:ext cx="384048" cy="256032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514600"/>
            <a:ext cx="2331720" cy="137160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62432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017520"/>
            <a:ext cx="2002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instructions for</a:t>
            </a:r>
            <a:br/>
            <a:r>
              <a:t>repeatable tasks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78240" y="2971800"/>
            <a:ext cx="384048" cy="256032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5440" y="2514600"/>
            <a:ext cx="2331720" cy="137160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62432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Human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3017520"/>
            <a:ext cx="2002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sets limits</a:t>
            </a:r>
            <a:br/>
            <a:r>
              <a:t>and approves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Today: learn the workflow. Later: use tool-based agents safely.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The Approval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E3A5F"/>
                </a:solidFill>
                <a:latin typeface="Segoe UI"/>
              </a:defRPr>
            </a:pPr>
            <a:r>
              <a:t>Before risky actions, the agent must stop.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331720"/>
            <a:ext cx="2743200" cy="132588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39" y="24414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834639"/>
            <a:ext cx="241401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Explain the action</a:t>
            </a:r>
            <a:br/>
            <a:r>
              <a:t>and why it matters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77639" y="2816352"/>
            <a:ext cx="548640" cy="32004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09160" y="2331720"/>
            <a:ext cx="2743200" cy="132588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4414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APPROVE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2834639"/>
            <a:ext cx="241401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Human says yes,</a:t>
            </a:r>
            <a:br/>
            <a:r>
              <a:t>no, or change plan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589520" y="2816352"/>
            <a:ext cx="548640" cy="32004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0" y="2331720"/>
            <a:ext cx="2743200" cy="132588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4414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834639"/>
            <a:ext cx="241401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Only then use</a:t>
            </a:r>
            <a:br/>
            <a:r>
              <a:t>the risky tool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Approval is not a slowdown. It is a safety feature.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Teacher Demo: Mission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554480"/>
            <a:ext cx="457200" cy="457200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18488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24242"/>
                </a:solidFill>
                <a:latin typeface="Segoe UI"/>
              </a:defRPr>
            </a:pPr>
            <a:r>
              <a:t>Build a small quiz app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2267712"/>
            <a:ext cx="457200" cy="457200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3172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24242"/>
                </a:solidFill>
                <a:latin typeface="Segoe UI"/>
              </a:defRPr>
            </a:pPr>
            <a:r>
              <a:t>Write the job brief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980944"/>
            <a:ext cx="457200" cy="457200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044951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24242"/>
                </a:solidFill>
                <a:latin typeface="Segoe UI"/>
              </a:defRPr>
            </a:pPr>
            <a:r>
              <a:t>Ask for a plan first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694176"/>
            <a:ext cx="457200" cy="457200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758184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24242"/>
                </a:solidFill>
                <a:latin typeface="Segoe UI"/>
              </a:defRPr>
            </a:pPr>
            <a:r>
              <a:t>Improve one thing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4407408"/>
            <a:ext cx="457200" cy="457200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471416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24242"/>
                </a:solidFill>
                <a:latin typeface="Segoe UI"/>
              </a:defRPr>
            </a:pPr>
            <a:r>
              <a:t>Test and refine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Watch for: plan -&gt; act -&gt; observe -&gt; test -&gt; refine.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Good Supervisor Prompts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423160" cy="1874519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2093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73AB7"/>
                </a:solidFill>
                <a:latin typeface="Segoe UI"/>
              </a:defRPr>
            </a:pPr>
            <a:r>
              <a:t>Plan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05740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Do not change the app yet.</a:t>
            </a:r>
            <a:br/>
            <a:r>
              <a:t>Make a short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828800"/>
            <a:ext cx="2423160" cy="1874519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0752" y="1938528"/>
            <a:ext cx="2093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897B"/>
                </a:solidFill>
                <a:latin typeface="Segoe UI"/>
              </a:defRPr>
            </a:pPr>
            <a:r>
              <a:t>Small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286000"/>
            <a:ext cx="205740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Make only one change.</a:t>
            </a:r>
            <a:br/>
            <a:r>
              <a:t>Keep everything else working.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828800"/>
            <a:ext cx="2423160" cy="1874519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4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1938528"/>
            <a:ext cx="2093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67A6"/>
                </a:solidFill>
                <a:latin typeface="Segoe UI"/>
              </a:defRPr>
            </a:pPr>
            <a:r>
              <a:t>Explain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286000"/>
            <a:ext cx="205740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Tell me what you changed</a:t>
            </a:r>
            <a:br/>
            <a:r>
              <a:t>and why.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828800"/>
            <a:ext cx="2423160" cy="1874519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1472" y="1938528"/>
            <a:ext cx="2093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8E3C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59" y="2286000"/>
            <a:ext cx="205740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Give me a checklist</a:t>
            </a:r>
            <a:br/>
            <a:r>
              <a:t>so I can verify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best prompts make the AI easier to supervise.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Classwork 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011680" cy="150876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385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1682496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Use May 30 app</a:t>
            </a:r>
            <a:br/>
            <a:r>
              <a:t>or build fresh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1828800"/>
            <a:ext cx="2011680" cy="150876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799" y="19385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331720"/>
            <a:ext cx="1682496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Write goal,</a:t>
            </a:r>
            <a:br/>
            <a:r>
              <a:t>limits,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1828800"/>
            <a:ext cx="2011680" cy="150876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9385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Improve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0951" y="2331720"/>
            <a:ext cx="1682496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Make 2 small</a:t>
            </a:r>
            <a:br/>
            <a:r>
              <a:t>improvements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828800"/>
            <a:ext cx="2011680" cy="150876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9385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Debug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1" y="2331720"/>
            <a:ext cx="1682496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Fix 1 bug or</a:t>
            </a:r>
            <a:br/>
            <a:r>
              <a:t>confusing behavior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1828800"/>
            <a:ext cx="2011680" cy="150876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19385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94392" y="2331720"/>
            <a:ext cx="1682496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Use your</a:t>
            </a:r>
            <a:br/>
            <a:r>
              <a:t>checklist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Total: 100 points + 10 bonus. Submit on Teams and copy Ishwari Raut ma'am.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Test Like a Mission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4480560" cy="8229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618488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8E3C"/>
                </a:solidFill>
                <a:latin typeface="Segoe UI"/>
              </a:defRPr>
            </a:pPr>
            <a:r>
              <a:t>Test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Open Preview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08760"/>
            <a:ext cx="4480560" cy="8229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618488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8E3C"/>
                </a:solidFill>
                <a:latin typeface="Segoe UI"/>
              </a:defRPr>
            </a:pPr>
            <a:r>
              <a:t>Test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65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Click every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43200"/>
            <a:ext cx="4480560" cy="8229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852928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8E3C"/>
                </a:solidFill>
                <a:latin typeface="Segoe UI"/>
              </a:defRPr>
            </a:pPr>
            <a:r>
              <a:t>Test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Check score/result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743200"/>
            <a:ext cx="4480560" cy="8229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2852928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8E3C"/>
                </a:solidFill>
                <a:latin typeface="Segoe UI"/>
              </a:defRPr>
            </a:pPr>
            <a:r>
              <a:t>Test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Restart or reset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77639"/>
            <a:ext cx="4480560" cy="8229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087368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8E3C"/>
                </a:solidFill>
                <a:latin typeface="Segoe UI"/>
              </a:defRPr>
            </a:pPr>
            <a:r>
              <a:t>Test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34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Read the 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977639"/>
            <a:ext cx="4480560" cy="8229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4087368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8E3C"/>
                </a:solidFill>
                <a:latin typeface="Segoe UI"/>
              </a:defRPr>
            </a:pPr>
            <a:r>
              <a:t>Test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434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Try one weird input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Looking is not testing. Testing means trying the app.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Common Agent Failure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2331720" cy="160020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Too Big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31720"/>
            <a:ext cx="20025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Changed everything</a:t>
            </a:r>
            <a:br/>
            <a:r>
              <a:t>at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828800"/>
            <a:ext cx="2331720" cy="160020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93852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Skipped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2331720"/>
            <a:ext cx="20025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Looks done but</a:t>
            </a:r>
            <a:br/>
            <a:r>
              <a:t>button is broken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828800"/>
            <a:ext cx="2331720" cy="160020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3852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Wrong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331720"/>
            <a:ext cx="20025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Used the tool that</a:t>
            </a:r>
            <a:br/>
            <a:r>
              <a:t>did not fit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828800"/>
            <a:ext cx="2331720" cy="160020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93852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Overconfident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2" y="2331720"/>
            <a:ext cx="20025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Claims fixed but</a:t>
            </a:r>
            <a:br/>
            <a:r>
              <a:t>still wrong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fix is simple: smaller steps, clearer limits, better tests.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Today's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508760"/>
            <a:ext cx="457200" cy="457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56362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Agentic AI needs goals, tools, limits, approvals, and tests.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258568"/>
            <a:ext cx="457200" cy="457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134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The human is the mission controller.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008376"/>
            <a:ext cx="457200" cy="457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063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Small changes are easier to test than giant changes.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758183"/>
            <a:ext cx="457200" cy="457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813047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Tool-using agents are powerful because they can touch real systems.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507992"/>
            <a:ext cx="457200" cy="457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562855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Safety rules come before autonomy.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Next: Kahoot, then homework explanation.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 Semibold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DD8E6"/>
                </a:solidFill>
                <a:latin typeface="Segoe UI"/>
              </a:defRPr>
            </a:pPr>
            <a:r>
              <a:t>Before we start the hands-on mission: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794760"/>
            <a:ext cx="8531352" cy="86868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What should an agent ask permission for?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150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Then: classwork, share/debug gallery, Kahoot, and homework.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