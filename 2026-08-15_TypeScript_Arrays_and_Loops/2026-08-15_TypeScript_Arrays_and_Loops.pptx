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" y="1417320"/>
            <a:ext cx="10085832" cy="246888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E3A5F"/>
                </a:solidFill>
                <a:latin typeface="Segoe UI Semibold"/>
              </a:defRPr>
            </a:pPr>
            <a:r>
              <a:t>TypeScript Arrays and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16352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1E3A5F"/>
                </a:solidFill>
                <a:latin typeface="Segoe UI"/>
              </a:defRPr>
            </a:pPr>
            <a:r>
              <a:t>Store a list. Visit every item. Find what needs attention.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663440"/>
            <a:ext cx="6702552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ADD8E6"/>
                </a:solidFill>
                <a:latin typeface="Segoe UI"/>
              </a:defRPr>
            </a:pPr>
            <a:r>
              <a:t>Kids Computer Science |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DD8E6"/>
                </a:solidFill>
                <a:latin typeface="Segoe UI"/>
              </a:defRPr>
            </a:pPr>
            <a:r>
              <a:t>Saturday, August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From One Value to a Whole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Connect today's idea to skills you already know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3429000" cy="306324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84832"/>
            <a:ext cx="3026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33472"/>
            <a:ext cx="3026664" cy="21854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Stores one value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const player = "Maya"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920240"/>
            <a:ext cx="3429000" cy="30632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2084832"/>
            <a:ext cx="3026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633472"/>
            <a:ext cx="3026664" cy="21854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Repeats one block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i changes each round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1920240"/>
            <a:ext cx="3429000" cy="30632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084832"/>
            <a:ext cx="3026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ARRAY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633472"/>
            <a:ext cx="3026664" cy="21854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Stores an ordered list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One new idea 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An array gives a familiar loop a list of values to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Why Use an Array?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One list replaces repeated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5349240" cy="33375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39112"/>
            <a:ext cx="49469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REPEATED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87752"/>
            <a:ext cx="4946903" cy="24597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424242"/>
                </a:solidFill>
                <a:latin typeface="Segoe UI"/>
              </a:defRPr>
            </a:pPr>
            <a:r>
              <a:t>const player1 = "Maya";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424242"/>
                </a:solidFill>
                <a:latin typeface="Segoe UI"/>
              </a:defRPr>
            </a:pPr>
            <a:r>
              <a:t>const player2 = "Leo";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424242"/>
                </a:solidFill>
                <a:latin typeface="Segoe UI"/>
              </a:defRPr>
            </a:pPr>
            <a:r>
              <a:t>const player3 = "Zara";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424242"/>
                </a:solidFill>
                <a:latin typeface="Segoe UI"/>
              </a:defRPr>
            </a:pPr>
            <a:r>
              <a:t>Three names, three variables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874519"/>
            <a:ext cx="5349240" cy="33375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39112"/>
            <a:ext cx="49469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ONE TYPED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87752"/>
            <a:ext cx="4946903" cy="24597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const players: string[] =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["Maya", "Leo", "Zara"];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Three names, one variable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Use an array when related values belong together in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Anatomy of a Typed Array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Read each part from left to 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10360152" cy="123444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148840"/>
            <a:ext cx="9921240" cy="9144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2000" b="0">
                <a:solidFill>
                  <a:srgbClr val="D2EEE0"/>
                </a:solidFill>
                <a:latin typeface="Consolas"/>
              </a:defRPr>
            </a:pPr>
            <a:r>
              <a:t>const players: string[] = ["Maya", "Leo", "Zara"];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703320"/>
            <a:ext cx="2542032" cy="16002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867911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416552"/>
            <a:ext cx="2139696" cy="7223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Variable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3703320"/>
            <a:ext cx="2542032" cy="1600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867911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string[]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416552"/>
            <a:ext cx="2139696" cy="7223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Only strings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3703320"/>
            <a:ext cx="2542032" cy="1600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867911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[ ...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416552"/>
            <a:ext cx="2139696" cy="7223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Creates the 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3703320"/>
            <a:ext cx="2542032" cy="16002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3867911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commas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4416552"/>
            <a:ext cx="2139696" cy="7223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Separate 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item type appears before the square brackets.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Indexes Are Numbered Addresses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Array counting begins at zero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057400"/>
            <a:ext cx="2148840" cy="9144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3136391"/>
            <a:ext cx="114300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91456" y="2057400"/>
            <a:ext cx="2148840" cy="9144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94376" y="3136391"/>
            <a:ext cx="114300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68312" y="2057400"/>
            <a:ext cx="2148840" cy="9144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Zara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232" y="3136391"/>
            <a:ext cx="114300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E3A5F"/>
                </a:solidFill>
                <a:latin typeface="Consolas"/>
              </a:defRPr>
            </a:pPr>
            <a:r>
              <a:t>players[0]       players[1]       players[2]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Three items use indexes 0, 1, and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Human Position vs. Array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Use precise language when predicting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29000" cy="306324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30552"/>
            <a:ext cx="3026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FIRST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79191"/>
            <a:ext cx="3026664" cy="21854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900" b="0">
                <a:solidFill>
                  <a:srgbClr val="FFFFFF"/>
                </a:solidFill>
                <a:latin typeface="Segoe UI"/>
              </a:defRPr>
            </a:pPr>
            <a:r>
              <a:t>Index 0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900" b="0">
                <a:solidFill>
                  <a:srgbClr val="FFFFFF"/>
                </a:solidFill>
                <a:latin typeface="Segoe UI"/>
              </a:defRPr>
            </a:pPr>
            <a:r>
              <a:t>Maya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1965960"/>
            <a:ext cx="3429000" cy="30632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2130552"/>
            <a:ext cx="3026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SECOND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2679191"/>
            <a:ext cx="3026664" cy="21854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900" b="0">
                <a:solidFill>
                  <a:srgbClr val="FFFFFF"/>
                </a:solidFill>
                <a:latin typeface="Segoe UI"/>
              </a:defRPr>
            </a:pPr>
            <a:r>
              <a:t>Index 1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900" b="0">
                <a:solidFill>
                  <a:srgbClr val="FFFFFF"/>
                </a:solidFill>
                <a:latin typeface="Segoe UI"/>
              </a:defRPr>
            </a:pPr>
            <a:r>
              <a:t>Leo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11896" y="1965960"/>
            <a:ext cx="3429000" cy="30632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3064" y="2130552"/>
            <a:ext cx="3026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THIRD ITEM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3064" y="2679191"/>
            <a:ext cx="3026664" cy="21854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900" b="0">
                <a:solidFill>
                  <a:srgbClr val="FFFFFF"/>
                </a:solidFill>
                <a:latin typeface="Segoe UI"/>
              </a:defRPr>
            </a:pPr>
            <a:r>
              <a:t>Index 2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900" b="0">
                <a:solidFill>
                  <a:srgbClr val="FFFFFF"/>
                </a:solidFill>
                <a:latin typeface="Segoe UI"/>
              </a:defRPr>
            </a:pPr>
            <a:r>
              <a:t>Zara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Position starts with first; index starts with zero.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.length Counts the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Length and last index are not the same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577840" cy="228600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057400"/>
            <a:ext cx="5138927" cy="1965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const players: string[] =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  ["Maya", "Leo", "Zara"];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console.log(players.length);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240280" cy="2286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4848" y="2039112"/>
            <a:ext cx="1837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587752"/>
            <a:ext cx="1837944" cy="14081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900" b="0">
                <a:solidFill>
                  <a:srgbClr val="FFFFFF"/>
                </a:solidFill>
                <a:latin typeface="Segoe UI"/>
              </a:defRPr>
            </a:pPr>
            <a:r>
              <a:t>3 items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874519"/>
            <a:ext cx="2468880" cy="22860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9448" y="2039112"/>
            <a:ext cx="2066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LAST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9448" y="2587752"/>
            <a:ext cx="2066544" cy="14081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900" b="0">
                <a:solidFill>
                  <a:srgbClr val="FFFFFF"/>
                </a:solidFill>
                <a:latin typeface="Segoe UI"/>
              </a:defRPr>
            </a:pPr>
            <a:r>
              <a:t>3 - 1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3A5F"/>
                </a:solidFill>
                <a:latin typeface="Consolas"/>
              </a:defRPr>
            </a:pPr>
            <a:r>
              <a:t>Final item: players[players.length - 1]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Last valid index = length - 1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Change One Item by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The array stays; one value is replaced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389120" cy="28803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84832"/>
            <a:ext cx="39867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3986783" cy="20025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scores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[70, 82, 91]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13248" y="2880360"/>
            <a:ext cx="1325880" cy="68580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0" y="1920240"/>
            <a:ext cx="4389120" cy="2880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42048" y="2084832"/>
            <a:ext cx="39867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AFTER scores[1] = 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2633472"/>
            <a:ext cx="3986783" cy="20025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scores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[70, 88, 91]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Index 1 means the second item.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One Loop Visits Every 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The counter also becomes the current index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6400800" cy="329184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057400"/>
            <a:ext cx="5961888" cy="2971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700" b="0">
                <a:solidFill>
                  <a:srgbClr val="D2EEE0"/>
                </a:solidFill>
                <a:latin typeface="Consolas"/>
              </a:defRPr>
            </a:pPr>
            <a:r>
              <a:t>const players: string[] =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700" b="0">
                <a:solidFill>
                  <a:srgbClr val="D2EEE0"/>
                </a:solidFill>
                <a:latin typeface="Consolas"/>
              </a:defRPr>
            </a:pPr>
            <a:r>
              <a:t>  ["Maya", "Leo", "Zara"];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700" b="0">
                <a:solidFill>
                  <a:srgbClr val="D2EEE0"/>
                </a:solidFill>
                <a:latin typeface="Consolas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700" b="0">
                <a:solidFill>
                  <a:srgbClr val="D2EEE0"/>
                </a:solidFill>
                <a:latin typeface="Consolas"/>
              </a:defRPr>
            </a:pPr>
            <a:r>
              <a:t>for (let i = 0;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700" b="0">
                <a:solidFill>
                  <a:srgbClr val="D2EEE0"/>
                </a:solidFill>
                <a:latin typeface="Consolas"/>
              </a:defRPr>
            </a:pPr>
            <a:r>
              <a:t>     i &lt; players.length; i++)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700" b="0">
                <a:solidFill>
                  <a:srgbClr val="D2EEE0"/>
                </a:solidFill>
                <a:latin typeface="Consolas"/>
              </a:defRPr>
            </a:pPr>
            <a:r>
              <a:t>  console.log(players[i]);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7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74519"/>
            <a:ext cx="4251960" cy="32918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2039112"/>
            <a:ext cx="3849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TWO JOBS FOR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2587752"/>
            <a:ext cx="3849624" cy="24140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Counts each round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Selects the current item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Stops at the length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Start at 0 and continue while i is less than the length.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Trace the Array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Watch the check before every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234440" cy="56692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1828800"/>
            <a:ext cx="1691640" cy="56692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828800"/>
            <a:ext cx="2788920" cy="56692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 &lt; 3?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28800"/>
            <a:ext cx="2103120" cy="56692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828800"/>
            <a:ext cx="2423160" cy="56692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42032"/>
            <a:ext cx="1234440" cy="566928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2542032"/>
            <a:ext cx="1691640" cy="566928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542032"/>
            <a:ext cx="2788920" cy="566928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true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542032"/>
            <a:ext cx="2103120" cy="566928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players[0]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542032"/>
            <a:ext cx="2423160" cy="566928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Maya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36976"/>
            <a:ext cx="1234440" cy="56692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3236976"/>
            <a:ext cx="1691640" cy="56692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3236976"/>
            <a:ext cx="2788920" cy="56692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true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236976"/>
            <a:ext cx="2103120" cy="56692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players[1]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236976"/>
            <a:ext cx="2423160" cy="56692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Leo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31920"/>
            <a:ext cx="1234440" cy="566928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3931920"/>
            <a:ext cx="1691640" cy="566928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3931920"/>
            <a:ext cx="2788920" cy="566928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true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931920"/>
            <a:ext cx="2103120" cy="566928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players[2]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931920"/>
            <a:ext cx="2423160" cy="566928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Zara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626864"/>
            <a:ext cx="123444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65960" y="4626864"/>
            <a:ext cx="169164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4626864"/>
            <a:ext cx="278892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false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4626864"/>
            <a:ext cx="210312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4626864"/>
            <a:ext cx="242316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nothing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When i becomes 3, the check is false before another item is read.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Off-by-One Boundary Bug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One extra equals sign asks for an item that does not exist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5349240" cy="34290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39112"/>
            <a:ext cx="49469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BUG: i &lt;= items.length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87752"/>
            <a:ext cx="4946903" cy="25511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Tries indexes 0, 1, 2, 3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Index 3 is outside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Prints undefined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874519"/>
            <a:ext cx="5349240" cy="3429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39112"/>
            <a:ext cx="49469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FIX: i &lt; items.length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87752"/>
            <a:ext cx="4946903" cy="25511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Tries indexes 0, 1, 2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Every valid item once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Stops before index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For array indexes, less than is the reliable boundary.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Make a Decision for Each 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Old if/else skills work inside the array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7315200" cy="361188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11680"/>
            <a:ext cx="6876288" cy="32918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const scores: number[] = [95, 68, 82];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for (let i = 0; i &lt; scores.length; i++)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if (scores[i] &gt;= 70)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  console.log(`${scores[i]}: passed`);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} else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  console.log(`${scores[i]}: practice`);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}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828800"/>
            <a:ext cx="3291840" cy="36118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993392"/>
            <a:ext cx="2889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6488" y="2542032"/>
            <a:ext cx="2889504" cy="27340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95: passed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68: practice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82: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same decision runs once for every score.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Accumulate Across the Array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Keep the total outside the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6583680" cy="338328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057400"/>
            <a:ext cx="6144768" cy="30632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const numbers: number[] = [3, 5, 7];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let total: number = 0;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for (let i = 0; i &lt; numbers.length; i++)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  total = total + numbers[i];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console.log(total);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874519"/>
            <a:ext cx="3977639" cy="33832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2039112"/>
            <a:ext cx="3575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WATCH TOTAL GROW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2587752"/>
            <a:ext cx="3575303" cy="25054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0 + 3 = 3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3 + 5 = 8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8 + 7 = 15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Final output: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An accumulator remembers work from earlier rounds.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AI Uses Collections of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Our program simulates one small data-review 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2057400" cy="9144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99232"/>
            <a:ext cx="105156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96896" y="1920240"/>
            <a:ext cx="2057400" cy="9144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unknown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9816" y="2999232"/>
            <a:ext cx="105156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82312" y="1920240"/>
            <a:ext cx="2057400" cy="9144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5232" y="2999232"/>
            <a:ext cx="105156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1920240"/>
            <a:ext cx="2057400" cy="9144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unknown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0648" y="2999232"/>
            <a:ext cx="105156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3144" y="1920240"/>
            <a:ext cx="2057400" cy="9144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bird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56064" y="2999232"/>
            <a:ext cx="1051560" cy="56692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440680" y="3977639"/>
            <a:ext cx="1325880" cy="658368"/>
          </a:xfrm>
          <a:prstGeom prst="down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20240" y="4663440"/>
            <a:ext cx="3794760" cy="9144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21408" y="4828031"/>
            <a:ext cx="3392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KNOWN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5376672"/>
            <a:ext cx="3392424" cy="365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Continue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3952" y="4663440"/>
            <a:ext cx="3794760" cy="9144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828031"/>
            <a:ext cx="3392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UNKNOWN 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376672"/>
            <a:ext cx="3392424" cy="3657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Human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Automatic checks can flag uncertainty; people decide what is correct.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Build the AI Data Checker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Combine arrays, loops, decisions, and an accumulator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57800" cy="15087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4855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1.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42032"/>
            <a:ext cx="4855464" cy="630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Create labels: string[]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5257800" cy="1508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993392"/>
            <a:ext cx="4855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2. VISIT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542032"/>
            <a:ext cx="4855464" cy="630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Loop to labels.length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4855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3.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370832"/>
            <a:ext cx="4855464" cy="630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Find "unknown"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657600"/>
            <a:ext cx="5257800" cy="150876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822191"/>
            <a:ext cx="4855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4.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4370832"/>
            <a:ext cx="4855464" cy="6309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Report human reviews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Build and test one checkpoint at a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Completed Checker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Predict the two review examples before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7955279" cy="393192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874520"/>
            <a:ext cx="7516367" cy="361187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300" b="0">
                <a:solidFill>
                  <a:srgbClr val="D2EEE0"/>
                </a:solidFill>
                <a:latin typeface="Consolas"/>
              </a:defRPr>
            </a:pPr>
            <a:r>
              <a:t>const labels: string[] =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300" b="0">
                <a:solidFill>
                  <a:srgbClr val="D2EEE0"/>
                </a:solidFill>
                <a:latin typeface="Consolas"/>
              </a:defRPr>
            </a:pPr>
            <a:r>
              <a:t>  ["cat", "unknown", "dog", "unknown", "bird"];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300" b="0">
                <a:solidFill>
                  <a:srgbClr val="D2EEE0"/>
                </a:solidFill>
                <a:latin typeface="Consolas"/>
              </a:defRPr>
            </a:pPr>
            <a:r>
              <a:t>let reviewCount: number = 0;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300" b="0">
                <a:solidFill>
                  <a:srgbClr val="D2EEE0"/>
                </a:solidFill>
                <a:latin typeface="Consolas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300" b="0">
                <a:solidFill>
                  <a:srgbClr val="D2EEE0"/>
                </a:solidFill>
                <a:latin typeface="Consolas"/>
              </a:defRPr>
            </a:pPr>
            <a:r>
              <a:t>for (let i = 0; i &lt; labels.length; i++)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300" b="0">
                <a:solidFill>
                  <a:srgbClr val="D2EEE0"/>
                </a:solidFill>
                <a:latin typeface="Consolas"/>
              </a:defRPr>
            </a:pPr>
            <a:r>
              <a:t>  const label: string = labels[i];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300" b="0">
                <a:solidFill>
                  <a:srgbClr val="D2EEE0"/>
                </a:solidFill>
                <a:latin typeface="Consolas"/>
              </a:defRPr>
            </a:pPr>
            <a:r>
              <a:t>  if (label === "unknown")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300" b="0">
                <a:solidFill>
                  <a:srgbClr val="D2EEE0"/>
                </a:solidFill>
                <a:latin typeface="Consolas"/>
              </a:defRPr>
            </a:pPr>
            <a:r>
              <a:t>    console.log(`Example ${i + 1} needs review.`);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300" b="0">
                <a:solidFill>
                  <a:srgbClr val="D2EEE0"/>
                </a:solidFill>
                <a:latin typeface="Consolas"/>
              </a:defRPr>
            </a:pPr>
            <a:r>
              <a:t>    reviewCount++;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300" b="0">
                <a:solidFill>
                  <a:srgbClr val="D2EEE0"/>
                </a:solidFill>
                <a:latin typeface="Consolas"/>
              </a:defRPr>
            </a:pPr>
            <a:r>
              <a:t>  }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3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300" b="0">
                <a:solidFill>
                  <a:srgbClr val="D2EEE0"/>
                </a:solidFill>
                <a:latin typeface="Consolas"/>
              </a:defRPr>
            </a:pPr>
            <a:r>
              <a:t>console.log(`${reviewCount} need review.`);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691640"/>
            <a:ext cx="2697480" cy="3931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70848" y="1856232"/>
            <a:ext cx="2295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EXPECTED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0848" y="2404872"/>
            <a:ext cx="2295144" cy="30540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Examples 2 and 4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need review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Final count: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program flags possible problems; a human investigates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Common Array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Predict, trace, and repair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57800" cy="141732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4855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START AT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42032"/>
            <a:ext cx="4855464" cy="5394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Skips index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5257800" cy="14173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993392"/>
            <a:ext cx="4855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USE &lt;= 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542032"/>
            <a:ext cx="4855464" cy="5394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Tries one extra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5257800" cy="14173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776472"/>
            <a:ext cx="4855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MIX ITEM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325112"/>
            <a:ext cx="4855464" cy="5394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Breaks the typed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611880"/>
            <a:ext cx="5257800" cy="141732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776472"/>
            <a:ext cx="4855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RESET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4325112"/>
            <a:ext cx="4855464" cy="5394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Loses earlier rounds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Trace the first index, the final index, and the stop check.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Classwork Missions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Complete the core path before the bonus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Loop readiness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14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Build typed arrays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01752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Index and length lab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1188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Trace an array loop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9767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AI data checker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800600"/>
            <a:ext cx="502920" cy="502920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92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Repair the boundary bug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Predict first. Run second. Explain what happened.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17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 Semibold"/>
              </a:defRPr>
            </a:pPr>
            <a:r>
              <a:t>Arrays + Loops: The Reliable Pattern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00200"/>
            <a:ext cx="475488" cy="475488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636776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Store related values in one typed array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04288"/>
            <a:ext cx="475488" cy="47548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340864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Start the array index at 0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008376"/>
            <a:ext cx="475488" cy="475488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044952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Use .length to count the items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712464"/>
            <a:ext cx="475488" cy="47548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749040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Loop while i &lt; items.length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416552"/>
            <a:ext cx="475488" cy="47548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453128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Read the current item with items[i]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120640"/>
            <a:ext cx="475488" cy="475488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157216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Test AI-related data; keep humans responsible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4300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 Semibold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DD8E6"/>
                </a:solidFill>
                <a:latin typeface="Segoe UI"/>
              </a:defRPr>
            </a:pPr>
            <a:r>
              <a:t>Then: Kahoot and the homework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3977639"/>
            <a:ext cx="6519672" cy="9144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1E3A5F"/>
                </a:solidFill>
                <a:latin typeface="Segoe UI"/>
              </a:defRPr>
            </a:pPr>
            <a:r>
              <a:t>First index?  Last index?  Stop condition?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TypeScript Arrays and Loops</dc:title>
  <dc:subject>Kids Computer Science - August 15, 2026</dc:subject>
  <dc:creator>Kids Computer Science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