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280160"/>
            <a:ext cx="3291840" cy="3291840"/>
          </a:xfrm>
          <a:prstGeom prst="ellipse">
            <a:avLst/>
          </a:prstGeom>
          <a:solidFill>
            <a:srgbClr val="4285F4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4480560"/>
            <a:ext cx="2194560" cy="2194560"/>
          </a:xfrm>
          <a:prstGeom prst="ellipse">
            <a:avLst/>
          </a:prstGeom>
          <a:solidFill>
            <a:srgbClr val="34A853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182880" cy="18288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" y="1828800"/>
            <a:ext cx="182880" cy="18288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7" name="Shape 5"/>
          <p:cNvSpPr/>
          <p:nvPr/>
        </p:nvSpPr>
        <p:spPr>
          <a:xfrm>
            <a:off x="1298448" y="1828800"/>
            <a:ext cx="182880" cy="182880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8" name="Shape 6"/>
          <p:cNvSpPr/>
          <p:nvPr/>
        </p:nvSpPr>
        <p:spPr>
          <a:xfrm>
            <a:off x="1536192" y="1828800"/>
            <a:ext cx="182880" cy="18288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9456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&amp; Decisions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vs const</a:t>
            </a:r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240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</a:t>
            </a:r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2400" b="1" dirty="0">
                <a:solidFill>
                  <a:srgbClr val="B0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pPr indent="0" marL="0">
              <a:buNone/>
            </a:pPr>
            <a:r>
              <a:rPr lang="en-US" sz="2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240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statements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 your code stored things. This week it makes decisions.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 ·  TypeScript Playground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Learned Last Week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know the three basic data types — and how to store them in a variable.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377440"/>
            <a:ext cx="3520440" cy="12801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28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6868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"momo"  ·  "San Jose"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3749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in quotes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25112" y="237744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25112" y="2377440"/>
            <a:ext cx="3520440" cy="12801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6" name="Text 14"/>
          <p:cNvSpPr/>
          <p:nvPr/>
        </p:nvSpPr>
        <p:spPr>
          <a:xfrm>
            <a:off x="4645152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43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645152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·  1230  ·  46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45152" y="3749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number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01584" y="237744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01584" y="2377440"/>
            <a:ext cx="3520440" cy="12801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1" name="Text 19"/>
          <p:cNvSpPr/>
          <p:nvPr/>
        </p:nvSpPr>
        <p:spPr>
          <a:xfrm>
            <a:off x="8421624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4A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421624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 ·  false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21624" y="3749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or no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93776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E8F0FE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937760"/>
            <a:ext cx="128016" cy="10515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93776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also learned:  </a:t>
            </a:r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food = "momo"   to store a value, and   console.log(food)   to print it.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&amp; Decisions  ·  TypeScript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VARIABLES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vs const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been using const. There's a second way to make a variable — and the difference is whether it can CHANGE.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5394960" cy="3520440"/>
          </a:xfrm>
          <a:prstGeom prst="roundRect">
            <a:avLst>
              <a:gd name="adj" fmla="val 2338"/>
            </a:avLst>
          </a:prstGeom>
          <a:solidFill>
            <a:srgbClr val="FCE8E6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423160"/>
            <a:ext cx="128016" cy="352044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651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 =  locked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3200400"/>
            <a:ext cx="4663440" cy="1463040"/>
          </a:xfrm>
          <a:prstGeom prst="roundRect">
            <a:avLst>
              <a:gd name="adj" fmla="val 5000"/>
            </a:avLst>
          </a:prstGeom>
          <a:solidFill>
            <a:srgbClr val="202124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33756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city = "San Jose"
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 = "Oakland"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A43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ERROR!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4846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 set it, it can never change. Try, and TypeScript stops you.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2423160"/>
            <a:ext cx="5394960" cy="3520440"/>
          </a:xfrm>
          <a:prstGeom prst="roundRect">
            <a:avLst>
              <a:gd name="adj" fmla="val 2338"/>
            </a:avLst>
          </a:prstGeom>
          <a:solidFill>
            <a:srgbClr val="E6F4E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2423160"/>
            <a:ext cx="128016" cy="35204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2651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 =  changeable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583680" y="3200400"/>
            <a:ext cx="4663440" cy="1463040"/>
          </a:xfrm>
          <a:prstGeom prst="roundRect">
            <a:avLst>
              <a:gd name="adj" fmla="val 5000"/>
            </a:avLst>
          </a:prstGeom>
          <a:solidFill>
            <a:srgbClr val="202124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333756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score = 0
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100
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1C9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works!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0" y="4846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let when the value needs to change later — like a score going up.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&amp; Decisions  ·  TypeScript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Should You Use?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1106424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783080"/>
            <a:ext cx="128016" cy="1188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78308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const. </a:t>
            </a:r>
            <a:pPr indent="0" marL="0">
              <a:buNone/>
            </a:pPr>
            <a:r>
              <a:rPr lang="en-US" sz="19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switch to let when you KNOW the value has to change.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35204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3520440"/>
            <a:ext cx="1005840" cy="502920"/>
          </a:xfrm>
          <a:prstGeom prst="roundRect">
            <a:avLst>
              <a:gd name="adj" fmla="val 18182"/>
            </a:avLst>
          </a:prstGeom>
          <a:solidFill>
            <a:srgbClr val="EA4335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204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3474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325112" y="3200400"/>
            <a:ext cx="35204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99432" y="3520440"/>
            <a:ext cx="1005840" cy="502920"/>
          </a:xfrm>
          <a:prstGeom prst="roundRect">
            <a:avLst>
              <a:gd name="adj" fmla="val 18182"/>
            </a:avLst>
          </a:prstGeom>
          <a:solidFill>
            <a:srgbClr val="EA4335"/>
          </a:solidFill>
          <a:ln/>
        </p:spPr>
      </p:sp>
      <p:sp>
        <p:nvSpPr>
          <p:cNvPr id="17" name="Text 15"/>
          <p:cNvSpPr/>
          <p:nvPr/>
        </p:nvSpPr>
        <p:spPr>
          <a:xfrm>
            <a:off x="4599432" y="35204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42432" y="3474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birthday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101584" y="3200400"/>
            <a:ext cx="35204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75904" y="3520440"/>
            <a:ext cx="1005840" cy="502920"/>
          </a:xfrm>
          <a:prstGeom prst="roundRect">
            <a:avLst>
              <a:gd name="adj" fmla="val 18182"/>
            </a:avLst>
          </a:prstGeom>
          <a:solidFill>
            <a:srgbClr val="34A853"/>
          </a:solidFill>
          <a:ln/>
        </p:spPr>
      </p:sp>
      <p:sp>
        <p:nvSpPr>
          <p:cNvPr id="21" name="Text 19"/>
          <p:cNvSpPr/>
          <p:nvPr/>
        </p:nvSpPr>
        <p:spPr>
          <a:xfrm>
            <a:off x="8375904" y="35204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18904" y="3474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game score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35204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2960" y="4892040"/>
            <a:ext cx="1005840" cy="502920"/>
          </a:xfrm>
          <a:prstGeom prst="roundRect">
            <a:avLst>
              <a:gd name="adj" fmla="val 18182"/>
            </a:avLst>
          </a:prstGeom>
          <a:solidFill>
            <a:srgbClr val="34A853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8920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965960" y="48463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remaining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4325112" y="4572000"/>
            <a:ext cx="35204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99432" y="4892040"/>
            <a:ext cx="1005840" cy="502920"/>
          </a:xfrm>
          <a:prstGeom prst="roundRect">
            <a:avLst>
              <a:gd name="adj" fmla="val 18182"/>
            </a:avLst>
          </a:prstGeom>
          <a:solidFill>
            <a:srgbClr val="EA4335"/>
          </a:solidFill>
          <a:ln/>
        </p:spPr>
      </p:sp>
      <p:sp>
        <p:nvSpPr>
          <p:cNvPr id="29" name="Text 27"/>
          <p:cNvSpPr/>
          <p:nvPr/>
        </p:nvSpPr>
        <p:spPr>
          <a:xfrm>
            <a:off x="4599432" y="48920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742432" y="48463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in a week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8101584" y="4572000"/>
            <a:ext cx="35204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75904" y="4892040"/>
            <a:ext cx="1005840" cy="502920"/>
          </a:xfrm>
          <a:prstGeom prst="roundRect">
            <a:avLst>
              <a:gd name="adj" fmla="val 18182"/>
            </a:avLst>
          </a:prstGeom>
          <a:solidFill>
            <a:srgbClr val="34A853"/>
          </a:solidFill>
          <a:ln/>
        </p:spPr>
      </p:sp>
      <p:sp>
        <p:nvSpPr>
          <p:cNvPr id="33" name="Text 31"/>
          <p:cNvSpPr/>
          <p:nvPr/>
        </p:nvSpPr>
        <p:spPr>
          <a:xfrm>
            <a:off x="8375904" y="48920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518904" y="48463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level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&amp; Decisions  ·  TypeScript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TYPES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It TypeScript?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you've written so far also works in JavaScript. The SUPERPOWER of TypeScript is that you can tell it what type a variable holds — and it checks your work.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5394960" cy="3108960"/>
          </a:xfrm>
          <a:prstGeom prst="roundRect">
            <a:avLst>
              <a:gd name="adj" fmla="val 2647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926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type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" y="342900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202124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5661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score = 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45262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has to guess what you meant.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2697480"/>
            <a:ext cx="5394960" cy="3108960"/>
          </a:xfrm>
          <a:prstGeom prst="roundRect">
            <a:avLst>
              <a:gd name="adj" fmla="val 2647"/>
            </a:avLst>
          </a:prstGeom>
          <a:solidFill>
            <a:srgbClr val="E8F0FE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2697480"/>
            <a:ext cx="128016" cy="31089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926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type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83680" y="342900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202124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35661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score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number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45262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TypeScript KNOWS score must always be a number — and warns you if it isn't.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&amp; Decisions  ·  TypeScript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SYNTAX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of a Type Annotation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011680" y="1828800"/>
            <a:ext cx="8138160" cy="1005840"/>
          </a:xfrm>
          <a:prstGeom prst="roundRect">
            <a:avLst>
              <a:gd name="adj" fmla="val 7273"/>
            </a:avLst>
          </a:prstGeom>
          <a:solidFill>
            <a:srgbClr val="202124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19659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pPr indent="0" marL="0">
              <a:lnSpc>
                <a:spcPct val="112000"/>
              </a:lnSpc>
              <a:buNone/>
            </a:pPr>
            <a:r>
              <a:rPr lang="en-US" sz="26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lnSpc>
                <a:spcPct val="112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2000"/>
              </a:lnSpc>
              <a:buNone/>
            </a:pPr>
            <a:r>
              <a:rPr lang="en-US" sz="2600" dirty="0">
                <a:solidFill>
                  <a:srgbClr val="81C9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lnSpc>
                <a:spcPct val="112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12000"/>
              </a:lnSpc>
              <a:buNone/>
            </a:pPr>
            <a:r>
              <a:rPr lang="en-US" sz="2600" dirty="0">
                <a:solidFill>
                  <a:srgbClr val="FDD6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2606040" cy="2194560"/>
          </a:xfrm>
          <a:prstGeom prst="roundRect">
            <a:avLst>
              <a:gd name="adj" fmla="val 375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291840"/>
            <a:ext cx="2606040" cy="12801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611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28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42062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make it (let or const)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410712" y="3291840"/>
            <a:ext cx="2606040" cy="2194560"/>
          </a:xfrm>
          <a:prstGeom prst="roundRect">
            <a:avLst>
              <a:gd name="adj" fmla="val 375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10712" y="3291840"/>
            <a:ext cx="2606040" cy="12801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6" name="Text 14"/>
          <p:cNvSpPr/>
          <p:nvPr/>
        </p:nvSpPr>
        <p:spPr>
          <a:xfrm>
            <a:off x="3593592" y="3611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43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39312" y="42062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you pick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72784" y="3291840"/>
            <a:ext cx="2606040" cy="2194560"/>
          </a:xfrm>
          <a:prstGeom prst="roundRect">
            <a:avLst>
              <a:gd name="adj" fmla="val 375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72784" y="3291840"/>
            <a:ext cx="2606040" cy="12801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0" name="Text 18"/>
          <p:cNvSpPr/>
          <p:nvPr/>
        </p:nvSpPr>
        <p:spPr>
          <a:xfrm>
            <a:off x="6455664" y="3611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A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number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01384" y="42062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 — the new part!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134856" y="3291840"/>
            <a:ext cx="2606040" cy="2194560"/>
          </a:xfrm>
          <a:prstGeom prst="roundRect">
            <a:avLst>
              <a:gd name="adj" fmla="val 375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34856" y="3291840"/>
            <a:ext cx="2606040" cy="12801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24" name="Text 22"/>
          <p:cNvSpPr/>
          <p:nvPr/>
        </p:nvSpPr>
        <p:spPr>
          <a:xfrm>
            <a:off x="9317736" y="3611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C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100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63456" y="42062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value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out loud: "let score BE A number, starting at 100."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&amp; Decisions  ·  TypeScript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Annotating Your Three Types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920240"/>
            <a:ext cx="128016" cy="11430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2128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28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834640" y="2121408"/>
            <a:ext cx="8503920" cy="731520"/>
          </a:xfrm>
          <a:prstGeom prst="roundRect">
            <a:avLst>
              <a:gd name="adj" fmla="val 10000"/>
            </a:avLst>
          </a:prstGeom>
          <a:solidFill>
            <a:srgbClr val="202124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225856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food: string = "momo"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291840"/>
            <a:ext cx="128016" cy="11430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5844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43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834640" y="3493008"/>
            <a:ext cx="8503920" cy="731520"/>
          </a:xfrm>
          <a:prstGeom prst="roundRect">
            <a:avLst>
              <a:gd name="adj" fmla="val 10000"/>
            </a:avLst>
          </a:prstGeom>
          <a:solidFill>
            <a:srgbClr val="202124"/>
          </a:solidFill>
          <a:ln/>
        </p:spPr>
      </p:sp>
      <p:sp>
        <p:nvSpPr>
          <p:cNvPr id="17" name="Text 15"/>
          <p:cNvSpPr/>
          <p:nvPr/>
        </p:nvSpPr>
        <p:spPr>
          <a:xfrm>
            <a:off x="3017520" y="363016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num: number = 10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4663440"/>
            <a:ext cx="128016" cy="11430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9560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A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2834640" y="4864608"/>
            <a:ext cx="8503920" cy="731520"/>
          </a:xfrm>
          <a:prstGeom prst="roundRect">
            <a:avLst>
              <a:gd name="adj" fmla="val 10000"/>
            </a:avLst>
          </a:prstGeom>
          <a:solidFill>
            <a:srgbClr val="202124"/>
          </a:solidFill>
          <a:ln/>
        </p:spPr>
      </p:sp>
      <p:sp>
        <p:nvSpPr>
          <p:cNvPr id="22" name="Text 20"/>
          <p:cNvSpPr/>
          <p:nvPr/>
        </p:nvSpPr>
        <p:spPr>
          <a:xfrm>
            <a:off x="3017520" y="500176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isHungry: boolean = true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pattern: name, then a colon, then the type. Every single time.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&amp; Decisions  ·  TypeScript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SUPERPOWER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TypeScript Catches Your Mistakes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the magic: TypeScript spots the problem BEFORE you ever run the code.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377440"/>
            <a:ext cx="10515600" cy="1371600"/>
          </a:xfrm>
          <a:prstGeom prst="roundRect">
            <a:avLst>
              <a:gd name="adj" fmla="val 5333"/>
            </a:avLst>
          </a:prstGeom>
          <a:solidFill>
            <a:srgbClr val="20212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51460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age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number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1C9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"twelve"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A43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~~~~~~~~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A43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Type 'string' is not assignable to type 'number'.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4023360"/>
            <a:ext cx="5120640" cy="1828800"/>
          </a:xfrm>
          <a:prstGeom prst="roundRect">
            <a:avLst>
              <a:gd name="adj" fmla="val 4500"/>
            </a:avLst>
          </a:prstGeom>
          <a:solidFill>
            <a:srgbClr val="FCE8E6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4023360"/>
            <a:ext cx="128016" cy="1828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206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types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7091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You'd only find out when the program runs — or worse, never.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217920" y="4023360"/>
            <a:ext cx="5120640" cy="1828800"/>
          </a:xfrm>
          <a:prstGeom prst="roundRect">
            <a:avLst>
              <a:gd name="adj" fmla="val 4500"/>
            </a:avLst>
          </a:prstGeom>
          <a:solidFill>
            <a:srgbClr val="E6F4E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4023360"/>
            <a:ext cx="128016" cy="18288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4206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types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0" y="47091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 squiggle appears instantly. The computer is helping you!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&amp; Decisions  ·  TypeScript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SHORTCUT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TypeScript Can Guess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give it a starting value, TypeScript figures out the type by itself. This is called INFERENCE.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331720"/>
            <a:ext cx="10515600" cy="1371600"/>
          </a:xfrm>
          <a:prstGeom prst="roundRect">
            <a:avLst>
              <a:gd name="adj" fmla="val 5333"/>
            </a:avLst>
          </a:prstGeom>
          <a:solidFill>
            <a:srgbClr val="20212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46888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food =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1C9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"momo"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TypeScript already knows: this is a string!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3977640"/>
            <a:ext cx="10515600" cy="1828800"/>
          </a:xfrm>
          <a:prstGeom prst="roundRect">
            <a:avLst>
              <a:gd name="adj" fmla="val 4500"/>
            </a:avLst>
          </a:prstGeom>
          <a:solidFill>
            <a:srgbClr val="FEF7E0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3977640"/>
            <a:ext cx="128016" cy="1828800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2062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why write types at all?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34440" y="470916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makes your goal clear to anyone reading your code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catches mistakes when a variable changes later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required when there's no starting value yet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&amp; Decisions  ·  TypeScript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NICER OUTPUT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Template Literals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how "10" + 1 gave you "101"? Gluing strings together with + gets messy. There's a better way — backticks and ${ }.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539496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743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" y="3246120"/>
            <a:ext cx="4754880" cy="1371600"/>
          </a:xfrm>
          <a:prstGeom prst="roundRect">
            <a:avLst>
              <a:gd name="adj" fmla="val 5333"/>
            </a:avLst>
          </a:prstGeom>
          <a:solidFill>
            <a:srgbClr val="202124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3832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console.log("Hi, " +
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+ "! You are " +
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 + " years old.")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" y="48006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lose track of the quotes and plus signs.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2514600"/>
            <a:ext cx="5394960" cy="3200400"/>
          </a:xfrm>
          <a:prstGeom prst="roundRect">
            <a:avLst>
              <a:gd name="adj" fmla="val 2571"/>
            </a:avLst>
          </a:prstGeom>
          <a:solidFill>
            <a:srgbClr val="E6F4E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2514600"/>
            <a:ext cx="128016" cy="32004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743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template literal way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83680" y="3246120"/>
            <a:ext cx="4754880" cy="1371600"/>
          </a:xfrm>
          <a:prstGeom prst="roundRect">
            <a:avLst>
              <a:gd name="adj" fmla="val 5333"/>
            </a:avLst>
          </a:prstGeom>
          <a:solidFill>
            <a:srgbClr val="202124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33832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console.log(`Hi,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DD6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${name}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
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You are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DD6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${age}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years old.`)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83680" y="48006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Backticks ` ` wrap the text. ${ } drops a variable right in.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&amp; Decisions  ·  TypeScript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OPERATORS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Doing Math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used +. Here's the full toolkit for numbers: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2606040" cy="2011680"/>
          </a:xfrm>
          <a:prstGeom prst="roundRect">
            <a:avLst>
              <a:gd name="adj" fmla="val 4091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508760" y="2514600"/>
            <a:ext cx="685800" cy="68580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1" name="Text 9"/>
          <p:cNvSpPr/>
          <p:nvPr/>
        </p:nvSpPr>
        <p:spPr>
          <a:xfrm>
            <a:off x="1508760" y="24871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3291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3703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+ 3 = 13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410712" y="2286000"/>
            <a:ext cx="2606040" cy="2011680"/>
          </a:xfrm>
          <a:prstGeom prst="roundRect">
            <a:avLst>
              <a:gd name="adj" fmla="val 4091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0832" y="2514600"/>
            <a:ext cx="685800" cy="68580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16" name="Text 14"/>
          <p:cNvSpPr/>
          <p:nvPr/>
        </p:nvSpPr>
        <p:spPr>
          <a:xfrm>
            <a:off x="4370832" y="24871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93592" y="3291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subtract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93592" y="3703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10 - 3 = 7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72784" y="2286000"/>
            <a:ext cx="2606040" cy="2011680"/>
          </a:xfrm>
          <a:prstGeom prst="roundRect">
            <a:avLst>
              <a:gd name="adj" fmla="val 4091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32904" y="2514600"/>
            <a:ext cx="685800" cy="685800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21" name="Text 19"/>
          <p:cNvSpPr/>
          <p:nvPr/>
        </p:nvSpPr>
        <p:spPr>
          <a:xfrm>
            <a:off x="7232904" y="24871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55664" y="3291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55664" y="3703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* 3 = 30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134856" y="2286000"/>
            <a:ext cx="2606040" cy="2011680"/>
          </a:xfrm>
          <a:prstGeom prst="roundRect">
            <a:avLst>
              <a:gd name="adj" fmla="val 4091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976" y="2514600"/>
            <a:ext cx="685800" cy="68580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976" y="24871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317736" y="3291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divide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317736" y="3703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2 = 5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EF7E0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4617720"/>
            <a:ext cx="128016" cy="1371600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47548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 %  (called modulo) gives the REMAINDER.  </a:t>
            </a:r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10 % 3 = 1     and     10 % 2 = 0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14400" y="53035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Handy trick: if  number % 2 === 0  then the number is even!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&amp; Decisions  ·  TypeScript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COMPARISONS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Comparisons Make Booleans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booleans — true or false? THIS is where they come from. Every comparison answers a yes/no question.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51460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14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65960" y="23774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equal to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937760" y="23774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=== 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0" y="23774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0" y="23774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E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38328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EA4335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383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!==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65960" y="32461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NOT equal to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937760" y="32461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!== 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0" y="32461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12480" y="32461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E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11480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425196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4285F4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251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965960" y="4114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greater than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937760" y="4114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&gt; 20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0" y="41148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12480" y="4114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22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98348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77240" y="512064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FBBC04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5120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965960" y="4983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less than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4937760" y="4983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&lt; 7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772400" y="498348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12480" y="4983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E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48640" y="5943600"/>
            <a:ext cx="11064240" cy="502920"/>
          </a:xfrm>
          <a:prstGeom prst="roundRect">
            <a:avLst>
              <a:gd name="adj" fmla="val 16364"/>
            </a:avLst>
          </a:prstGeom>
          <a:solidFill>
            <a:srgbClr val="E8F0FE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14400" y="594360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Careful: === compares (asks a question).  =  assigns (sets a value).  They are NOT the same!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&amp; Decisions  ·  TypeScript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DECISIONS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if Statement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your program can DECIDE. If the answer is true, run this code. If not, skip it.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286000"/>
            <a:ext cx="6035040" cy="1828800"/>
          </a:xfrm>
          <a:prstGeom prst="roundRect">
            <a:avLst>
              <a:gd name="adj" fmla="val 4000"/>
            </a:avLst>
          </a:prstGeom>
          <a:solidFill>
            <a:srgbClr val="20212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42316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(score &gt; 100) {
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1C9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win!"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0" y="2286000"/>
            <a:ext cx="44805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32320" y="2286000"/>
            <a:ext cx="109728" cy="10515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3" name="Text 11"/>
          <p:cNvSpPr/>
          <p:nvPr/>
        </p:nvSpPr>
        <p:spPr>
          <a:xfrm>
            <a:off x="7360920" y="24231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8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60920" y="28163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keyword that starts a decision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132320" y="3520440"/>
            <a:ext cx="44805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32320" y="3520440"/>
            <a:ext cx="109728" cy="105156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Text 15"/>
          <p:cNvSpPr/>
          <p:nvPr/>
        </p:nvSpPr>
        <p:spPr>
          <a:xfrm>
            <a:off x="7360920" y="36576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43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... 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60920" y="40507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— must give true or false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132320" y="4754880"/>
            <a:ext cx="44805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0" y="4754880"/>
            <a:ext cx="109728" cy="105156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1" name="Text 19"/>
          <p:cNvSpPr/>
          <p:nvPr/>
        </p:nvSpPr>
        <p:spPr>
          <a:xfrm>
            <a:off x="7360920" y="48920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A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... }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60920" y="52852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that runs only if it's true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46177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like English: "IF score is greater than 100, THEN print You win!"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&amp; Decisions  ·  TypeScript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... else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the answer is false? Use else to give your program a plan B.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286000"/>
            <a:ext cx="5852160" cy="2926080"/>
          </a:xfrm>
          <a:prstGeom prst="roundRect">
            <a:avLst>
              <a:gd name="adj" fmla="val 2500"/>
            </a:avLst>
          </a:prstGeom>
          <a:solidFill>
            <a:srgbClr val="20212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423160"/>
            <a:ext cx="5486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age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number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12
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(age &gt;= 13) {
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1C9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"Teenager!"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
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1C9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 yet!"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40880" y="2286000"/>
            <a:ext cx="4572000" cy="2468880"/>
          </a:xfrm>
          <a:prstGeom prst="roundRect">
            <a:avLst>
              <a:gd name="adj" fmla="val 3333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138160" y="246888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4285F4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2468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&gt;= 13 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69480" y="3063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241280" y="3063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23760" y="342900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E6F4EA"/>
          </a:solidFill>
          <a:ln w="19050">
            <a:solidFill>
              <a:srgbClr val="34A8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3429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Teenager!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418320" y="342900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FCE8E6"/>
          </a:solidFill>
          <a:ln w="19050">
            <a:solidFill>
              <a:srgbClr val="EA43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0" y="3429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yet!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0" y="42519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of the two paths always runs.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" y="5394960"/>
            <a:ext cx="10789920" cy="777240"/>
          </a:xfrm>
          <a:prstGeom prst="roundRect">
            <a:avLst>
              <a:gd name="adj" fmla="val 10588"/>
            </a:avLst>
          </a:prstGeom>
          <a:solidFill>
            <a:srgbClr val="E8F0FE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" y="5394960"/>
            <a:ext cx="128016" cy="7772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3" name="Text 21"/>
          <p:cNvSpPr/>
          <p:nvPr/>
        </p:nvSpPr>
        <p:spPr>
          <a:xfrm>
            <a:off x="1188720" y="53949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third option? Add   else if (age &gt;= 20) { ... }   in the middle.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&amp; Decisions  ·  TypeScript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TOGETHER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Real Little Program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today, in one program: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148840"/>
            <a:ext cx="6949440" cy="3566160"/>
          </a:xfrm>
          <a:prstGeom prst="roundRect">
            <a:avLst>
              <a:gd name="adj" fmla="val 2051"/>
            </a:avLst>
          </a:prstGeom>
          <a:solidFill>
            <a:srgbClr val="20212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286000"/>
            <a:ext cx="6583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name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string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1C9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"Sam"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score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number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0
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score + 120
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(score &gt; 100) {
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console.log(`Great job,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DD6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${name}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!`)
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
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console.log(`Keep trying,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DD6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${name}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!`)
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138160" y="2258568"/>
            <a:ext cx="256032" cy="256032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2" name="Text 10"/>
          <p:cNvSpPr/>
          <p:nvPr/>
        </p:nvSpPr>
        <p:spPr>
          <a:xfrm>
            <a:off x="8549640" y="21488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+ type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2852928"/>
            <a:ext cx="256032" cy="25603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4" name="Text 12"/>
          <p:cNvSpPr/>
          <p:nvPr/>
        </p:nvSpPr>
        <p:spPr>
          <a:xfrm>
            <a:off x="8549640" y="274320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(it changes)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8160" y="3447288"/>
            <a:ext cx="256032" cy="256032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333756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operator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38160" y="4041648"/>
            <a:ext cx="256032" cy="256032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18" name="Text 16"/>
          <p:cNvSpPr/>
          <p:nvPr/>
        </p:nvSpPr>
        <p:spPr>
          <a:xfrm>
            <a:off x="8549640" y="393192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38160" y="4636008"/>
            <a:ext cx="256032" cy="256032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20" name="Text 18"/>
          <p:cNvSpPr/>
          <p:nvPr/>
        </p:nvSpPr>
        <p:spPr>
          <a:xfrm>
            <a:off x="8549640" y="452628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38160" y="5230368"/>
            <a:ext cx="256032" cy="25603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22" name="Text 20"/>
          <p:cNvSpPr/>
          <p:nvPr/>
        </p:nvSpPr>
        <p:spPr>
          <a:xfrm>
            <a:off x="8549640" y="51206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literal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138160" y="576072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E6F4EA"/>
          </a:solidFill>
          <a:ln/>
        </p:spPr>
      </p:sp>
      <p:sp>
        <p:nvSpPr>
          <p:cNvPr id="24" name="Text 22"/>
          <p:cNvSpPr/>
          <p:nvPr/>
        </p:nvSpPr>
        <p:spPr>
          <a:xfrm>
            <a:off x="8138160" y="57607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E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 Great job, Sam!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&amp; Decisions  ·  TypeScript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0584" cy="1005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02920"/>
            <a:ext cx="100584" cy="1005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02920"/>
            <a:ext cx="100584" cy="1005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" y="502920"/>
            <a:ext cx="100584" cy="1005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Mistakes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737360" y="22402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14400" y="310896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=== to compare, not =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every { with a matching }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backticks ` for template literals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red squiggle — it tells you the fix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37960" y="2148840"/>
            <a:ext cx="731520" cy="73152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406640" y="22402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583680" y="310896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try to change a const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put a number type on text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mix up ' ' quotes with ` ` backticks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ignore an error and hope it works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&amp; Decisions  ·  TypeScript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206240"/>
            <a:ext cx="3291840" cy="3291840"/>
          </a:xfrm>
          <a:prstGeom prst="ellipse">
            <a:avLst/>
          </a:prstGeom>
          <a:solidFill>
            <a:srgbClr val="34A853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097280"/>
            <a:ext cx="3108960" cy="3108960"/>
          </a:xfrm>
          <a:prstGeom prst="ellipse">
            <a:avLst/>
          </a:prstGeom>
          <a:solidFill>
            <a:srgbClr val="4285F4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164592" cy="164592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5" name="Shape 3"/>
          <p:cNvSpPr/>
          <p:nvPr/>
        </p:nvSpPr>
        <p:spPr>
          <a:xfrm>
            <a:off x="1042416" y="822960"/>
            <a:ext cx="164592" cy="164592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6" name="Shape 4"/>
          <p:cNvSpPr/>
          <p:nvPr/>
        </p:nvSpPr>
        <p:spPr>
          <a:xfrm>
            <a:off x="1261872" y="822960"/>
            <a:ext cx="164592" cy="164592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7" name="Shape 5"/>
          <p:cNvSpPr/>
          <p:nvPr/>
        </p:nvSpPr>
        <p:spPr>
          <a:xfrm>
            <a:off x="1481328" y="822960"/>
            <a:ext cx="164592" cy="16459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143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Missions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11064240" cy="475488"/>
          </a:xfrm>
          <a:prstGeom prst="roundRect">
            <a:avLst>
              <a:gd name="adj" fmla="val 17308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176272"/>
            <a:ext cx="329184" cy="3291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176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210312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10312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last week's code in the Playground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670048"/>
            <a:ext cx="11064240" cy="475488"/>
          </a:xfrm>
          <a:prstGeom prst="roundRect">
            <a:avLst>
              <a:gd name="adj" fmla="val 17308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2743200"/>
            <a:ext cx="329184" cy="3291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2743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267004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vs const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2670048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one, break the other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236976"/>
            <a:ext cx="11064240" cy="475488"/>
          </a:xfrm>
          <a:prstGeom prst="roundRect">
            <a:avLst>
              <a:gd name="adj" fmla="val 17308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310128"/>
            <a:ext cx="329184" cy="3291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323697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Types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236976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 everything, then break it on purpose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803904"/>
            <a:ext cx="11064240" cy="475488"/>
          </a:xfrm>
          <a:prstGeom prst="roundRect">
            <a:avLst>
              <a:gd name="adj" fmla="val 17308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3877056"/>
            <a:ext cx="329184" cy="3291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3877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34440" y="380390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Template Literals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3803904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profile card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370832"/>
            <a:ext cx="11064240" cy="475488"/>
          </a:xfrm>
          <a:prstGeom prst="roundRect">
            <a:avLst>
              <a:gd name="adj" fmla="val 17308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9808" y="4443984"/>
            <a:ext cx="329184" cy="3291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4443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34440" y="437083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 &amp; Comparisons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937760" y="437083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and true/false questions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4937760"/>
            <a:ext cx="11064240" cy="475488"/>
          </a:xfrm>
          <a:prstGeom prst="roundRect">
            <a:avLst>
              <a:gd name="adj" fmla="val 17308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49808" y="5010912"/>
            <a:ext cx="329184" cy="3291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36" name="Text 34"/>
          <p:cNvSpPr/>
          <p:nvPr/>
        </p:nvSpPr>
        <p:spPr>
          <a:xfrm>
            <a:off x="749808" y="5010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234440" y="493776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/ else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937760" y="493776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 program decide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48640" y="5504688"/>
            <a:ext cx="11064240" cy="475488"/>
          </a:xfrm>
          <a:prstGeom prst="roundRect">
            <a:avLst>
              <a:gd name="adj" fmla="val 17308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49808" y="5577840"/>
            <a:ext cx="329184" cy="3291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41" name="Text 39"/>
          <p:cNvSpPr/>
          <p:nvPr/>
        </p:nvSpPr>
        <p:spPr>
          <a:xfrm>
            <a:off x="749808" y="5577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234440" y="550468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Quests + Mini Project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937760" y="5504688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program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8640" y="61722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to typescriptlang.org/play — then let's make some decisions!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&amp; Decisions</dc:title>
  <dc:subject>PptxGenJS Presentation</dc:subject>
  <dc:creator>CS Class</dc:creator>
  <cp:lastModifiedBy>CS Class</cp:lastModifiedBy>
  <cp:revision>1</cp:revision>
  <dcterms:created xsi:type="dcterms:W3CDTF">2026-07-25T15:11:01Z</dcterms:created>
  <dcterms:modified xsi:type="dcterms:W3CDTF">2026-07-25T15:11:01Z</dcterms:modified>
</cp:coreProperties>
</file>