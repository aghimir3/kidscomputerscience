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08d74c9854d6b" /><Relationship Type="http://schemas.openxmlformats.org/officeDocument/2006/relationships/extended-properties" Target="/docProps/app.xml" Id="R4a0f1912788344eb" /><Relationship Type="http://schemas.openxmlformats.org/officeDocument/2006/relationships/officeDocument" Target="/ppt/presentation.xml" Id="Rde4994e2c85b45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2821e175454cab"/>
  </p:sldMasterIdLst>
  <p:notesMasterIdLst>
    <p:notesMasterId xmlns:r="http://schemas.openxmlformats.org/officeDocument/2006/relationships" r:id="R3a245fc6d5a14cc7"/>
  </p:notesMasterIdLst>
  <p:sldIdLst>
    <p:sldId xmlns:r="http://schemas.openxmlformats.org/officeDocument/2006/relationships" id="256" r:id="R3996df60401e4548"/>
    <p:sldId xmlns:r="http://schemas.openxmlformats.org/officeDocument/2006/relationships" id="257" r:id="Rbaed59b2c53c4d9a"/>
    <p:sldId xmlns:r="http://schemas.openxmlformats.org/officeDocument/2006/relationships" id="258" r:id="R7ed8a1d1b78441f9"/>
    <p:sldId xmlns:r="http://schemas.openxmlformats.org/officeDocument/2006/relationships" id="259" r:id="R191b75f1f105479d"/>
    <p:sldId xmlns:r="http://schemas.openxmlformats.org/officeDocument/2006/relationships" id="260" r:id="R7617f5831fc540cb"/>
    <p:sldId xmlns:r="http://schemas.openxmlformats.org/officeDocument/2006/relationships" id="261" r:id="Rb1ccf0a44e914fa1"/>
    <p:sldId xmlns:r="http://schemas.openxmlformats.org/officeDocument/2006/relationships" id="262" r:id="R632ab8c6d3244c60"/>
    <p:sldId xmlns:r="http://schemas.openxmlformats.org/officeDocument/2006/relationships" id="263" r:id="R970805e17b1a434a"/>
    <p:sldId xmlns:r="http://schemas.openxmlformats.org/officeDocument/2006/relationships" id="264" r:id="R3d7ce3c9e79a4d47"/>
    <p:sldId xmlns:r="http://schemas.openxmlformats.org/officeDocument/2006/relationships" id="265" r:id="R5319d45499374328"/>
    <p:sldId xmlns:r="http://schemas.openxmlformats.org/officeDocument/2006/relationships" id="266" r:id="R647f7fa6b9384d42"/>
    <p:sldId xmlns:r="http://schemas.openxmlformats.org/officeDocument/2006/relationships" id="267" r:id="R77758d70ac784069"/>
    <p:sldId xmlns:r="http://schemas.openxmlformats.org/officeDocument/2006/relationships" id="268" r:id="R1e491236e9694c1c"/>
    <p:sldId xmlns:r="http://schemas.openxmlformats.org/officeDocument/2006/relationships" id="269" r:id="R14f3dcede21c42ab"/>
    <p:sldId xmlns:r="http://schemas.openxmlformats.org/officeDocument/2006/relationships" id="270" r:id="R9dc0deb09d4546a1"/>
    <p:sldId xmlns:r="http://schemas.openxmlformats.org/officeDocument/2006/relationships" id="271" r:id="Ra550a62a37324f3d"/>
    <p:sldId xmlns:r="http://schemas.openxmlformats.org/officeDocument/2006/relationships" id="272" r:id="Rd7c31231696a4be7"/>
    <p:sldId xmlns:r="http://schemas.openxmlformats.org/officeDocument/2006/relationships" id="273" r:id="R20244ab582604647"/>
  </p:sldIdLst>
  <p:sldSz cx="12188952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f5069b3c494a5b" /><Relationship Type="http://schemas.openxmlformats.org/officeDocument/2006/relationships/slideMaster" Target="/ppt/slideMasters/slideMaster1.xml" Id="R9c2821e175454cab" /><Relationship Type="http://schemas.openxmlformats.org/officeDocument/2006/relationships/notesMaster" Target="/ppt/notesMasters/notesMaster1.xml" Id="R3a245fc6d5a14cc7" /><Relationship Type="http://schemas.openxmlformats.org/officeDocument/2006/relationships/presProps" Target="/ppt/presProps.xml" Id="Ra736e20d36a84456" /><Relationship Type="http://schemas.openxmlformats.org/officeDocument/2006/relationships/viewProps" Target="/ppt/viewProps.xml" Id="R1c57280b8b9e4d17" /><Relationship Type="http://schemas.openxmlformats.org/officeDocument/2006/relationships/tableStyles" Target="/ppt/tableStyles.xml" Id="R48853dfbaf1f4abc" /><Relationship Type="http://schemas.openxmlformats.org/officeDocument/2006/relationships/slide" Target="/ppt/slides/slide1.xml" Id="R3996df60401e4548" /><Relationship Type="http://schemas.openxmlformats.org/officeDocument/2006/relationships/slide" Target="/ppt/slides/slide2.xml" Id="Rbaed59b2c53c4d9a" /><Relationship Type="http://schemas.openxmlformats.org/officeDocument/2006/relationships/slide" Target="/ppt/slides/slide3.xml" Id="R7ed8a1d1b78441f9" /><Relationship Type="http://schemas.openxmlformats.org/officeDocument/2006/relationships/slide" Target="/ppt/slides/slide4.xml" Id="R191b75f1f105479d" /><Relationship Type="http://schemas.openxmlformats.org/officeDocument/2006/relationships/slide" Target="/ppt/slides/slide5.xml" Id="R7617f5831fc540cb" /><Relationship Type="http://schemas.openxmlformats.org/officeDocument/2006/relationships/slide" Target="/ppt/slides/slide6.xml" Id="Rb1ccf0a44e914fa1" /><Relationship Type="http://schemas.openxmlformats.org/officeDocument/2006/relationships/slide" Target="/ppt/slides/slide7.xml" Id="R632ab8c6d3244c60" /><Relationship Type="http://schemas.openxmlformats.org/officeDocument/2006/relationships/slide" Target="/ppt/slides/slide8.xml" Id="R970805e17b1a434a" /><Relationship Type="http://schemas.openxmlformats.org/officeDocument/2006/relationships/slide" Target="/ppt/slides/slide9.xml" Id="R3d7ce3c9e79a4d47" /><Relationship Type="http://schemas.openxmlformats.org/officeDocument/2006/relationships/slide" Target="/ppt/slides/slide10.xml" Id="R5319d45499374328" /><Relationship Type="http://schemas.openxmlformats.org/officeDocument/2006/relationships/slide" Target="/ppt/slides/slide11.xml" Id="R647f7fa6b9384d42" /><Relationship Type="http://schemas.openxmlformats.org/officeDocument/2006/relationships/slide" Target="/ppt/slides/slide12.xml" Id="R77758d70ac784069" /><Relationship Type="http://schemas.openxmlformats.org/officeDocument/2006/relationships/slide" Target="/ppt/slides/slide13.xml" Id="R1e491236e9694c1c" /><Relationship Type="http://schemas.openxmlformats.org/officeDocument/2006/relationships/slide" Target="/ppt/slides/slide14.xml" Id="R14f3dcede21c42ab" /><Relationship Type="http://schemas.openxmlformats.org/officeDocument/2006/relationships/slide" Target="/ppt/slides/slide15.xml" Id="R9dc0deb09d4546a1" /><Relationship Type="http://schemas.openxmlformats.org/officeDocument/2006/relationships/slide" Target="/ppt/slides/slide16.xml" Id="Ra550a62a37324f3d" /><Relationship Type="http://schemas.openxmlformats.org/officeDocument/2006/relationships/slide" Target="/ppt/slides/slide17.xml" Id="Rd7c31231696a4be7" /><Relationship Type="http://schemas.openxmlformats.org/officeDocument/2006/relationships/slide" Target="/ppt/slides/slide18.xml" Id="R20244ab5826046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9ea39cd13142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19149ee98b417f" /><Relationship Type="http://schemas.openxmlformats.org/officeDocument/2006/relationships/notesMaster" Target="/ppt/notesMasters/notesMaster1.xml" Id="R88017bd00e7c4b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344eb7b4ae47dd" /><Relationship Type="http://schemas.openxmlformats.org/officeDocument/2006/relationships/notesMaster" Target="/ppt/notesMasters/notesMaster1.xml" Id="R90ec9787c5804f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03acb45db54eae" /><Relationship Type="http://schemas.openxmlformats.org/officeDocument/2006/relationships/notesMaster" Target="/ppt/notesMasters/notesMaster1.xml" Id="Re507c23a4500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a4e14955c4efa" /><Relationship Type="http://schemas.openxmlformats.org/officeDocument/2006/relationships/notesMaster" Target="/ppt/notesMasters/notesMaster1.xml" Id="Rb5ba116b37cd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f2306db1d040ba" /><Relationship Type="http://schemas.openxmlformats.org/officeDocument/2006/relationships/notesMaster" Target="/ppt/notesMasters/notesMaster1.xml" Id="R6228e4deb5ed44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f2a93e1f9c4e49" /><Relationship Type="http://schemas.openxmlformats.org/officeDocument/2006/relationships/notesMaster" Target="/ppt/notesMasters/notesMaster1.xml" Id="R1f4ca7701f8647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9315af682c4314" /><Relationship Type="http://schemas.openxmlformats.org/officeDocument/2006/relationships/notesMaster" Target="/ppt/notesMasters/notesMaster1.xml" Id="R81d68ac0848e49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37aecc39cb4430" /><Relationship Type="http://schemas.openxmlformats.org/officeDocument/2006/relationships/notesMaster" Target="/ppt/notesMasters/notesMaster1.xml" Id="R97b43f880c4f4a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0bf2d6d37140ac" /><Relationship Type="http://schemas.openxmlformats.org/officeDocument/2006/relationships/notesMaster" Target="/ppt/notesMasters/notesMaster1.xml" Id="Rf00143961fd340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e780955d1c4887" /><Relationship Type="http://schemas.openxmlformats.org/officeDocument/2006/relationships/notesMaster" Target="/ppt/notesMasters/notesMaster1.xml" Id="R3e4a23d4028b4a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2cb9646e3d4104" /><Relationship Type="http://schemas.openxmlformats.org/officeDocument/2006/relationships/notesMaster" Target="/ppt/notesMasters/notesMaster1.xml" Id="R85958866851745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34d24094e74f6d" /><Relationship Type="http://schemas.openxmlformats.org/officeDocument/2006/relationships/notesMaster" Target="/ppt/notesMasters/notesMaster1.xml" Id="R2716704eeec741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90f46fe2144cae" /><Relationship Type="http://schemas.openxmlformats.org/officeDocument/2006/relationships/notesMaster" Target="/ppt/notesMasters/notesMaster1.xml" Id="R6fb7940ae16048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84b0f3d7e042d9" /><Relationship Type="http://schemas.openxmlformats.org/officeDocument/2006/relationships/notesMaster" Target="/ppt/notesMasters/notesMaster1.xml" Id="Rbca8212ac6ec4a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0ef2e0b25348b6" /><Relationship Type="http://schemas.openxmlformats.org/officeDocument/2006/relationships/notesMaster" Target="/ppt/notesMasters/notesMaster1.xml" Id="Rb9f6ddb8b77d43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8cffd6d63947a0" /><Relationship Type="http://schemas.openxmlformats.org/officeDocument/2006/relationships/notesMaster" Target="/ppt/notesMasters/notesMaster1.xml" Id="R4ea030dc7fb14e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b719ebb9b8499c" /><Relationship Type="http://schemas.openxmlformats.org/officeDocument/2006/relationships/notesMaster" Target="/ppt/notesMasters/notesMaster1.xml" Id="R65b5cabec74141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c54d0f01be49f4" /><Relationship Type="http://schemas.openxmlformats.org/officeDocument/2006/relationships/notesMaster" Target="/ppt/notesMasters/notesMaster1.xml" Id="R149da5d2c7e548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students. Today we move from browser-based experiments to a real coding workspace. The goal is confidence, not speed.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mission. Setup is the required win. The decision ladder is the extension if setup finishes in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for one example from each card. Keep this recap under fifteen minutes unless the class needs more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the mental model before installing anything. A local workspace gives students ownership of their files and prepares them for later projects.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from left to right: write in VS Code, check and compile with TypeScript, then run the generated JavaScript with Node.js.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</a:t>
            </a:r>
          </a:p>
          <a:p xmlns:a="http://schemas.openxmlformats.org/drawingml/2006/main">
            <a:r>
              <a:t>- https://nodejs.org/en/download/</a:t>
            </a:r>
          </a:p>
          <a:p xmlns:a="http://schemas.openxmlformats.org/drawingml/2006/main">
            <a:r>
              <a:t>- https://www.typescriptlang.org/download/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User Installer and Node.js LTS. Use the Command Prompt terminal for class so PowerShell policy messages do not become a distraction.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https://code.visualstudio.com/docs/setup/windows</a:t>
            </a:r>
          </a:p>
          <a:p xmlns:a="http://schemas.openxmlformats.org/drawingml/2006/main">
            <a:r>
              <a:t>- https://nodejs.org/en/download/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dragging VS Code to Applications and installing Node.js LTS. If macOS asks for a computer password, the student should ask a parent or teacher.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https://code.visualstudio.com/docs/setup/mac</a:t>
            </a:r>
          </a:p>
          <a:p xmlns:a="http://schemas.openxmlformats.org/drawingml/2006/main">
            <a:r>
              <a:t>- https://nodejs.org/en/download/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one-time global installation. On macOS, use sudo only if npm reports a permissions error and an adult approves. Students never read passwords aloud or share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https://www.typescriptlang.org/download/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after each milestone and use reactions or the chat for green checks. Pair students so one reads the screen while the other confirms the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exact folder and file names. Show that the terminal prompt should point to the class folder before students type a command.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 slowly and have students follow. Explain only the structure: one value, ordered tests, and one fallback. Do not introduce functions, arrays, or loops.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Repeat this workflow aloud twice. A successful compile can be quiet. The generated decisions.js file is expected and should not be edited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Which file do we edit? Which file does Node run? Let students answer before changing the score and recompiling.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familiar example such as age or temperature. Ask students to predict before running the program.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down the ladder with scores 95, 82, 50, and 49. Emphasize that the first true branch wins.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wrong ladder first. The program compiles, yet the logic is wrong. Reorder conditions from most specific or highest threshold to broadest or lowest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Display the buggy ladder from classwork. Students predict four outputs, run the tests, and explain the repair. Connect this to responsible use of AI coding assistants.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Celebrate every successful checkpoint. Remind students to submit in Microsoft Teams and copy Ishwari Raut ma'am. Students using the Playground fallback receive equal credit.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a09bd6c8649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b69f22a934b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134127b524d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215312cd145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d5451e77045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28e80035d48b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90a5a81c74a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713f69ecf46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553dbc9c543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ef6e4facb459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b51977620467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0871DD-00CF-4B09-AF0F-6408793CD4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0229958-28C4-4984-9A74-098C977DDB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C32F6F-1256-498B-884B-9BEC6192ED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6FF955-9B55-40C6-B788-DB9DA3EAB4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0A26AE-8D14-4C67-8D99-0477DBE8E6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1568D9-3436-4964-99B0-BD9070A3C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530C19-9078-4D55-AF1D-C061EE0DCC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DC91A4-FDFD-40BD-B12A-92A57FE3E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FCCE35-4586-4CC4-856A-77131DA04E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C4D621-5B18-4593-870C-FD74FD5BA6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95BDE4-4E07-4824-A18F-F7246F7F0C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5F1C66-5FC6-4270-8360-EF4F524505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05F6EB-156D-4302-9A24-94DBEEB85A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1E7FA3-8978-42B3-A3FE-33CEAA26A6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9CA77C-3B5C-4E03-A8FB-386F2B6845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87E412-B6D2-4747-A360-3DB7904FA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B465DA-610F-4673-B208-AD579FE857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67ADCFA-608A-4896-8554-A0D74C3C21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BF50F9C-B6D0-4992-AD73-BDA066B76E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693EF0-84AE-4D2F-9B55-0C187AC6E0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1E3548-BD55-4FFE-8F4A-747549712A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86CE08-2675-43C6-A1AC-B0DD966CD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13FCF8-0CD2-4672-9459-F31434B34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CED0168-D50E-48BC-9F56-B5EABBDF97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13264C9-B199-49CD-BC11-A23EA81891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F0D63A8-DBBC-4927-9AA7-2EE532DA648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79D4C67-3574-4908-BF09-EE4DB165B6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05385C1-FBD3-4EF4-8D55-95A9032925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47E280-5275-40CB-B26D-6ED9FD5718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6970BC-1682-4242-9B6F-44BF40829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702CDDF-62A0-4EC7-B07F-5EB784B8A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7F31B2E-48FC-4BB4-BDE4-96B84AE5E3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838F332-9C60-4D19-A758-0B1C12CDDB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D8FE4E8-0B93-466D-8CDE-941397BF36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3806D4-E0F7-4C8F-9EA6-91E9DF591B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B80312D-16A0-447B-BCF1-F376742A42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4773DA-8D94-496F-AF10-9FB5166FA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685637-0F98-40AB-8A5C-04FB3E7F680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1D11548-D74E-4AFA-9702-348D645C59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A536A5B-BB6E-4F54-982B-461FDEFE76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282929-54D7-4EBB-B555-6639FCB1B2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A3523C7-66DD-40F7-9B1A-44100B3412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637A8C-FEEE-43B4-A547-DDC2CB354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274AE1B-6FC5-44CD-A3B2-3C305EA41A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1B6F646-DF2A-4428-9AFF-C617508EA5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D37F1C2-6D8F-47A7-ABC5-FCEFFE0CB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0D737AD-D2E0-422D-970B-31975B13DC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E76CDFF-318B-4E8C-B75F-F3776B6262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23D2EB-2345-49BF-8196-F272EB73B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7C55CC-0D93-4571-A9E6-D655F78612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0F53AE-334F-4452-A51D-467E0A2B31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F3C43-BE5F-4E6E-9CA7-41FD714D39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FE82FF-D1D2-4ED4-9B80-9FC4E8B702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D0318CA-D9F8-4E2F-A325-F38C06EC1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EF0B10-D0DD-4276-8EAD-A1AA2549E6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625E1A-9CBB-4A14-94F8-7D690C98AF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F40295-9F17-404E-8224-95D96BD9D8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6007BD-B0FA-4FC7-9E3C-EC96721BB5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59eeac5941446b" /><Relationship Type="http://schemas.openxmlformats.org/officeDocument/2006/relationships/slideLayout" Target="/ppt/slideLayouts/slideLayout1.xml" Id="R4a34ee475c8e49b0" /><Relationship Type="http://schemas.openxmlformats.org/officeDocument/2006/relationships/slideLayout" Target="/ppt/slideLayouts/slideLayout2.xml" Id="R1927ad151ab9457c" /><Relationship Type="http://schemas.openxmlformats.org/officeDocument/2006/relationships/slideLayout" Target="/ppt/slideLayouts/slideLayout3.xml" Id="R45be74ce37a04592" /><Relationship Type="http://schemas.openxmlformats.org/officeDocument/2006/relationships/slideLayout" Target="/ppt/slideLayouts/slideLayout4.xml" Id="R1cd2348518144105" /><Relationship Type="http://schemas.openxmlformats.org/officeDocument/2006/relationships/slideLayout" Target="/ppt/slideLayouts/slideLayout5.xml" Id="Ra0e2940e532340a5" /><Relationship Type="http://schemas.openxmlformats.org/officeDocument/2006/relationships/slideLayout" Target="/ppt/slideLayouts/slideLayout6.xml" Id="R27af4c271ce9494e" /><Relationship Type="http://schemas.openxmlformats.org/officeDocument/2006/relationships/slideLayout" Target="/ppt/slideLayouts/slideLayout7.xml" Id="R1ca055264c174184" /><Relationship Type="http://schemas.openxmlformats.org/officeDocument/2006/relationships/slideLayout" Target="/ppt/slideLayouts/slideLayout8.xml" Id="Rf7b070ea4737472d" /><Relationship Type="http://schemas.openxmlformats.org/officeDocument/2006/relationships/slideLayout" Target="/ppt/slideLayouts/slideLayout9.xml" Id="Re856795f3a584234" /><Relationship Type="http://schemas.openxmlformats.org/officeDocument/2006/relationships/slideLayout" Target="/ppt/slideLayouts/slideLayout10.xml" Id="R3bcd8e1f6fd44d5c" /><Relationship Type="http://schemas.openxmlformats.org/officeDocument/2006/relationships/slideLayout" Target="/ppt/slideLayouts/slideLayout11.xml" Id="R1d3649c0bfcf45f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62CC95-0BBF-4632-B193-3EC0A26FDF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7E7C25-1F67-4627-9FA9-41841C51B2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1D032A-1E85-4B8A-A554-8AB517895DF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E7D579-3775-4F53-8B6B-3FD8B8D71B1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522654-11E7-45DD-9BA8-76F93DF87B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34ee475c8e49b0"/>
    <p:sldLayoutId xmlns:r="http://schemas.openxmlformats.org/officeDocument/2006/relationships" id="2147483650" r:id="R1927ad151ab9457c"/>
    <p:sldLayoutId xmlns:r="http://schemas.openxmlformats.org/officeDocument/2006/relationships" id="2147483651" r:id="R45be74ce37a04592"/>
    <p:sldLayoutId xmlns:r="http://schemas.openxmlformats.org/officeDocument/2006/relationships" id="2147483652" r:id="R1cd2348518144105"/>
    <p:sldLayoutId xmlns:r="http://schemas.openxmlformats.org/officeDocument/2006/relationships" id="2147483653" r:id="Ra0e2940e532340a5"/>
    <p:sldLayoutId xmlns:r="http://schemas.openxmlformats.org/officeDocument/2006/relationships" id="2147483654" r:id="R27af4c271ce9494e"/>
    <p:sldLayoutId xmlns:r="http://schemas.openxmlformats.org/officeDocument/2006/relationships" id="2147483655" r:id="R1ca055264c174184"/>
    <p:sldLayoutId xmlns:r="http://schemas.openxmlformats.org/officeDocument/2006/relationships" id="2147483656" r:id="Rf7b070ea4737472d"/>
    <p:sldLayoutId xmlns:r="http://schemas.openxmlformats.org/officeDocument/2006/relationships" id="2147483657" r:id="Re856795f3a584234"/>
    <p:sldLayoutId xmlns:r="http://schemas.openxmlformats.org/officeDocument/2006/relationships" id="2147483658" r:id="R3bcd8e1f6fd44d5c"/>
    <p:sldLayoutId xmlns:r="http://schemas.openxmlformats.org/officeDocument/2006/relationships" id="2147483659" r:id="R1d3649c0bfcf45f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a50247a98848a2" /><Relationship Type="http://schemas.openxmlformats.org/officeDocument/2006/relationships/notesSlide" Target="/ppt/notesSlides/notesSlide1.xml" Id="Ra02f78e632fe47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9eac062b0340a6" /><Relationship Type="http://schemas.openxmlformats.org/officeDocument/2006/relationships/notesSlide" Target="/ppt/notesSlides/notesSlide2.xml" Id="R4b011f8de5fb4e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1bc36150414153" /><Relationship Type="http://schemas.openxmlformats.org/officeDocument/2006/relationships/notesSlide" Target="/ppt/notesSlides/notesSlide3.xml" Id="Rc3dad668ac064e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128d12e9b8446c" /><Relationship Type="http://schemas.openxmlformats.org/officeDocument/2006/relationships/notesSlide" Target="/ppt/notesSlides/notesSlide4.xml" Id="R4a6f8432407142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e31b0432d244e1" /><Relationship Type="http://schemas.openxmlformats.org/officeDocument/2006/relationships/notesSlide" Target="/ppt/notesSlides/notesSlide5.xml" Id="Rece6fbf6e7454a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3e8b4d19f2470a" /><Relationship Type="http://schemas.openxmlformats.org/officeDocument/2006/relationships/notesSlide" Target="/ppt/notesSlides/notesSlide6.xml" Id="R625c6897ada347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3bbee096374551" /><Relationship Type="http://schemas.openxmlformats.org/officeDocument/2006/relationships/notesSlide" Target="/ppt/notesSlides/notesSlide7.xml" Id="R612edf2e09524c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9a5bcc4122492d" /><Relationship Type="http://schemas.openxmlformats.org/officeDocument/2006/relationships/notesSlide" Target="/ppt/notesSlides/notesSlide8.xml" Id="Rf2711db3c98945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4720b6df764378" /><Relationship Type="http://schemas.openxmlformats.org/officeDocument/2006/relationships/notesSlide" Target="/ppt/notesSlides/notesSlide9.xml" Id="Rfea43881d1da4e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0c387f78644c07" /><Relationship Type="http://schemas.openxmlformats.org/officeDocument/2006/relationships/notesSlide" Target="/ppt/notesSlides/notesSlide10.xml" Id="R85acbfcec1ca4b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30c99a1a904a94" /><Relationship Type="http://schemas.openxmlformats.org/officeDocument/2006/relationships/notesSlide" Target="/ppt/notesSlides/notesSlide11.xml" Id="R66570c74577342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c79da0de764bb1" /><Relationship Type="http://schemas.openxmlformats.org/officeDocument/2006/relationships/notesSlide" Target="/ppt/notesSlides/notesSlide12.xml" Id="R4ab744edcebb46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635876a443463d" /><Relationship Type="http://schemas.openxmlformats.org/officeDocument/2006/relationships/notesSlide" Target="/ppt/notesSlides/notesSlide13.xml" Id="R470067cbc73544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caed48bfac43aa" /><Relationship Type="http://schemas.openxmlformats.org/officeDocument/2006/relationships/notesSlide" Target="/ppt/notesSlides/notesSlide14.xml" Id="R81bce587eda343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b997198ed3419a" /><Relationship Type="http://schemas.openxmlformats.org/officeDocument/2006/relationships/notesSlide" Target="/ppt/notesSlides/notesSlide15.xml" Id="R66ddd4f784314a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5dd656d31b472d" /><Relationship Type="http://schemas.openxmlformats.org/officeDocument/2006/relationships/notesSlide" Target="/ppt/notesSlides/notesSlide16.xml" Id="R9c2913ce8dfa45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67e316287b4c46" /><Relationship Type="http://schemas.openxmlformats.org/officeDocument/2006/relationships/notesSlide" Target="/ppt/notesSlides/notesSlide17.xml" Id="Rcdf088fc7a4544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fe74ab6dd84b68" /><Relationship Type="http://schemas.openxmlformats.org/officeDocument/2006/relationships/notesSlide" Target="/ppt/notesSlides/notesSlide18.xml" Id="R3e1bc1387eb24b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7C87973-8537-4447-AA06-CE6A005C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50000">
                <a:srgbClr val="0A1228"/>
              </a:gs>
              <a:gs pos="100000">
                <a:srgbClr val="050A19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Hexagon 2">
            <a:extLst xmlns:a="http://schemas.openxmlformats.org/drawingml/2006/main">
              <a:ext uri="{FF2B5EF4-FFF2-40B4-BE49-F238E27FC236}">
                <a16:creationId xmlns:a16="http://schemas.microsoft.com/office/drawing/2014/main" id="{E42525D5-41C0-491E-B3B1-3AC1278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4320" y="-274320"/>
            <a:ext cx="1828800" cy="1828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F0FF">
              <a:alpha val="4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Hexagon 3">
            <a:extLst xmlns:a="http://schemas.openxmlformats.org/drawingml/2006/main">
              <a:ext uri="{FF2B5EF4-FFF2-40B4-BE49-F238E27FC236}">
                <a16:creationId xmlns:a16="http://schemas.microsoft.com/office/drawing/2014/main" id="{76FFFE5F-9660-4E05-9378-E180FDB6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303520"/>
            <a:ext cx="2286000" cy="2286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050FF">
              <a:alpha val="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Hexagon 4">
            <a:extLst xmlns:a="http://schemas.openxmlformats.org/drawingml/2006/main">
              <a:ext uri="{FF2B5EF4-FFF2-40B4-BE49-F238E27FC236}">
                <a16:creationId xmlns:a16="http://schemas.microsoft.com/office/drawing/2014/main" id="{74CC10C9-3BE4-47EA-908B-2249F39B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-457200"/>
            <a:ext cx="1645920" cy="164592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3C8CFF">
              <a:alpha val="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Hexagon 5">
            <a:extLst xmlns:a="http://schemas.openxmlformats.org/drawingml/2006/main">
              <a:ext uri="{FF2B5EF4-FFF2-40B4-BE49-F238E27FC236}">
                <a16:creationId xmlns:a16="http://schemas.microsoft.com/office/drawing/2014/main" id="{51FE833D-AA9F-4775-B42F-9AD515C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43600"/>
            <a:ext cx="914400" cy="914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FF8C">
              <a:alpha val="25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8FAE6B-F941-499F-BE7F-627AEDE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4320"/>
            <a:ext cx="731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976ADA2-B5B1-4AC8-A92B-047ADF2B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4320"/>
            <a:ext cx="2743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849244A-516F-4521-A421-C8E6BC46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1" y="274320"/>
            <a:ext cx="731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B67730-D975-438E-9B57-58701427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"/>
            <a:ext cx="2743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5D0C9EF-6C4E-41F7-BE6A-E2F5B92A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56248"/>
            <a:ext cx="731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447C661-6733-468A-B395-15D26B2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852160"/>
            <a:ext cx="2743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9D6573-8709-4959-89AB-52AF3612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1" y="6556248"/>
            <a:ext cx="731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5208E8-4862-467D-993B-F260BDAA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52160"/>
            <a:ext cx="2743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72C00D2-9F07-40CA-BDD0-A3B02529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011680"/>
            <a:ext cx="8897112" cy="2377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6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762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76E690A-33AE-48FD-B588-9BB582DB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286000"/>
            <a:ext cx="889711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Build Your Coding Workspace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E0863B-B266-439C-A0C5-35A04CA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291840"/>
            <a:ext cx="88971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VS Code + Node.js + TypeScript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784D0B-6519-4F4D-B248-C665EB23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54880"/>
            <a:ext cx="12188952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13BB50-77BD-4A46-9598-4F179B66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120640"/>
            <a:ext cx="88971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88296"/>
                </a:solidFill>
                <a:latin typeface="Segoe UI"/>
                <a:ea typeface="Segoe UI"/>
                <a:cs typeface="Segoe UI"/>
              </a:defRPr>
            </a:pPr>
            <a:r>
              <a:t>August 1, 2026  |  Kids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9415536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B4FB54-2AC3-4C6F-AD95-EEBDA66B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8F2113C-C63F-41B0-ABA6-28F7C6E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DBB1A7A-5ED5-4ED6-8FCB-A600908F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8813B59-7084-4B21-BE64-0A97B7D9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Today ends with a real local program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9F2841E-136A-442F-B62D-23B9E281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0FF">
              <a:alpha val="20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635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00F0FF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AC911AD-30BB-4595-8502-663806DD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0020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Install VS Code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0B64122-068C-4AAF-B2B1-B17739BD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50FF">
              <a:alpha val="20000"/>
            </a:srgbClr>
          </a:solidFill>
          <a:ln xmlns:a="http://schemas.openxmlformats.org/drawingml/2006/main" w="19050">
            <a:solidFill>
              <a:srgbClr val="A050FF"/>
            </a:solidFill>
          </a:ln>
          <a:effectLst xmlns:a="http://schemas.openxmlformats.org/drawingml/2006/main">
            <a:glow rad="63500">
              <a:srgbClr val="A05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A050FF"/>
                </a:solidFill>
              </a:defRPr>
            </a:pPr>
            <a:r>
              <a:t>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4F5DCB3-03FE-4469-9F26-5D60982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13432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Install Node.js LTS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1A1B4D0-B8A6-49F9-9F9D-06FD9B4D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C">
              <a:alpha val="20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635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00FF8C"/>
                </a:solidFill>
              </a:defRPr>
            </a:pPr>
            <a:r>
              <a:t>3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F74192-81D2-4569-8CE7-EA6FA98A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026664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Install TypeScript once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9141AF2B-2704-460E-9C39-9B4753B9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124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014">
              <a:alpha val="20000"/>
            </a:srgbClr>
          </a:solidFill>
          <a:ln xmlns:a="http://schemas.openxmlformats.org/drawingml/2006/main" w="19050">
            <a:solidFill>
              <a:srgbClr val="FFA014"/>
            </a:solidFill>
          </a:ln>
          <a:effectLst xmlns:a="http://schemas.openxmlformats.org/drawingml/2006/main">
            <a:glow rad="63500">
              <a:srgbClr val="FFA014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A014"/>
                </a:solidFill>
              </a:defRPr>
            </a:pPr>
            <a:r>
              <a:t>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739E5D7-380C-4F85-9288-A286EBFE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39896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Prove every tool works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B3F27987-DBF7-420E-B1E2-1BDC235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2569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2B4">
              <a:alpha val="20000"/>
            </a:srgbClr>
          </a:solidFill>
          <a:ln xmlns:a="http://schemas.openxmlformats.org/drawingml/2006/main" w="19050">
            <a:solidFill>
              <a:srgbClr val="FF32B4"/>
            </a:solidFill>
          </a:ln>
          <a:effectLst xmlns:a="http://schemas.openxmlformats.org/drawingml/2006/main">
            <a:glow rad="63500">
              <a:srgbClr val="FF32B4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32B4"/>
                </a:solidFill>
              </a:defRPr>
            </a:pPr>
            <a: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F4FF5A5-E6EB-462B-A8A2-A2703C6D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453128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Compile and run a file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DD3047D6-0C8D-41C8-A963-2958761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389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CFF">
              <a:alpha val="20000"/>
            </a:srgbClr>
          </a:solidFill>
          <a:ln xmlns:a="http://schemas.openxmlformats.org/drawingml/2006/main" w="19050">
            <a:solidFill>
              <a:srgbClr val="3C8CFF"/>
            </a:solidFill>
          </a:ln>
          <a:effectLst xmlns:a="http://schemas.openxmlformats.org/drawingml/2006/main">
            <a:glow rad="63500">
              <a:srgbClr val="3C8C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3C8CFF"/>
                </a:solidFill>
              </a:defRPr>
            </a:pPr>
            <a:r>
              <a:t>6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037F228-4454-47B7-BAEA-549E054D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6636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Test a decision ladder</a:t>
            </a:r>
          </a:p>
        </p:txBody>
      </p:sp>
    </p:spTree>
    <p:extLst>
      <p:ext uri="{BB962C8B-B14F-4D97-AF65-F5344CB8AC3E}">
        <p14:creationId xmlns:p14="http://schemas.microsoft.com/office/powerpoint/2010/main" val="10132201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You already know the code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A quick two-week recap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PRINT &amp; STORE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console.log(...) shows output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let and const store values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Some values can change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TYPE SAFETY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string, number, boolean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TypeScript spots mismatches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Read the red message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COMPARE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+  -  *  /  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===  &gt;  &lt;  &gt;=  &lt;=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Comparisons make booleans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DECIDE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if chooses a true path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else is the fallback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Exactly one path runs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From Playground to your computer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The code stays familiar; the workflow changes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PLAYGROUND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A website handles the tools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Great for quick experiments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Nothing to install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LOCAL WORKSPACE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Files live on your computer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VS Code saves the files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 terminal runs commands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TYPESCRIPT FILE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Humans edit the .ts file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 compiler creates .js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 language stays the same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SAFE SETUP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Use official downloads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Trust folders you created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Ask before admin access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B19780-A215-4913-88C8-779B5B3D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949485-5765-4443-ADFF-D23D6E8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C3D2F4-5309-4E44-86BB-3ED0261B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ABE0C3B-F127-414C-8122-B71F530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Three tools make one workflow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489D69F-E930-4AEC-8D57-3E2730A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Each tool has one beginner-friendly job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424B392-569A-47C3-9D84-521ACE30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8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762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VS Code</a:t>
            </a:r>
          </a:p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WRITE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51EB11B-7933-4E7B-8175-70E038E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050FF">
              <a:alpha val="8000"/>
            </a:srgbClr>
          </a:solidFill>
          <a:ln xmlns:a="http://schemas.openxmlformats.org/drawingml/2006/main" w="19050">
            <a:solidFill>
              <a:srgbClr val="A050FF"/>
            </a:solidFill>
          </a:ln>
          <a:effectLst xmlns:a="http://schemas.openxmlformats.org/drawingml/2006/main">
            <a:glow rad="76200">
              <a:srgbClr val="A05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Node.js</a:t>
            </a:r>
          </a:p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RUN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97F4477-5A66-4F6F-9F75-207C2E38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F8C">
              <a:alpha val="8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762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TypeScript</a:t>
            </a:r>
          </a:p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CHECK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7493865-F97F-496F-AA1D-75D51989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1EA0B4"/>
              </a:gs>
              <a:gs pos="100000">
                <a:srgbClr val="643CAA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00F0FF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Save the .ts file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F182807-9500-4C29-9F38-5C31D16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1EA064"/>
              </a:gs>
              <a:gs pos="100000">
                <a:srgbClr val="1EA0B4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00FF8C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Compile with tsc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2F4F3D6-68CF-4451-A470-10385F65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C87814"/>
              </a:gs>
              <a:gs pos="100000">
                <a:srgbClr val="AA3282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FFA014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Run with node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F1DE482-8A82-4220-AB9E-7E375F4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4552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10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762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1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Install once. Reuse every Saturday.</a:t>
            </a:r>
          </a:p>
        </p:txBody>
      </p:sp>
    </p:spTree>
    <p:extLst>
      <p:ext uri="{BB962C8B-B14F-4D97-AF65-F5344CB8AC3E}">
        <p14:creationId xmlns:p14="http://schemas.microsoft.com/office/powerpoint/2010/main" val="7316034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Windows: install the workspace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Follow the teacher and stop at each green check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VS CODE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Choose User Installer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Use the official Microsoft page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Accept the normal defaults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NODE.JS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Choose the LTS version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Run the Windows .msi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Restart VS Code afterward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TERMINAL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Open Command Prompt in VS Code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Avoid script-policy errors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Do not change security settings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CHECK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node --version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npm --version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Then install TypeScript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macOS: install the workspace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Follow the teacher and stop at each green check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VS CODE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Download the Universal build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Drag it to Applications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Open it once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NODE.JS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Choose the LTS version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Run the macOS installer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Restart VS Code afterward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TERMINAL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Open the zsh terminal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Commands run in the folder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Never share a password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CHECK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node --version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npm --version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Then install TypeScript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Install TypeScript once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Global means the tsc command works in future folders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RUN ONCE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npm install -g typescript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Teacher leads the command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Wait until it finishes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WHY GLOBAL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No repeated installs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Use the same tsc command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Future folders are ready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VERIFY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Run tsc --version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Expect a Version message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Stop if command is missing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SAFETY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Use the official npm package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Do not add extra extensions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Ask before using sudo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B19780-A215-4913-88C8-779B5B3D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949485-5765-4443-ADFF-D23D6E8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C3D2F4-5309-4E44-86BB-3ED0261B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ABE0C3B-F127-414C-8122-B71F530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Green Check setup milestones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489D69F-E930-4AEC-8D57-3E2730A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Do not race ahead of the class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424B392-569A-47C3-9D84-521ACE30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8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762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VS Code opens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51EB11B-7933-4E7B-8175-70E038E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050FF">
              <a:alpha val="8000"/>
            </a:srgbClr>
          </a:solidFill>
          <a:ln xmlns:a="http://schemas.openxmlformats.org/drawingml/2006/main" w="19050">
            <a:solidFill>
              <a:srgbClr val="A050FF"/>
            </a:solidFill>
          </a:ln>
          <a:effectLst xmlns:a="http://schemas.openxmlformats.org/drawingml/2006/main">
            <a:glow rad="76200">
              <a:srgbClr val="A05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node --version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97F4477-5A66-4F6F-9F75-207C2E38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F8C">
              <a:alpha val="8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762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npm --version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7493865-F97F-496F-AA1D-75D51989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1EA0B4"/>
              </a:gs>
              <a:gs pos="100000">
                <a:srgbClr val="643CAA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00F0FF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tsc --version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F182807-9500-4C29-9F38-5C31D16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1EA064"/>
              </a:gs>
              <a:gs pos="100000">
                <a:srgbClr val="1EA0B4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00FF8C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Class folder open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2F4F3D6-68CF-4451-A470-10385F65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C87814"/>
              </a:gs>
              <a:gs pos="100000">
                <a:srgbClr val="AA3282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FFA014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decisions.ts saved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F1DE482-8A82-4220-AB9E-7E375F4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4552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10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762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1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Stop at the first red check and ask for help.</a:t>
            </a:r>
          </a:p>
        </p:txBody>
      </p:sp>
    </p:spTree>
    <p:extLst>
      <p:ext uri="{BB962C8B-B14F-4D97-AF65-F5344CB8AC3E}">
        <p14:creationId xmlns:p14="http://schemas.microsoft.com/office/powerpoint/2010/main" val="7316034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B4FB54-2AC3-4C6F-AD95-EEBDA66B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8F2113C-C63F-41B0-ABA6-28F7C6E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DBB1A7A-5ED5-4ED6-8FCB-A600908F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8813B59-7084-4B21-BE64-0A97B7D9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Create one class workspace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9F2841E-136A-442F-B62D-23B9E281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0FF">
              <a:alpha val="20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635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00F0FF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AC911AD-30BB-4595-8502-663806DD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0020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Choose File &gt; Open Folder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0B64122-068C-4AAF-B2B1-B17739BD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50FF">
              <a:alpha val="20000"/>
            </a:srgbClr>
          </a:solidFill>
          <a:ln xmlns:a="http://schemas.openxmlformats.org/drawingml/2006/main" w="19050">
            <a:solidFill>
              <a:srgbClr val="A050FF"/>
            </a:solidFill>
          </a:ln>
          <a:effectLst xmlns:a="http://schemas.openxmlformats.org/drawingml/2006/main">
            <a:glow rad="63500">
              <a:srgbClr val="A05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A050FF"/>
                </a:solidFill>
              </a:defRPr>
            </a:pPr>
            <a:r>
              <a:t>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4F5DCB3-03FE-4469-9F26-5D60982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13432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Open KidsComputerScience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1A1B4D0-B8A6-49F9-9F9D-06FD9B4D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C">
              <a:alpha val="20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635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00FF8C"/>
                </a:solidFill>
              </a:defRPr>
            </a:pPr>
            <a:r>
              <a:t>3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F74192-81D2-4569-8CE7-EA6FA98A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026664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Create 2026-08-01-decisions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9141AF2B-2704-460E-9C39-9B4753B9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124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014">
              <a:alpha val="20000"/>
            </a:srgbClr>
          </a:solidFill>
          <a:ln xmlns:a="http://schemas.openxmlformats.org/drawingml/2006/main" w="19050">
            <a:solidFill>
              <a:srgbClr val="FFA014"/>
            </a:solidFill>
          </a:ln>
          <a:effectLst xmlns:a="http://schemas.openxmlformats.org/drawingml/2006/main">
            <a:glow rad="63500">
              <a:srgbClr val="FFA014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A014"/>
                </a:solidFill>
              </a:defRPr>
            </a:pPr>
            <a:r>
              <a:t>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739E5D7-380C-4F85-9288-A286EBFE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39896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Trust the folder you created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B3F27987-DBF7-420E-B1E2-1BDC235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2569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2B4">
              <a:alpha val="20000"/>
            </a:srgbClr>
          </a:solidFill>
          <a:ln xmlns:a="http://schemas.openxmlformats.org/drawingml/2006/main" w="19050">
            <a:solidFill>
              <a:srgbClr val="FF32B4"/>
            </a:solidFill>
          </a:ln>
          <a:effectLst xmlns:a="http://schemas.openxmlformats.org/drawingml/2006/main">
            <a:glow rad="63500">
              <a:srgbClr val="FF32B4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32B4"/>
                </a:solidFill>
              </a:defRPr>
            </a:pPr>
            <a:r>
              <a:t>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F4FF5A5-E6EB-462B-A8A2-A2703C6D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453128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Create decisions.ts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DD3047D6-0C8D-41C8-A963-2958761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389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CFF">
              <a:alpha val="20000"/>
            </a:srgbClr>
          </a:solidFill>
          <a:ln xmlns:a="http://schemas.openxmlformats.org/drawingml/2006/main" w="19050">
            <a:solidFill>
              <a:srgbClr val="3C8CFF"/>
            </a:solidFill>
          </a:ln>
          <a:effectLst xmlns:a="http://schemas.openxmlformats.org/drawingml/2006/main">
            <a:glow rad="63500">
              <a:srgbClr val="3C8C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3C8CFF"/>
                </a:solidFill>
              </a:defRPr>
            </a:pPr>
            <a:r>
              <a:t>6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037F228-4454-47B7-BAEA-549E054D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6636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Open Terminal &gt; New Terminal</a:t>
            </a:r>
          </a:p>
        </p:txBody>
      </p:sp>
    </p:spTree>
    <p:extLst>
      <p:ext uri="{BB962C8B-B14F-4D97-AF65-F5344CB8AC3E}">
        <p14:creationId xmlns:p14="http://schemas.microsoft.com/office/powerpoint/2010/main" val="10132201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Write your first local decision ladder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Save this as decisions.ts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START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let score: number = 82;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Save decisions.ts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FIRST TEST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if (score &gt;= 90) {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  console.log("Legend");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} else if (score &gt;= 70) {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MORE PATHS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  console.log("Hero");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} else if (score &gt;= 50) {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  console.log("Explorer");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FALLBACK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} else {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  console.log("Keep training");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B19780-A215-4913-88C8-779B5B3D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949485-5765-4443-ADFF-D23D6E8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C3D2F4-5309-4E44-86BB-3ED0261B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ABE0C3B-F127-414C-8122-B71F530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Save, compile, and run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489D69F-E930-4AEC-8D57-3E2730A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The terminal turns your file into visible output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424B392-569A-47C3-9D84-521ACE30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8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762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Save decisions.ts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51EB11B-7933-4E7B-8175-70E038E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050FF">
              <a:alpha val="8000"/>
            </a:srgbClr>
          </a:solidFill>
          <a:ln xmlns:a="http://schemas.openxmlformats.org/drawingml/2006/main" w="19050">
            <a:solidFill>
              <a:srgbClr val="A050FF"/>
            </a:solidFill>
          </a:ln>
          <a:effectLst xmlns:a="http://schemas.openxmlformats.org/drawingml/2006/main">
            <a:glow rad="76200">
              <a:srgbClr val="A05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tsc decisions.ts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97F4477-5A66-4F6F-9F75-207C2E38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54480"/>
            <a:ext cx="347472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F8C">
              <a:alpha val="8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762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TypeScript checks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7493865-F97F-496F-AA1D-75D51989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1EA0B4"/>
              </a:gs>
              <a:gs pos="100000">
                <a:srgbClr val="643CAA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00F0FF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decisions.js appears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F182807-9500-4C29-9F38-5C31D16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1EA064"/>
              </a:gs>
              <a:gs pos="100000">
                <a:srgbClr val="1EA0B4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00FF8C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node decisions.js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2F4F3D6-68CF-4451-A470-10385F65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66160"/>
            <a:ext cx="3474720" cy="1645920"/>
          </a:xfrm>
          <a:prstGeom xmlns:a="http://schemas.openxmlformats.org/drawingml/2006/main" prst="roundRect">
            <a:avLst/>
          </a:prstGeom>
          <a:gradFill xmlns:a="http://schemas.openxmlformats.org/drawingml/2006/main" rotWithShape="1">
            <a:gsLst>
              <a:gs pos="0">
                <a:srgbClr val="C87814"/>
              </a:gs>
              <a:gs pos="100000">
                <a:srgbClr val="AA3282"/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glow rad="101600">
              <a:srgbClr val="FFA014">
                <a:alpha val="40000"/>
              </a:srgbClr>
            </a:glow>
            <a:outerShdw blurRad="76200" dist="0" dir="0" rotWithShape="0">
              <a:srgbClr val="000000">
                <a:alpha val="3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Output appears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F1DE482-8A82-4220-AB9E-7E375F4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4552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10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762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1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.ts  →  tsc  →  .js  →  Node  →  output</a:t>
            </a:r>
          </a:p>
        </p:txBody>
      </p:sp>
    </p:spTree>
    <p:extLst>
      <p:ext uri="{BB962C8B-B14F-4D97-AF65-F5344CB8AC3E}">
        <p14:creationId xmlns:p14="http://schemas.microsoft.com/office/powerpoint/2010/main" val="7316034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Read the local workflow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Know which file you edit and which command you run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SOURCE FILE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decisions.ts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Humans edit this file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Save before compiling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GENERATED FILE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decisions.js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tsc creates this file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Do not edit it today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TERMINAL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node decisions.js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 program prints Hero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No browser is needed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EXPERIMENT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Try 95, 70, and 49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Compile after each edit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Name the path that ran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Recap: if and else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A two-way decision chooses one path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QUESTION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Is the condition true?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 answer is a boolean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true or false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IF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Runs when the test is true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 first path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Uses curly braces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ELSE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Runs when the test is false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 fallback path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No new condition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ONE RESULT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Only one path runs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Trace the condition first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Then predict the output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A3730-9128-4156-AD55-2E742CA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8297AF-BC8D-41FC-8584-766AA46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5E291-2F7A-4319-A1C7-F25E5D1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439A8-2883-41F0-9FD0-CF5E3D6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Add more paths with else if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BA9E3-C937-4F4D-8380-F333503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Tests run from top to bottom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118AEC6-B5B6-4336-8C65-DB6E3A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C162AB-2051-4A04-9117-66CD75A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E576467-E6E6-4423-881E-BC79F72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IF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6E4C09-6D88-4C3F-B943-1EC7560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Test the highest rule first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A13D38-78B0-46D4-BF7E-862ADB7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score &gt;= 90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013996-892C-4DE8-A47F-E3FFE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Stop if it is true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362A3A-4667-4029-AD23-E698126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640A243-0FC5-427E-96F8-103C41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C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F8C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7D1B14-FD98-4146-ABB8-46010C3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7335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ELSE IF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E975D0D-A7B5-4E91-8139-9B926E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Try the next rule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009920E-FBBA-43A3-902A-C425D22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343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score &gt;= 70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8389EC-0F46-460B-879E-122152B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Only if the first was false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5560DDE-8F7B-4F22-8A87-73AA12D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877E3A6-9811-4104-A391-543DD5C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A05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C248041-DD86-4689-88BF-BCEF554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A050FF"/>
                </a:solidFill>
                <a:latin typeface="Segoe UI"/>
                <a:ea typeface="Segoe UI"/>
                <a:cs typeface="Segoe UI"/>
              </a:defRPr>
            </a:pPr>
            <a:r>
              <a:t>ELSE IF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47EE28-3DE4-4A93-897A-125BE982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Try one more rule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DEDD8EC-768A-4592-BE7B-ACF88D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score &gt;= 50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3435DC-D5CC-4AD1-A05C-147E057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Only if earlier tests failed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1094A69-2CFA-443E-B15C-C0995C6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57784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1A32">
              <a:alpha val="70000"/>
            </a:srgbClr>
          </a:solidFill>
          <a:ln xmlns:a="http://schemas.openxmlformats.org/drawingml/2006/main" w="12700">
            <a:noFill/>
          </a:ln>
          <a:effectLst xmlns:a="http://schemas.openxmlformats.org/drawingml/2006/main">
            <a:outerShdw blurRad="127000" dist="50800" dir="8100000" rotWithShape="0">
              <a:srgbClr val="000000">
                <a:alpha val="4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ED9EE2-7962-4EAF-8C99-089888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554126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014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FFA014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4E529A-F76C-4995-8262-C905B53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FFA014"/>
                </a:solidFill>
                <a:latin typeface="Segoe UI"/>
                <a:ea typeface="Segoe UI"/>
                <a:cs typeface="Segoe UI"/>
              </a:defRPr>
            </a:pPr>
            <a:r>
              <a:t>ELSE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364A47-6DEA-41AA-BCF0-EC3B0D5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Catch every other value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356052-1EB4-47DC-AEF8-49AEE88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36592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No condition is needed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06E53AB-A24A-459C-BF73-24F9E58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92624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Exactly one path wins</a:t>
            </a:r>
          </a:p>
        </p:txBody>
      </p:sp>
    </p:spTree>
    <p:extLst>
      <p:ext uri="{BB962C8B-B14F-4D97-AF65-F5344CB8AC3E}">
        <p14:creationId xmlns:p14="http://schemas.microsoft.com/office/powerpoint/2010/main" val="16113888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50E669-B974-42D4-B6CF-68A5605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98C4AB-39E2-4E9B-A6FB-308DE6A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829628-706C-4FB6-A678-F4371A0A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1F2DF9-BCF7-4A70-92F1-CA5A71F8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Condition order changes the answer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7FC181-C267-44C5-A78B-FDC6F248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A broad rule placed first can hide a stricter rule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B63007D-8CF5-40AF-B2E8-7E9F0D0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54480"/>
            <a:ext cx="25603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10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1016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F8B175-45CF-4C9C-9CD7-A31DC4A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64208"/>
            <a:ext cx="2560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95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4892CB1-A93D-457A-9B9B-ED87CC58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77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4BED2"/>
                </a:solidFill>
                <a:latin typeface="Segoe UI"/>
                <a:ea typeface="Segoe UI"/>
                <a:cs typeface="Segoe UI"/>
              </a:defRPr>
            </a:pPr>
            <a:r>
              <a:t>test score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A8CC7D6-18C8-454A-9C03-6CE1884C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25603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050FF">
              <a:alpha val="10000"/>
            </a:srgbClr>
          </a:solidFill>
          <a:ln xmlns:a="http://schemas.openxmlformats.org/drawingml/2006/main" w="19050">
            <a:solidFill>
              <a:srgbClr val="A050FF"/>
            </a:solidFill>
          </a:ln>
          <a:effectLst xmlns:a="http://schemas.openxmlformats.org/drawingml/2006/main">
            <a:glow rad="101600">
              <a:srgbClr val="A05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7B33A71-D65C-4F82-A8CD-04CDC10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64208"/>
            <a:ext cx="2560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A05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1st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5297219-AFFF-410F-BE02-60ECB21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77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4BED2"/>
                </a:solidFill>
                <a:latin typeface="Segoe UI"/>
                <a:ea typeface="Segoe UI"/>
                <a:cs typeface="Segoe UI"/>
              </a:defRPr>
            </a:pPr>
            <a:r>
              <a:t>true branch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EF8D3C1-007E-4145-A70D-44417CFC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54480"/>
            <a:ext cx="25603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F8C">
              <a:alpha val="10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1016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8DA04DE-AAA3-47FD-829C-A35CFE78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64208"/>
            <a:ext cx="2560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00FF8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&gt;= 50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05CB16-FE04-4425-A536-9375B603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77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4BED2"/>
                </a:solidFill>
                <a:latin typeface="Segoe UI"/>
                <a:ea typeface="Segoe UI"/>
                <a:cs typeface="Segoe UI"/>
              </a:defRPr>
            </a:pPr>
            <a:r>
              <a:t>too broad first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E795CAF-2819-4E02-A6A3-AB2EA32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54480"/>
            <a:ext cx="25603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A014">
              <a:alpha val="10000"/>
            </a:srgbClr>
          </a:solidFill>
          <a:ln xmlns:a="http://schemas.openxmlformats.org/drawingml/2006/main" w="19050">
            <a:solidFill>
              <a:srgbClr val="FFA014"/>
            </a:solidFill>
          </a:ln>
          <a:effectLst xmlns:a="http://schemas.openxmlformats.org/drawingml/2006/main">
            <a:glow rad="101600">
              <a:srgbClr val="FFA014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06B8B80-0ADE-42D3-879A-CBF760E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64208"/>
            <a:ext cx="2560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FFA01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Explorer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3C89B66-3984-4E37-BC28-8D407E7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77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4BED2"/>
                </a:solidFill>
                <a:latin typeface="Segoe UI"/>
                <a:ea typeface="Segoe UI"/>
                <a:cs typeface="Segoe UI"/>
              </a:defRPr>
            </a:pPr>
            <a:r>
              <a:t>wrong result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9C820B9-DAFF-40C8-923C-672DC8EA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0"/>
            <a:ext cx="557784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F8C">
              <a:alpha val="5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762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83355D3-12BB-479F-B0F1-602CCB52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52120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WRONG ORDER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F661DD5-7120-45D9-9F22-EC7BF6F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052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if (score &gt;= 50)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79810CD-6EA4-47B9-AA07-ADAFB6CE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else if (score &gt;= 70)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526A837-1650-44D8-9628-7D358ED8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8348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else if (score &gt;= 90)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18F7799-0444-4288-B021-C7F5E31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9496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95 stops at Explorer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914882A-4B2F-4EB3-BE06-B11F56B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474720"/>
            <a:ext cx="557784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3C50">
              <a:alpha val="5000"/>
            </a:srgbClr>
          </a:solidFill>
          <a:ln xmlns:a="http://schemas.openxmlformats.org/drawingml/2006/main" w="19050">
            <a:solidFill>
              <a:srgbClr val="FF3C50"/>
            </a:solidFill>
          </a:ln>
          <a:effectLst xmlns:a="http://schemas.openxmlformats.org/drawingml/2006/main">
            <a:glow rad="76200">
              <a:srgbClr val="FF3C50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F5AB2E4-F59F-4F26-AFD2-51B0468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11880"/>
            <a:ext cx="52120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FF3C50"/>
                </a:solidFill>
                <a:latin typeface="Segoe UI"/>
                <a:ea typeface="Segoe UI"/>
                <a:cs typeface="Segoe UI"/>
              </a:defRPr>
            </a:pPr>
            <a:r>
              <a:t>CORRECT ORDER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D4198B5-5AED-467E-B4B4-2C8D35D7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16052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if (score &gt;= 90)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862DCA9-EB44-48AE-BC19-ECA5BB55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57200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else if (score &gt;= 70)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960EAF6-8335-438A-AADC-9EAE17F4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98348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else if (score &gt;= 50)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1DD5DF-C4C3-468A-A15D-08C5C0F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539496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95 reaches Legend</a:t>
            </a:r>
          </a:p>
        </p:txBody>
      </p:sp>
    </p:spTree>
    <p:extLst>
      <p:ext uri="{BB962C8B-B14F-4D97-AF65-F5344CB8AC3E}">
        <p14:creationId xmlns:p14="http://schemas.microsoft.com/office/powerpoint/2010/main" val="170237628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50E669-B974-42D4-B6CF-68A5605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C122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98C4AB-39E2-4E9B-A6FB-308DE6A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18872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100000">
                <a:srgbClr val="0F1932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829628-706C-4FB6-A678-F4371A0A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8720"/>
            <a:ext cx="1218895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1F2DF9-BCF7-4A70-92F1-CA5A71F8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AI logic bug hunt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7FC181-C267-44C5-A78B-FDC6F248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04672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AI can suggest code; humans still test the decisions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B63007D-8CF5-40AF-B2E8-7E9F0D0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54480"/>
            <a:ext cx="25603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0FF">
              <a:alpha val="10000"/>
            </a:srgbClr>
          </a:solidFill>
          <a:ln xmlns:a="http://schemas.openxmlformats.org/drawingml/2006/main" w="19050">
            <a:solidFill>
              <a:srgbClr val="00F0FF"/>
            </a:solidFill>
          </a:ln>
          <a:effectLst xmlns:a="http://schemas.openxmlformats.org/drawingml/2006/main">
            <a:glow rad="101600">
              <a:srgbClr val="00F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F8B175-45CF-4C9C-9CD7-A31DC4A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64208"/>
            <a:ext cx="2560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AI draft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4892CB1-A93D-457A-9B9B-ED87CC58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77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4BED2"/>
                </a:solidFill>
                <a:latin typeface="Segoe UI"/>
                <a:ea typeface="Segoe UI"/>
                <a:cs typeface="Segoe UI"/>
              </a:defRPr>
            </a:pPr>
            <a:r>
              <a:t>code source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A8CC7D6-18C8-454A-9C03-6CE1884C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25603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050FF">
              <a:alpha val="10000"/>
            </a:srgbClr>
          </a:solidFill>
          <a:ln xmlns:a="http://schemas.openxmlformats.org/drawingml/2006/main" w="19050">
            <a:solidFill>
              <a:srgbClr val="A050FF"/>
            </a:solidFill>
          </a:ln>
          <a:effectLst xmlns:a="http://schemas.openxmlformats.org/drawingml/2006/main">
            <a:glow rad="101600">
              <a:srgbClr val="A05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7B33A71-D65C-4F82-A8CD-04CDC10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64208"/>
            <a:ext cx="2560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A05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4 tests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5297219-AFFF-410F-BE02-60ECB21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77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4BED2"/>
                </a:solidFill>
                <a:latin typeface="Segoe UI"/>
                <a:ea typeface="Segoe UI"/>
                <a:cs typeface="Segoe UI"/>
              </a:defRPr>
            </a:pPr>
            <a:r>
              <a:t>95  90  70  49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EF8D3C1-007E-4145-A70D-44417CFC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54480"/>
            <a:ext cx="25603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F8C">
              <a:alpha val="10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1016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8DA04DE-AAA3-47FD-829C-A35CFE78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64208"/>
            <a:ext cx="2560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00FF8C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1 bug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05CB16-FE04-4425-A536-9375B603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77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4BED2"/>
                </a:solidFill>
                <a:latin typeface="Segoe UI"/>
                <a:ea typeface="Segoe UI"/>
                <a:cs typeface="Segoe UI"/>
              </a:defRPr>
            </a:pPr>
            <a:r>
              <a:t>wrong order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E795CAF-2819-4E02-A6A3-AB2EA32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54480"/>
            <a:ext cx="25603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A014">
              <a:alpha val="10000"/>
            </a:srgbClr>
          </a:solidFill>
          <a:ln xmlns:a="http://schemas.openxmlformats.org/drawingml/2006/main" w="19050">
            <a:solidFill>
              <a:srgbClr val="FFA014"/>
            </a:solidFill>
          </a:ln>
          <a:effectLst xmlns:a="http://schemas.openxmlformats.org/drawingml/2006/main">
            <a:glow rad="101600">
              <a:srgbClr val="FFA014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06B8B80-0ADE-42D3-879A-CBF760E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64208"/>
            <a:ext cx="2560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FFA01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Human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3C89B66-3984-4E37-BC28-8D407E7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77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4BED2"/>
                </a:solidFill>
                <a:latin typeface="Segoe UI"/>
                <a:ea typeface="Segoe UI"/>
                <a:cs typeface="Segoe UI"/>
              </a:defRPr>
            </a:pPr>
            <a:r>
              <a:t>verifies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9C820B9-DAFF-40C8-923C-672DC8EA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0"/>
            <a:ext cx="557784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FF8C">
              <a:alpha val="5000"/>
            </a:srgbClr>
          </a:solidFill>
          <a:ln xmlns:a="http://schemas.openxmlformats.org/drawingml/2006/main" w="19050">
            <a:solidFill>
              <a:srgbClr val="00FF8C"/>
            </a:solidFill>
          </a:ln>
          <a:effectLst xmlns:a="http://schemas.openxmlformats.org/drawingml/2006/main">
            <a:glow rad="76200">
              <a:srgbClr val="00FF8C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83355D3-12BB-479F-B0F1-602CCB52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52120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00FF8C"/>
                </a:solidFill>
                <a:latin typeface="Segoe UI"/>
                <a:ea typeface="Segoe UI"/>
                <a:cs typeface="Segoe UI"/>
              </a:defRPr>
            </a:pPr>
            <a:r>
              <a:t>DO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F661DD5-7120-45D9-9F22-EC7BF6F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052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Predict before running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79810CD-6EA4-47B9-AA07-ADAFB6CE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Test boundary values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526A837-1650-44D8-9628-7D358ED8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8348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Trace the first true rule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18F7799-0444-4288-B021-C7F5E31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9496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Reorder highest first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914882A-4B2F-4EB3-BE06-B11F56B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474720"/>
            <a:ext cx="557784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3C50">
              <a:alpha val="5000"/>
            </a:srgbClr>
          </a:solidFill>
          <a:ln xmlns:a="http://schemas.openxmlformats.org/drawingml/2006/main" w="19050">
            <a:solidFill>
              <a:srgbClr val="FF3C50"/>
            </a:solidFill>
          </a:ln>
          <a:effectLst xmlns:a="http://schemas.openxmlformats.org/drawingml/2006/main">
            <a:glow rad="76200">
              <a:srgbClr val="FF3C50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F5AB2E4-F59F-4F26-AFD2-51B0468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611880"/>
            <a:ext cx="52120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FF3C50"/>
                </a:solidFill>
                <a:latin typeface="Segoe UI"/>
                <a:ea typeface="Segoe UI"/>
                <a:cs typeface="Segoe UI"/>
              </a:defRPr>
            </a:pPr>
            <a:r>
              <a:t>DON'T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D4198B5-5AED-467E-B4B4-2C8D35D7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16052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Assume compile means correct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862DCA9-EB44-48AE-BC19-ECA5BB55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57200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Test only one value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960EAF6-8335-438A-AADC-9EAE17F4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98348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Accept AI code blindly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1DD5DF-C4C3-468A-A15D-08C5C0F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539496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E6EBF5"/>
                </a:solidFill>
                <a:latin typeface="Segoe UI"/>
                <a:ea typeface="Segoe UI"/>
                <a:cs typeface="Segoe UI"/>
              </a:defRPr>
            </a:pPr>
            <a:r>
              <a:t>Skip boundary values</a:t>
            </a:r>
          </a:p>
        </p:txBody>
      </p:sp>
    </p:spTree>
    <p:extLst>
      <p:ext uri="{BB962C8B-B14F-4D97-AF65-F5344CB8AC3E}">
        <p14:creationId xmlns:p14="http://schemas.microsoft.com/office/powerpoint/2010/main" val="170237628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39C0B7-464B-491B-90EA-E5043415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80C18"/>
              </a:gs>
              <a:gs pos="50000">
                <a:srgbClr val="080F23"/>
              </a:gs>
              <a:gs pos="100000">
                <a:srgbClr val="050814"/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Hexagon 2">
            <a:extLst xmlns:a="http://schemas.openxmlformats.org/drawingml/2006/main">
              <a:ext uri="{FF2B5EF4-FFF2-40B4-BE49-F238E27FC236}">
                <a16:creationId xmlns:a16="http://schemas.microsoft.com/office/drawing/2014/main" id="{FA68835C-D02F-4542-8117-FE541D98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74320" y="-274320"/>
            <a:ext cx="1828800" cy="18288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F0FF">
              <a:alpha val="4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Hexagon 3">
            <a:extLst xmlns:a="http://schemas.openxmlformats.org/drawingml/2006/main">
              <a:ext uri="{FF2B5EF4-FFF2-40B4-BE49-F238E27FC236}">
                <a16:creationId xmlns:a16="http://schemas.microsoft.com/office/drawing/2014/main" id="{AC3821DC-E653-4287-8819-BD794307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303520"/>
            <a:ext cx="2286000" cy="2286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050FF">
              <a:alpha val="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Hexagon 4">
            <a:extLst xmlns:a="http://schemas.openxmlformats.org/drawingml/2006/main">
              <a:ext uri="{FF2B5EF4-FFF2-40B4-BE49-F238E27FC236}">
                <a16:creationId xmlns:a16="http://schemas.microsoft.com/office/drawing/2014/main" id="{F888CBFE-A246-4D64-84A1-C5C23C9F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-457200"/>
            <a:ext cx="1645920" cy="164592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3C8CFF">
              <a:alpha val="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Hexagon 5">
            <a:extLst xmlns:a="http://schemas.openxmlformats.org/drawingml/2006/main">
              <a:ext uri="{FF2B5EF4-FFF2-40B4-BE49-F238E27FC236}">
                <a16:creationId xmlns:a16="http://schemas.microsoft.com/office/drawing/2014/main" id="{9D38771D-37FA-4B58-AD26-9538F271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43600"/>
            <a:ext cx="914400" cy="9144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0FF8C">
              <a:alpha val="25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B515AC-24ED-43DF-BCCB-D9BAA363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4320"/>
            <a:ext cx="731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115DF9F-0EE8-4DF4-B2EB-8F41B82A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4320"/>
            <a:ext cx="2743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1727C8-A58A-4706-83D1-E189847F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1" y="274320"/>
            <a:ext cx="731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462E902-A320-4079-AB4D-32695299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4320"/>
            <a:ext cx="2743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499A0F4-48A4-4C9C-B8CB-ACEBB6C2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56248"/>
            <a:ext cx="731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833069-8DFB-46DE-92E3-F8793557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852160"/>
            <a:ext cx="2743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3852BB8-F6E6-4CBC-9A29-D584A52E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1" y="6556248"/>
            <a:ext cx="73152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F710F94-EC2E-42C7-B52D-8457FBD7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52160"/>
            <a:ext cx="2743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50800">
              <a:srgbClr val="00F0FF">
                <a:alpha val="4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C344BE4-456F-44B8-8AE8-D29D361B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"/>
            <a:ext cx="12188952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✓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877895F-9850-4F83-A2B3-3CE195D5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88952" cy="97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t>Workspace ready!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C0AA637-4B02-4F08-BAED-FB80C312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31920"/>
            <a:ext cx="1218895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>
            <a:noFill/>
          </a:ln>
          <a:effectLst xmlns:a="http://schemas.openxmlformats.org/drawingml/2006/main">
            <a:glow rad="76200">
              <a:srgbClr val="00F0FF">
                <a:alpha val="30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CF9BED0-81E0-47D7-A436-02F2B7A0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88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0">
                <a:solidFill>
                  <a:srgbClr val="00F0FF"/>
                </a:solidFill>
                <a:latin typeface="Segoe UI"/>
                <a:ea typeface="Segoe UI"/>
                <a:cs typeface="Segoe UI"/>
              </a:defRPr>
            </a:pPr>
            <a:r>
              <a:t>Save your folder and show one successful program run.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97D0F93-F0A3-41BE-9354-B18C3F37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03520"/>
            <a:ext cx="5788152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050FF">
              <a:alpha val="6000"/>
            </a:srgbClr>
          </a:solidFill>
          <a:ln xmlns:a="http://schemas.openxmlformats.org/drawingml/2006/main" w="19050">
            <a:solidFill>
              <a:srgbClr val="A050FF"/>
            </a:solidFill>
          </a:ln>
          <a:effectLst xmlns:a="http://schemas.openxmlformats.org/drawingml/2006/main">
            <a:glow rad="76200">
              <a:srgbClr val="A050FF">
                <a:alpha val="35000"/>
              </a:srgbClr>
            </a:glo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spcBef>
                <a:spcPts val="800"/>
              </a:spcBef>
              <a:buNone/>
              <a:defRPr sz="2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t>Submit classwork in Teams</a:t>
            </a:r>
          </a:p>
        </p:txBody>
      </p:sp>
    </p:spTree>
    <p:extLst>
      <p:ext uri="{BB962C8B-B14F-4D97-AF65-F5344CB8AC3E}">
        <p14:creationId xmlns:p14="http://schemas.microsoft.com/office/powerpoint/2010/main" val="20025610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2026-07-31T19:31:31.5770000Z</dcterms:created>
  <dcterms:modified xsi:type="dcterms:W3CDTF">2026-07-31T19:31:31.5770000Z</dcterms:modified>
</coreProperties>
</file>