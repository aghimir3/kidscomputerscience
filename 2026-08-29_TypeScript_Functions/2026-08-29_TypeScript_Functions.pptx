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" y="1325880"/>
            <a:ext cx="10085832" cy="260604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25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  <a:latin typeface="Segoe UI Semibold"/>
              </a:defRPr>
            </a:pPr>
            <a:r>
              <a:t>TypeScript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1E3A5F"/>
                </a:solidFill>
                <a:latin typeface="Segoe UI"/>
              </a:defRPr>
            </a:pPr>
            <a:r>
              <a:t>Define once. Call many times. Build bigger programs.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617720"/>
            <a:ext cx="6702552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56048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ADD8E6"/>
                </a:solidFill>
                <a:latin typeface="Segoe UI"/>
              </a:defRPr>
            </a:pPr>
            <a:r>
              <a:t>Kids Computer Science |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DD8E6"/>
                </a:solidFill>
                <a:latin typeface="Segoe UI"/>
              </a:defRPr>
            </a:pPr>
            <a:r>
              <a:t>Saturday, August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Your Skills Are 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A function organizes code you already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587752" cy="29718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1226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660904"/>
            <a:ext cx="2185416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strings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numbers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booleans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965960"/>
            <a:ext cx="2587752" cy="2971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1226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60904"/>
            <a:ext cx="2185416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if / else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comparisons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1965960"/>
            <a:ext cx="2587752" cy="29718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11226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660904"/>
            <a:ext cx="2185416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for loops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array loops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1965960"/>
            <a:ext cx="2587752" cy="29718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27464" y="211226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7464" y="2660904"/>
            <a:ext cx="2185416" cy="2130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name a job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reuse the job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Today adds organization, not a completely new kind of thinking.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Repetition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Find what stays the same and what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00800" cy="338328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93392"/>
            <a:ext cx="5961888" cy="3090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console.log("Welcome, Maya!");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console.log("Welcome, Leo!");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console.log("Welcome, Zara!");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What if there were 30 players?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828800"/>
            <a:ext cx="4206240" cy="1463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975104"/>
            <a:ext cx="38039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STAYS THE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2523744"/>
            <a:ext cx="3803903" cy="6217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The welcome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657600"/>
            <a:ext cx="4206240" cy="146304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2088" y="3803904"/>
            <a:ext cx="38039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2088" y="4352544"/>
            <a:ext cx="3803903" cy="6217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The player's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Repeated structure is a clue that one reusable job could help.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 Function Names the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Definition first, call second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583680" cy="338328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93392"/>
            <a:ext cx="6144768" cy="30906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900" b="0">
                <a:solidFill>
                  <a:srgbClr val="D2EEE0"/>
                </a:solidFill>
                <a:latin typeface="Consolas"/>
              </a:defRPr>
            </a:pPr>
            <a:r>
              <a:t>function cheer()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900" b="0">
                <a:solidFill>
                  <a:srgbClr val="D2EEE0"/>
                </a:solidFill>
                <a:latin typeface="Consolas"/>
              </a:defRPr>
            </a:pPr>
            <a:r>
              <a:t>  console.log("You can solve this!");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9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900" b="0">
                <a:solidFill>
                  <a:srgbClr val="D2EEE0"/>
                </a:solidFill>
                <a:latin typeface="Consolas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900" b="0">
                <a:solidFill>
                  <a:srgbClr val="D2EEE0"/>
                </a:solidFill>
                <a:latin typeface="Consolas"/>
              </a:defRPr>
            </a:pPr>
            <a:r>
              <a:t>cheer();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828800"/>
            <a:ext cx="4023360" cy="146304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1975104"/>
            <a:ext cx="3621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2523744"/>
            <a:ext cx="3621024" cy="6217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Teach the job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887968" y="3383280"/>
            <a:ext cx="1325880" cy="594360"/>
          </a:xfrm>
          <a:prstGeom prst="down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43800" y="4160520"/>
            <a:ext cx="4023360" cy="10515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4306824"/>
            <a:ext cx="3621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4855464"/>
            <a:ext cx="3621024" cy="21031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Run the job now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Define once. Call whenever the job is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Anatomy of a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Read the declaration from left to 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43032" cy="123444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039112"/>
            <a:ext cx="10104119" cy="9418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2000" b="0">
                <a:solidFill>
                  <a:srgbClr val="D2EEE0"/>
                </a:solidFill>
                <a:latin typeface="Consolas"/>
              </a:defRPr>
            </a:pPr>
            <a:r>
              <a:t>function cheer() { console.log("Go!");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57600"/>
            <a:ext cx="2587752" cy="16002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80390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352544"/>
            <a:ext cx="2185416" cy="7589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Starts the declaration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3657600"/>
            <a:ext cx="2587752" cy="1600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80390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cheer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352544"/>
            <a:ext cx="2185416" cy="7589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Names the job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3657600"/>
            <a:ext cx="2587752" cy="1600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80390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(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4352544"/>
            <a:ext cx="2185416" cy="7589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Input area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26296" y="3657600"/>
            <a:ext cx="2587752" cy="16002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27464" y="380390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{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4" y="4352544"/>
            <a:ext cx="2185416" cy="7589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Holds instructions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function body is the code between the braces.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 Definition Does Not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Predict before the call appears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6217920" cy="320040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39112"/>
            <a:ext cx="5779008" cy="29077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2000" b="0">
                <a:solidFill>
                  <a:srgbClr val="D2EEE0"/>
                </a:solidFill>
                <a:latin typeface="Consolas"/>
              </a:defRPr>
            </a:pPr>
            <a:r>
              <a:t>function celebrate()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2000" b="0">
                <a:solidFill>
                  <a:srgbClr val="D2EEE0"/>
                </a:solidFill>
                <a:latin typeface="Consolas"/>
              </a:defRPr>
            </a:pPr>
            <a:r>
              <a:t>  console.log("Great work!");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20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874519"/>
            <a:ext cx="4389120" cy="13716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79208" y="2020824"/>
            <a:ext cx="39867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9208" y="2569463"/>
            <a:ext cx="3986783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3703320"/>
            <a:ext cx="438912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3849624"/>
            <a:ext cx="39867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4398264"/>
            <a:ext cx="3986783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800" b="0">
                <a:solidFill>
                  <a:srgbClr val="424242"/>
                </a:solidFill>
                <a:latin typeface="Segoe UI"/>
              </a:defRPr>
            </a:pPr>
            <a:r>
              <a:t>Nothing yet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definition teaches the job; a call tells it to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Count Calls, Count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Each call starts one complete run of the 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572000" cy="347472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93392"/>
            <a:ext cx="4133087" cy="31821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function beep()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  console.log("Beep!");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beep();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beep();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beep();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828800"/>
            <a:ext cx="2377440" cy="9144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4728" y="1975104"/>
            <a:ext cx="1975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CALL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4728" y="2523744"/>
            <a:ext cx="1975104" cy="731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beep()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83879" y="2011680"/>
            <a:ext cx="914400" cy="438912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81160" y="1828800"/>
            <a:ext cx="2286000" cy="9144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82328" y="1975104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2328" y="2523744"/>
            <a:ext cx="1883664" cy="731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Beep!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2999232"/>
            <a:ext cx="2377440" cy="9144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3145536"/>
            <a:ext cx="1975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CALL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3694176"/>
            <a:ext cx="1975104" cy="731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beep()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183879" y="3182112"/>
            <a:ext cx="914400" cy="438912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81160" y="2999232"/>
            <a:ext cx="2286000" cy="9144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3145536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3694176"/>
            <a:ext cx="1883664" cy="731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Beep!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69664"/>
            <a:ext cx="2377440" cy="9144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24728" y="4315968"/>
            <a:ext cx="1975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CALL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4864608"/>
            <a:ext cx="1975104" cy="731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beep()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183879" y="4352544"/>
            <a:ext cx="914400" cy="438912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81160" y="4169664"/>
            <a:ext cx="2286000" cy="9144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82328" y="4315968"/>
            <a:ext cx="1883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4864608"/>
            <a:ext cx="1883664" cy="731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Beep!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Three calls mean three runs and three output 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One Typed Parameter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Give each call one piece of 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6583680" cy="347472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993392"/>
            <a:ext cx="6144768" cy="31821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function greetPlayer(name: string)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  console.log(`Welcome, ${name}!`);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800" b="0">
                <a:solidFill>
                  <a:srgbClr val="D2EEE0"/>
                </a:solidFill>
                <a:latin typeface="Consolas"/>
              </a:defRPr>
            </a:pPr>
            <a:r>
              <a:t>greetPlayer("Maya");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828800"/>
            <a:ext cx="4069080" cy="13258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197510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INPUT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2523744"/>
            <a:ext cx="3666744" cy="48463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name: string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887968" y="3364992"/>
            <a:ext cx="1234440" cy="594360"/>
          </a:xfrm>
          <a:prstGeom prst="down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79" y="4160520"/>
            <a:ext cx="4069080" cy="1143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9248" y="430682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CURRENT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855464"/>
            <a:ext cx="3666744" cy="3017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name = "Maya"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parameter names the input and promises its 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Parameter vs. Argument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The box and the value have different names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206240" cy="31546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66544"/>
            <a:ext cx="38039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15184"/>
            <a:ext cx="3803903" cy="23134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In the definition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name: string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A named input box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57800" y="3017520"/>
            <a:ext cx="1645920" cy="73152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23760" y="1920240"/>
            <a:ext cx="4206240" cy="315468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8" y="2066544"/>
            <a:ext cx="38039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8" y="2615184"/>
            <a:ext cx="3803903" cy="23134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In the call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"Maya"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The value sent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argument travels into the parameter when the call runs.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Trace Three Calls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The parameter receives a fresh value each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291840" cy="56692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7952" y="1828800"/>
            <a:ext cx="3291840" cy="56692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name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0104" y="1828800"/>
            <a:ext cx="3840480" cy="566928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3291840" cy="658368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greetPlayer("Maya")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2606040"/>
            <a:ext cx="3291840" cy="658368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"Maya"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0104" y="2606040"/>
            <a:ext cx="3840480" cy="658368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Welcome, Maya!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47288"/>
            <a:ext cx="3291840" cy="65836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greetPlayer("Leo")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3447288"/>
            <a:ext cx="3291840" cy="65836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"Leo"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0104" y="3447288"/>
            <a:ext cx="3840480" cy="65836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Welcome, Leo!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88536"/>
            <a:ext cx="3291840" cy="658368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greetPlayer("Zara")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7952" y="4288536"/>
            <a:ext cx="3291840" cy="658368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"Zara"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0104" y="4288536"/>
            <a:ext cx="3840480" cy="658368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Welcome, Zara!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  <a:latin typeface="Segoe UI"/>
              </a:defRPr>
            </a:pPr>
            <a:r>
              <a:t>What stays the same? What changes?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body stays the same; the argument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Two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Arguments match parameters by 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6675120" cy="347472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993392"/>
            <a:ext cx="6236208" cy="31821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function reportScore(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  player: string,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  score: number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  console.log(`${player}: ${score}`);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reportScore("Zara", 95);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828800"/>
            <a:ext cx="3931920" cy="132588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1975104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FIRST -&gt;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2523744"/>
            <a:ext cx="3529584" cy="48463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"Zara" -&gt; player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657600"/>
            <a:ext cx="3931920" cy="13258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3803904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SECOND -&gt; SECOND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4352544"/>
            <a:ext cx="3529584" cy="48463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95 -&gt;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Order is part of the function's contract.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 Typed Function Has a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Count inputs, match types, preserve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429000" cy="2834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57984"/>
            <a:ext cx="3026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VALID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06624"/>
            <a:ext cx="3026664" cy="19933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reportScore("Zara", 95)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011680"/>
            <a:ext cx="3429000" cy="283464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157984"/>
            <a:ext cx="3026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WRONG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706624"/>
            <a:ext cx="3026664" cy="19933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reportScore(95, "Zara")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011680"/>
            <a:ext cx="3429000" cy="283464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7928" y="2157984"/>
            <a:ext cx="30266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MISSING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7928" y="2706624"/>
            <a:ext cx="3026664" cy="19933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reportScore("Zara")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TypeScript catches calls that break the contract.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Reuse an Old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The if/else works exactly as it did before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7315200" cy="361188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993392"/>
            <a:ext cx="6876288" cy="33192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function checkScore(score: number)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if (score &gt;= 80)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  console.log(`${score}: passed`);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} else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  console.log(`${score}: practice`);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}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checkScore(92);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checkScore(67);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3337560" cy="1508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1975104"/>
            <a:ext cx="29352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2523744"/>
            <a:ext cx="2935224" cy="66751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794760"/>
            <a:ext cx="3337560" cy="150876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3941064"/>
            <a:ext cx="29352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4489704"/>
            <a:ext cx="2935224" cy="66751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800" b="0">
                <a:solidFill>
                  <a:srgbClr val="FFFFFF"/>
                </a:solidFill>
                <a:latin typeface="Segoe UI"/>
              </a:defRPr>
            </a:pPr>
            <a:r>
              <a:t>practice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 function can organize decisions you already know.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Functions Organize Old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One named job can contain familiar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587752" cy="18288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2082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69463"/>
            <a:ext cx="2185416" cy="987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874519"/>
            <a:ext cx="2587752" cy="1828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02082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569463"/>
            <a:ext cx="2185416" cy="987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if / else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1874519"/>
            <a:ext cx="2587752" cy="18288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02082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LOOPS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69463"/>
            <a:ext cx="2185416" cy="987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repeat calls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1874519"/>
            <a:ext cx="2587752" cy="18288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27464" y="202082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ARRAYS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7464" y="2569463"/>
            <a:ext cx="2185416" cy="9875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send items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230368" y="4005072"/>
            <a:ext cx="1691640" cy="658368"/>
          </a:xfrm>
          <a:prstGeom prst="down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9000" y="4800600"/>
            <a:ext cx="5330952" cy="914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4946904"/>
            <a:ext cx="4928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ONE REUSABLE 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5495544"/>
            <a:ext cx="4928616" cy="7315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 clear name for the complete job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New structure, familiar instructions.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AI Products Use Reusable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Our code handles one small review step</a:t>
            </a:r>
          </a:p>
        </p:txBody>
      </p:sp>
      <p:sp>
        <p:nvSpPr>
          <p:cNvPr id="6" name="Oval 5"/>
          <p:cNvSpPr/>
          <p:nvPr/>
        </p:nvSpPr>
        <p:spPr>
          <a:xfrm>
            <a:off x="1463040" y="1828800"/>
            <a:ext cx="658368" cy="658368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43200"/>
            <a:ext cx="2587752" cy="19659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88950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438144"/>
            <a:ext cx="2185416" cy="11247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Examples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44952" y="2039112"/>
            <a:ext cx="658368" cy="347472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70832" y="1828800"/>
            <a:ext cx="658368" cy="658368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2743200"/>
            <a:ext cx="2587752" cy="1965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88950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438144"/>
            <a:ext cx="2185416" cy="11247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AI labels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52744" y="2039112"/>
            <a:ext cx="658368" cy="347472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78624" y="1828800"/>
            <a:ext cx="658368" cy="65836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2743200"/>
            <a:ext cx="2587752" cy="196596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88950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438144"/>
            <a:ext cx="2185416" cy="11247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Review rule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60536" y="2039112"/>
            <a:ext cx="658368" cy="347472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86416" y="1828800"/>
            <a:ext cx="658368" cy="65836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2743200"/>
            <a:ext cx="2587752" cy="1965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7464" y="2889504"/>
            <a:ext cx="2185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3438144"/>
            <a:ext cx="2185416" cy="11247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Human checks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 reusable rule can flag uncertainty; a person decides what is correct.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Build the AI Label Review Helper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Give one review rule a clear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7543800" cy="379476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947672"/>
            <a:ext cx="7104888" cy="35021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function reviewLabel(label: string)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  if (label === "unknown")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    console.log("Human review needed.");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  } else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    console.log(`${label}: accepted for now.`);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  }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783080"/>
            <a:ext cx="3108960" cy="15087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59368" y="1929384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9368" y="2478024"/>
            <a:ext cx="2706624" cy="66751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one label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794760"/>
            <a:ext cx="3108960" cy="1783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8" y="3941064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8" y="4489704"/>
            <a:ext cx="2706624" cy="94183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apply one rule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print guidance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function flags a possible problem; it does not prove the label is wrong.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Call It for Every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The loop chooses each argument; the function does the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7498079" cy="388620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901952"/>
            <a:ext cx="7059167" cy="3593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const labels: string[] =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  ["cat", "unknown", "tree", "unknown"];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for (let i = 0; i &lt; labels.length; i++)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  reviewLabel(labels[i]);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6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737360"/>
            <a:ext cx="3154680" cy="141732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13648" y="1883664"/>
            <a:ext cx="2752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432304"/>
            <a:ext cx="2752344" cy="576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selects labels[i]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418320" y="3337560"/>
            <a:ext cx="1097280" cy="530352"/>
          </a:xfrm>
          <a:prstGeom prst="down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4069080"/>
            <a:ext cx="3154680" cy="15544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8" y="4215384"/>
            <a:ext cx="27523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4764024"/>
            <a:ext cx="2752344" cy="71323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reviews that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Four array items create four function calls.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Return-Value Readiness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Continue only when the core model is secure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74519"/>
            <a:ext cx="594360" cy="59436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856231"/>
            <a:ext cx="4389120" cy="658368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1E3A5F"/>
                </a:solidFill>
                <a:latin typeface="Segoe UI"/>
              </a:defRPr>
            </a:pPr>
            <a:r>
              <a:t>Find the definition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1874519"/>
            <a:ext cx="594360" cy="5943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856231"/>
            <a:ext cx="4389120" cy="658368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1E3A5F"/>
                </a:solidFill>
                <a:latin typeface="Segoe UI"/>
              </a:defRPr>
            </a:pPr>
            <a:r>
              <a:t>Find the call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74720"/>
            <a:ext cx="594360" cy="59436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3456432"/>
            <a:ext cx="4389120" cy="658368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1E3A5F"/>
                </a:solidFill>
                <a:latin typeface="Segoe UI"/>
              </a:defRPr>
            </a:pPr>
            <a:r>
              <a:t>Match argument to parameter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3474720"/>
            <a:ext cx="594360" cy="5943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456432"/>
            <a:ext cx="4389120" cy="658368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500" b="1">
                <a:solidFill>
                  <a:srgbClr val="1E3A5F"/>
                </a:solidFill>
                <a:latin typeface="Segoe UI"/>
              </a:defRPr>
            </a:pPr>
            <a:r>
              <a:t>Predict two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Confident calls and parameters are the core success for today.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 Return Sends Back a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Input goes in; one result comes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7406640" cy="3794760"/>
          </a:xfrm>
          <a:prstGeom prst="roundRect">
            <a:avLst/>
          </a:prstGeom>
          <a:solidFill>
            <a:srgbClr val="1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1947672"/>
            <a:ext cx="6967727" cy="35021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function needsReview(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label: string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): boolean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if (label === "unknown")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  return true;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} else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  return false;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  }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defRPr sz="1500" b="0">
                <a:solidFill>
                  <a:srgbClr val="D2EEE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783080"/>
            <a:ext cx="3246120" cy="14173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22208" y="1929384"/>
            <a:ext cx="2843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8" y="2478024"/>
            <a:ext cx="2843784" cy="576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label: string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372600" y="3383280"/>
            <a:ext cx="1097280" cy="530352"/>
          </a:xfrm>
          <a:prstGeom prst="down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4069080"/>
            <a:ext cx="3246120" cy="1508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4215384"/>
            <a:ext cx="2843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4764024"/>
            <a:ext cx="2843784" cy="667511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true or false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parameter type is what goes in; the return type is what comes back.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Printing Is Not Returning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These two jobs have different destinations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166360" cy="33375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20824"/>
            <a:ext cx="4764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console.log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69463"/>
            <a:ext cx="4764024" cy="24963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Displays a message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Useful for a person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Does not send a result 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874519"/>
            <a:ext cx="5166360" cy="33375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20824"/>
            <a:ext cx="4764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9463"/>
            <a:ext cx="4764024" cy="249631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Sends a value back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Useful to other code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Can be stored or tested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Ask: should a person see it, or should the program use it?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Common Function Bugs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Find the broken 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57800" cy="141732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75104"/>
            <a:ext cx="4855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NO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23744"/>
            <a:ext cx="4855464" cy="576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Body never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5257800" cy="14173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975104"/>
            <a:ext cx="4855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MISSING ARGUMENT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523744"/>
            <a:ext cx="4855464" cy="576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Input box is empty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5257800" cy="14173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758184"/>
            <a:ext cx="4855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WRONG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306824"/>
            <a:ext cx="4855464" cy="576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Value breaks the promise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611880"/>
            <a:ext cx="5257800" cy="141732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3758184"/>
            <a:ext cx="4855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WRONG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4306824"/>
            <a:ext cx="4855464" cy="5760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Values enter wrong boxes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Find the call, count inputs, then match type and position.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Today's Classwork Missions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67A6"/>
                </a:solidFill>
                <a:latin typeface="Segoe UI"/>
              </a:defRPr>
            </a:pPr>
            <a:r>
              <a:t>Complete the core path before the return bonus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Definition or call?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14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Define once, call many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01752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Parameters and arguments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1188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Decision inside a function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206240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9767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AI label review helper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800600"/>
            <a:ext cx="502920" cy="502920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92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Repair function bugs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Predict first. Call second. Run third. Explain last.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817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 Semibold"/>
              </a:defRPr>
            </a:pPr>
            <a:r>
              <a:t>Functions: The Reliable Pattern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81328"/>
            <a:ext cx="475488" cy="475488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517904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Name one clear job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475488" cy="475488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231136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Define the function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07792"/>
            <a:ext cx="475488" cy="475488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44368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Add typed parameters for changing inputs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621024"/>
            <a:ext cx="475488" cy="47548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657600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Call it with matching arguments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334256"/>
            <a:ext cx="475488" cy="475488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370832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Reuse familiar decisions, loops, and arrays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047488"/>
            <a:ext cx="475488" cy="475488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084064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Segoe UI"/>
              </a:defRPr>
            </a:pPr>
            <a:r>
              <a:t>Keep people responsible for AI decisions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 Semibold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DD8E6"/>
                </a:solidFill>
                <a:latin typeface="Segoe UI"/>
              </a:defRPr>
            </a:pPr>
            <a:r>
              <a:t>Then: Kahoot and the homework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3886200"/>
            <a:ext cx="7525512" cy="100584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000" b="1">
                <a:solidFill>
                  <a:srgbClr val="1E3A5F"/>
                </a:solidFill>
                <a:latin typeface="Segoe UI"/>
              </a:defRPr>
            </a:pPr>
            <a:r>
              <a:t>Definition?  Call?  Parameter?  Argument?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TypeScript Functions</dc:title>
  <dc:subject>Kids Computer Science - August 29, 2026</dc:subject>
  <dc:creator>Kids Computer Science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