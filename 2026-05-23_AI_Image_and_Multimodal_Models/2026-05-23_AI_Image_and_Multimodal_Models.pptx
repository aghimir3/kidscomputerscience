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97280" y="1554480"/>
            <a:ext cx="9966960" cy="2834639"/>
          </a:xfrm>
          <a:prstGeom prst="roundRect">
            <a:avLst/>
          </a:prstGeom>
          <a:solidFill>
            <a:srgbClr val="649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1109167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1E3A5F"/>
                </a:solidFill>
                <a:latin typeface="Segoe UI Semibold"/>
              </a:defRPr>
            </a:pPr>
            <a:r>
              <a:t>AI Image &amp;</a:t>
            </a:r>
            <a:br/>
            <a:r>
              <a:t>Multimodal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383279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1E3A5F"/>
                </a:solidFill>
                <a:latin typeface="Segoe UI"/>
              </a:defRPr>
            </a:pPr>
            <a:r>
              <a:t>From Text to Pictures — How AI Sees and Creates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03504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ADD8E6"/>
                </a:solidFill>
                <a:latin typeface="Segoe UI"/>
              </a:defRPr>
            </a:pPr>
            <a:r>
              <a:t>May 23,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0" y="4754880"/>
            <a:ext cx="6702552" cy="54864"/>
          </a:xfrm>
          <a:prstGeom prst="rect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0" y="5120640"/>
            <a:ext cx="85313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DD8E6"/>
                </a:solidFill>
                <a:latin typeface="Segoe UI"/>
              </a:defRPr>
            </a:pPr>
            <a:r>
              <a:t>Week 7 of the AI Phase  |  Kids Computer Science Class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 Semibold"/>
              </a:defRPr>
            </a:pPr>
            <a:r>
              <a:t>Today's Journey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88952" cy="73152"/>
          </a:xfrm>
          <a:prstGeom prst="rect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14400" y="1463040"/>
            <a:ext cx="502920" cy="502920"/>
          </a:xfrm>
          <a:prstGeom prst="ellipse">
            <a:avLst/>
          </a:prstGeom>
          <a:solidFill>
            <a:srgbClr val="649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55448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424242"/>
                </a:solidFill>
                <a:latin typeface="Segoe UI"/>
              </a:defRPr>
            </a:pPr>
            <a:r>
              <a:t>Quick Recap: How LLMs Generate Text</a:t>
            </a:r>
          </a:p>
        </p:txBody>
      </p:sp>
      <p:sp>
        <p:nvSpPr>
          <p:cNvPr id="7" name="Oval 6"/>
          <p:cNvSpPr/>
          <p:nvPr/>
        </p:nvSpPr>
        <p:spPr>
          <a:xfrm>
            <a:off x="914400" y="2057400"/>
            <a:ext cx="502920" cy="502920"/>
          </a:xfrm>
          <a:prstGeom prst="ellipse">
            <a:avLst/>
          </a:prstGeom>
          <a:solidFill>
            <a:srgbClr val="7E57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1488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424242"/>
                </a:solidFill>
                <a:latin typeface="Segoe UI"/>
              </a:defRPr>
            </a:pPr>
            <a:r>
              <a:t>What Are AI Image Models?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2651760"/>
            <a:ext cx="502920" cy="502920"/>
          </a:xfrm>
          <a:prstGeom prst="ellipse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7432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424242"/>
                </a:solidFill>
                <a:latin typeface="Segoe UI"/>
              </a:defRPr>
            </a:pPr>
            <a:r>
              <a:t>How They Work: From Noise to Art</a:t>
            </a:r>
          </a:p>
        </p:txBody>
      </p:sp>
      <p:sp>
        <p:nvSpPr>
          <p:cNvPr id="11" name="Oval 10"/>
          <p:cNvSpPr/>
          <p:nvPr/>
        </p:nvSpPr>
        <p:spPr>
          <a:xfrm>
            <a:off x="914400" y="3246120"/>
            <a:ext cx="502920" cy="502920"/>
          </a:xfrm>
          <a:prstGeom prst="ellipse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3375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424242"/>
                </a:solidFill>
                <a:latin typeface="Segoe UI"/>
              </a:defRPr>
            </a:pPr>
            <a:r>
              <a:t>Multimodal AI: Text + Images + More</a:t>
            </a:r>
          </a:p>
        </p:txBody>
      </p:sp>
      <p:sp>
        <p:nvSpPr>
          <p:cNvPr id="13" name="Oval 12"/>
          <p:cNvSpPr/>
          <p:nvPr/>
        </p:nvSpPr>
        <p:spPr>
          <a:xfrm>
            <a:off x="914400" y="3840480"/>
            <a:ext cx="502920" cy="502920"/>
          </a:xfrm>
          <a:prstGeom prst="ellipse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9319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424242"/>
                </a:solidFill>
                <a:latin typeface="Segoe UI"/>
              </a:defRPr>
            </a:pPr>
            <a:r>
              <a:t>Prompting for Images vs. Text</a:t>
            </a:r>
          </a:p>
        </p:txBody>
      </p:sp>
      <p:sp>
        <p:nvSpPr>
          <p:cNvPr id="15" name="Oval 14"/>
          <p:cNvSpPr/>
          <p:nvPr/>
        </p:nvSpPr>
        <p:spPr>
          <a:xfrm>
            <a:off x="914400" y="4434840"/>
            <a:ext cx="502920" cy="502920"/>
          </a:xfrm>
          <a:prstGeom prst="ellipse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526279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424242"/>
                </a:solidFill>
                <a:latin typeface="Segoe UI"/>
              </a:defRPr>
            </a:pPr>
            <a:r>
              <a:t>Live Demo: Generate Images Together!</a:t>
            </a:r>
          </a:p>
        </p:txBody>
      </p:sp>
      <p:sp>
        <p:nvSpPr>
          <p:cNvPr id="17" name="Oval 16"/>
          <p:cNvSpPr/>
          <p:nvPr/>
        </p:nvSpPr>
        <p:spPr>
          <a:xfrm>
            <a:off x="914400" y="5029200"/>
            <a:ext cx="502920" cy="502920"/>
          </a:xfrm>
          <a:prstGeom prst="ellipse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51206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424242"/>
                </a:solidFill>
                <a:latin typeface="Segoe UI"/>
              </a:defRPr>
            </a:pPr>
            <a:r>
              <a:t>Ethics: Deepfakes &amp; Responsible Use</a:t>
            </a:r>
          </a:p>
        </p:txBody>
      </p:sp>
      <p:sp>
        <p:nvSpPr>
          <p:cNvPr id="19" name="Oval 18"/>
          <p:cNvSpPr/>
          <p:nvPr/>
        </p:nvSpPr>
        <p:spPr>
          <a:xfrm>
            <a:off x="914400" y="5623560"/>
            <a:ext cx="502920" cy="502920"/>
          </a:xfrm>
          <a:prstGeom prst="ellipse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57150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424242"/>
                </a:solidFill>
                <a:latin typeface="Segoe UI"/>
              </a:defRPr>
            </a:pPr>
            <a:r>
              <a:t>Kahoot!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 Semibold"/>
              </a:defRPr>
            </a:pPr>
            <a:r>
              <a:t>Quick Recap: How LLMs Generate 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88952" cy="73152"/>
          </a:xfrm>
          <a:prstGeom prst="rect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1828800"/>
            <a:ext cx="2926080" cy="1280160"/>
          </a:xfrm>
          <a:prstGeom prst="roundRect">
            <a:avLst/>
          </a:prstGeom>
          <a:solidFill>
            <a:srgbClr val="649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2200" b="1">
                <a:solidFill>
                  <a:srgbClr val="FFFFFF"/>
                </a:solidFill>
                <a:latin typeface="Segoe UI"/>
              </a:defRPr>
            </a:pPr>
            <a:r>
              <a:t>TOKENS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20040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424242"/>
                </a:solidFill>
                <a:latin typeface="Segoe UI"/>
              </a:defRPr>
            </a:pPr>
            <a:r>
              <a:t>Text split into</a:t>
            </a:r>
            <a:br/>
            <a:r>
              <a:t>small pieces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931920" y="2286000"/>
            <a:ext cx="548640" cy="365760"/>
          </a:xfrm>
          <a:prstGeom prst="rightArrow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0" y="1828800"/>
            <a:ext cx="2926080" cy="1280160"/>
          </a:xfrm>
          <a:prstGeom prst="roundRect">
            <a:avLst/>
          </a:prstGeom>
          <a:solidFill>
            <a:srgbClr val="3467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2200" b="1">
                <a:solidFill>
                  <a:srgbClr val="FFFFFF"/>
                </a:solidFill>
                <a:latin typeface="Segoe UI"/>
              </a:defRPr>
            </a:pPr>
            <a:r>
              <a:t>PREDICT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320040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424242"/>
                </a:solidFill>
                <a:latin typeface="Segoe UI"/>
              </a:defRPr>
            </a:pPr>
            <a:r>
              <a:t>Next token based</a:t>
            </a:r>
            <a:br/>
            <a:r>
              <a:t>on context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589520" y="2286000"/>
            <a:ext cx="548640" cy="365760"/>
          </a:xfrm>
          <a:prstGeom prst="rightArrow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29600" y="1828800"/>
            <a:ext cx="2926080" cy="1280160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2200" b="1">
                <a:solidFill>
                  <a:srgbClr val="FFFFFF"/>
                </a:solidFill>
                <a:latin typeface="Segoe UI"/>
              </a:defRPr>
            </a:pPr>
            <a:r>
              <a:t>GENERATE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320040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424242"/>
                </a:solidFill>
                <a:latin typeface="Segoe UI"/>
              </a:defRPr>
            </a:pPr>
            <a:r>
              <a:t>One token at a time</a:t>
            </a:r>
            <a:br/>
            <a:r>
              <a:t>builds the answer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5760720"/>
            <a:ext cx="10360152" cy="640080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LLMs work with TEXT. But what about IMAGES?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 Semibold"/>
              </a:defRPr>
            </a:pPr>
            <a:r>
              <a:t>What Are AI Image Models?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88952" cy="73152"/>
          </a:xfrm>
          <a:prstGeom prst="rect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424242"/>
                </a:solidFill>
                <a:latin typeface="Segoe UI"/>
              </a:defRPr>
            </a:pPr>
            <a:r>
              <a:t>AI systems that can CREATE or UNDERSTAND images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286000"/>
            <a:ext cx="3291840" cy="914400"/>
          </a:xfrm>
          <a:prstGeom prst="roundRect">
            <a:avLst/>
          </a:prstGeom>
          <a:solidFill>
            <a:srgbClr val="7E57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2000" b="1">
                <a:solidFill>
                  <a:srgbClr val="FFFFFF"/>
                </a:solidFill>
                <a:latin typeface="Segoe UI"/>
              </a:defRPr>
            </a:pPr>
            <a:r>
              <a:t>DALL-E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4612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424242"/>
                </a:solidFill>
                <a:latin typeface="Segoe UI"/>
              </a:defRPr>
            </a:pPr>
            <a:r>
              <a:t>by OpenAI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56616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424242"/>
                </a:solidFill>
                <a:latin typeface="Segoe UI"/>
              </a:defRPr>
            </a:pPr>
            <a:r>
              <a:t>Built into ChatGPT</a:t>
            </a:r>
            <a:br/>
            <a:r>
              <a:t>High quality, safe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2286000"/>
            <a:ext cx="3291840" cy="914400"/>
          </a:xfrm>
          <a:prstGeom prst="round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Midjourney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324612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424242"/>
                </a:solidFill>
                <a:latin typeface="Segoe UI"/>
              </a:defRPr>
            </a:pPr>
            <a:r>
              <a:t>Independent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356616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424242"/>
                </a:solidFill>
                <a:latin typeface="Segoe UI"/>
              </a:defRPr>
            </a:pPr>
            <a:r>
              <a:t>Beautiful art style</a:t>
            </a:r>
            <a:br/>
            <a:r>
              <a:t>Used by designers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0" y="2286000"/>
            <a:ext cx="3291840" cy="914400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Stable Diffusion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324612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424242"/>
                </a:solidFill>
                <a:latin typeface="Segoe UI"/>
              </a:defRPr>
            </a:pPr>
            <a:r>
              <a:t>Open Source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356616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424242"/>
                </a:solidFill>
                <a:latin typeface="Segoe UI"/>
              </a:defRPr>
            </a:pPr>
            <a:r>
              <a:t>Free, runs on your PC</a:t>
            </a:r>
            <a:br/>
            <a:r>
              <a:t>Highly customizable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5760720"/>
            <a:ext cx="10360152" cy="640080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800" b="1">
                <a:solidFill>
                  <a:srgbClr val="FFFFFF"/>
                </a:solidFill>
                <a:latin typeface="Segoe UI"/>
              </a:defRPr>
            </a:pPr>
            <a:r>
              <a:t>You type a text description (prompt) and the AI creates an image from scratch!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 Semibold"/>
              </a:defRPr>
            </a:pPr>
            <a:r>
              <a:t>How Are Image Models Trained?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88952" cy="73152"/>
          </a:xfrm>
          <a:prstGeom prst="rect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DD8E6"/>
                </a:solidFill>
                <a:latin typeface="Segoe UI"/>
              </a:defRPr>
            </a:pPr>
            <a:r>
              <a:t>They learn from BILLIONS of image + caption pairs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63040"/>
            <a:ext cx="11274552" cy="914400"/>
          </a:xfrm>
          <a:prstGeom prst="roundRect">
            <a:avLst/>
          </a:prstGeom>
          <a:solidFill>
            <a:srgbClr val="ADD8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3A5F"/>
                </a:solidFill>
                <a:latin typeface="Segoe UI"/>
              </a:defRPr>
            </a:pPr>
            <a:r>
              <a:t>Think of it like art school — but instead of years, it's weeks of studying billions of examples.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2651760"/>
            <a:ext cx="2743200" cy="640080"/>
          </a:xfrm>
          <a:prstGeom prst="roundRect">
            <a:avLst/>
          </a:prstGeom>
          <a:solidFill>
            <a:srgbClr val="3467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400" b="1">
                <a:solidFill>
                  <a:srgbClr val="FFFFFF"/>
                </a:solidFill>
                <a:latin typeface="Segoe UI"/>
              </a:defRPr>
            </a:pPr>
            <a:r>
              <a:t>1. Collect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383280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424242"/>
                </a:solidFill>
                <a:latin typeface="Segoe UI"/>
              </a:defRPr>
            </a:pPr>
            <a:r>
              <a:t>Billions of images from the</a:t>
            </a:r>
            <a:br/>
            <a:r>
              <a:t>internet with text descriptions</a:t>
            </a:r>
            <a:br/>
            <a:r>
              <a:t>(captions, alt text, tags)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154679" y="2834640"/>
            <a:ext cx="365760" cy="274320"/>
          </a:xfrm>
          <a:prstGeom prst="rightArrow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337560" y="2651760"/>
            <a:ext cx="2743200" cy="640080"/>
          </a:xfrm>
          <a:prstGeom prst="round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400" b="1">
                <a:solidFill>
                  <a:srgbClr val="FFFFFF"/>
                </a:solidFill>
                <a:latin typeface="Segoe UI"/>
              </a:defRPr>
            </a:pPr>
            <a:r>
              <a:t>2. Add Noise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3383280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424242"/>
                </a:solidFill>
                <a:latin typeface="Segoe UI"/>
              </a:defRPr>
            </a:pPr>
            <a:r>
              <a:t>The model learns to add random</a:t>
            </a:r>
            <a:br/>
            <a:r>
              <a:t>noise to images (blur them</a:t>
            </a:r>
            <a:br/>
            <a:r>
              <a:t>more and more)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6126479" y="2834640"/>
            <a:ext cx="365760" cy="274320"/>
          </a:xfrm>
          <a:prstGeom prst="rightArrow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309360" y="2651760"/>
            <a:ext cx="2743200" cy="640080"/>
          </a:xfrm>
          <a:prstGeom prst="roundRect">
            <a:avLst/>
          </a:prstGeom>
          <a:solidFill>
            <a:srgbClr val="7E57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400" b="1">
                <a:solidFill>
                  <a:srgbClr val="FFFFFF"/>
                </a:solidFill>
                <a:latin typeface="Segoe UI"/>
              </a:defRPr>
            </a:pPr>
            <a:r>
              <a:t>3. Learn to Denoise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3383280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424242"/>
                </a:solidFill>
                <a:latin typeface="Segoe UI"/>
              </a:defRPr>
            </a:pPr>
            <a:r>
              <a:t>Then it learns to REVERSE the</a:t>
            </a:r>
            <a:br/>
            <a:r>
              <a:t>process — remove the noise to</a:t>
            </a:r>
            <a:br/>
            <a:r>
              <a:t>get back to the original image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9098280" y="2834640"/>
            <a:ext cx="365760" cy="274320"/>
          </a:xfrm>
          <a:prstGeom prst="rightArrow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281160" y="2651760"/>
            <a:ext cx="2743200" cy="640080"/>
          </a:xfrm>
          <a:prstGeom prst="round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400" b="1">
                <a:solidFill>
                  <a:srgbClr val="FFFFFF"/>
                </a:solidFill>
                <a:latin typeface="Segoe UI"/>
              </a:defRPr>
            </a:pPr>
            <a:r>
              <a:t>4. Connect Text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3383280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424242"/>
                </a:solidFill>
                <a:latin typeface="Segoe UI"/>
              </a:defRPr>
            </a:pPr>
            <a:r>
              <a:t>It learns which text descriptions</a:t>
            </a:r>
            <a:br/>
            <a:r>
              <a:t>match which images, so your</a:t>
            </a:r>
            <a:br/>
            <a:r>
              <a:t>prompt can guide the output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5760720"/>
            <a:ext cx="10360152" cy="640080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Training takes weeks on thousands of GPUs — but once trained, generation takes seconds!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 Semibold"/>
              </a:defRPr>
            </a:pPr>
            <a:r>
              <a:t>How Do Image Models Work?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88952" cy="73152"/>
          </a:xfrm>
          <a:prstGeom prst="rect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DD8E6"/>
                </a:solidFill>
                <a:latin typeface="Segoe UI"/>
              </a:defRPr>
            </a:pPr>
            <a:r>
              <a:t>The Big Idea: Diffusion (Removing Noise)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63040"/>
            <a:ext cx="11274552" cy="1097280"/>
          </a:xfrm>
          <a:prstGeom prst="roundRect">
            <a:avLst/>
          </a:prstGeom>
          <a:solidFill>
            <a:srgbClr val="ADD8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E3A5F"/>
                </a:solidFill>
                <a:latin typeface="Segoe UI"/>
              </a:defRPr>
            </a:pPr>
            <a:r>
              <a:t>Imagine a sculptor starting with a rough block of marble...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01168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424242"/>
                </a:solidFill>
                <a:latin typeface="Segoe UI"/>
              </a:defRPr>
            </a:pPr>
            <a:r>
              <a:t>They chip away noise until a beautiful statue appears. AI image models do the same with pixels!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017520"/>
            <a:ext cx="2651760" cy="1188720"/>
          </a:xfrm>
          <a:prstGeom prst="roundRect">
            <a:avLst/>
          </a:prstGeom>
          <a:solidFill>
            <a:srgbClr val="4242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400" b="1">
                <a:solidFill>
                  <a:srgbClr val="FFFFFF"/>
                </a:solidFill>
                <a:latin typeface="Segoe UI"/>
              </a:defRPr>
            </a:pPr>
            <a:r>
              <a:t>1. Start with</a:t>
            </a:r>
            <a:br/>
            <a:r>
              <a:t>Random Noise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291840" y="3474720"/>
            <a:ext cx="457200" cy="274320"/>
          </a:xfrm>
          <a:prstGeom prst="rightArrow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74720" y="3017520"/>
            <a:ext cx="2651760" cy="1188720"/>
          </a:xfrm>
          <a:prstGeom prst="round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400" b="1">
                <a:solidFill>
                  <a:srgbClr val="FFFFFF"/>
                </a:solidFill>
                <a:latin typeface="Segoe UI"/>
              </a:defRPr>
            </a:pPr>
            <a:r>
              <a:t>2. AI Removes Noise</a:t>
            </a:r>
            <a:br/>
            <a:r>
              <a:t>(Many Steps)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217920" y="3474720"/>
            <a:ext cx="457200" cy="274320"/>
          </a:xfrm>
          <a:prstGeom prst="rightArrow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0" y="3017520"/>
            <a:ext cx="2651760" cy="1188720"/>
          </a:xfrm>
          <a:prstGeom prst="round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400" b="1">
                <a:solidFill>
                  <a:srgbClr val="FFFFFF"/>
                </a:solidFill>
                <a:latin typeface="Segoe UI"/>
              </a:defRPr>
            </a:pPr>
            <a:r>
              <a:t>3. Text Prompt</a:t>
            </a:r>
            <a:br/>
            <a:r>
              <a:t>Guides the Shape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9144000" y="3474720"/>
            <a:ext cx="457200" cy="274320"/>
          </a:xfrm>
          <a:prstGeom prst="rightArrow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326880" y="3017520"/>
            <a:ext cx="2651760" cy="118872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400" b="1">
                <a:solidFill>
                  <a:srgbClr val="FFFFFF"/>
                </a:solidFill>
                <a:latin typeface="Segoe UI"/>
              </a:defRPr>
            </a:pPr>
            <a:r>
              <a:t>4. Final Image</a:t>
            </a:r>
            <a:br/>
            <a:r>
              <a:t>Appears!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5760720"/>
            <a:ext cx="10360152" cy="640080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Diffusion = Start with noise, subtract it step by step, guided by your text prompt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 Semibold"/>
              </a:defRPr>
            </a:pPr>
            <a:r>
              <a:t>Text-to-Image: Step by Step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88952" cy="73152"/>
          </a:xfrm>
          <a:prstGeom prst="rect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1554480"/>
            <a:ext cx="2743200" cy="822960"/>
          </a:xfrm>
          <a:prstGeom prst="round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Your Prompt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31920" y="16459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424242"/>
                </a:solidFill>
                <a:latin typeface="Segoe UI"/>
              </a:defRPr>
            </a:pPr>
            <a:r>
              <a:t>A dragon reading</a:t>
            </a:r>
            <a:br/>
            <a:r>
              <a:t>a book in a library</a:t>
            </a:r>
          </a:p>
        </p:txBody>
      </p:sp>
      <p:sp>
        <p:nvSpPr>
          <p:cNvPr id="7" name="Down Arrow 6"/>
          <p:cNvSpPr/>
          <p:nvPr/>
        </p:nvSpPr>
        <p:spPr>
          <a:xfrm>
            <a:off x="2103120" y="2423160"/>
            <a:ext cx="365760" cy="228600"/>
          </a:xfrm>
          <a:prstGeom prst="downArrow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743200"/>
            <a:ext cx="2743200" cy="822960"/>
          </a:xfrm>
          <a:prstGeom prst="roundRect">
            <a:avLst/>
          </a:prstGeom>
          <a:solidFill>
            <a:srgbClr val="3467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Text Encoder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283464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424242"/>
                </a:solidFill>
                <a:latin typeface="Segoe UI"/>
              </a:defRPr>
            </a:pPr>
            <a:r>
              <a:t>Converts words into</a:t>
            </a:r>
            <a:br/>
            <a:r>
              <a:t>numbers AI understands</a:t>
            </a:r>
          </a:p>
        </p:txBody>
      </p:sp>
      <p:sp>
        <p:nvSpPr>
          <p:cNvPr id="10" name="Down Arrow 9"/>
          <p:cNvSpPr/>
          <p:nvPr/>
        </p:nvSpPr>
        <p:spPr>
          <a:xfrm>
            <a:off x="2103120" y="3611880"/>
            <a:ext cx="365760" cy="228600"/>
          </a:xfrm>
          <a:prstGeom prst="downArrow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14400" y="3931920"/>
            <a:ext cx="2743200" cy="822960"/>
          </a:xfrm>
          <a:prstGeom prst="round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Diffusion Model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4023359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424242"/>
                </a:solidFill>
                <a:latin typeface="Segoe UI"/>
              </a:defRPr>
            </a:pPr>
            <a:r>
              <a:t>Removes noise step</a:t>
            </a:r>
            <a:br/>
            <a:r>
              <a:t>by step (50-100 steps)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2103120" y="4800600"/>
            <a:ext cx="365760" cy="228600"/>
          </a:xfrm>
          <a:prstGeom prst="downArrow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14400" y="5120640"/>
            <a:ext cx="2743200" cy="82296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Final Image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521208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424242"/>
                </a:solidFill>
                <a:latin typeface="Segoe UI"/>
              </a:defRPr>
            </a:pPr>
            <a:r>
              <a:t>A brand new picture</a:t>
            </a:r>
            <a:br/>
            <a:r>
              <a:t>that never existed!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E3A5F"/>
                </a:solidFill>
                <a:latin typeface="Segoe UI"/>
              </a:defRPr>
            </a:pPr>
            <a:r>
              <a:t>Key: The image is NOT copied from anywhere. It's generated from learned patterns!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 Semibold"/>
              </a:defRPr>
            </a:pPr>
            <a:r>
              <a:t>Multimodal AI: Beyond Just 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88952" cy="73152"/>
          </a:xfrm>
          <a:prstGeom prst="rect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424242"/>
                </a:solidFill>
                <a:latin typeface="Segoe UI"/>
              </a:defRPr>
            </a:pPr>
            <a:r>
              <a:t>Multimodal = AI that understands AND generates MULTIPLE types of data</a:t>
            </a:r>
          </a:p>
        </p:txBody>
      </p:sp>
      <p:sp>
        <p:nvSpPr>
          <p:cNvPr id="6" name="Oval 5"/>
          <p:cNvSpPr/>
          <p:nvPr/>
        </p:nvSpPr>
        <p:spPr>
          <a:xfrm>
            <a:off x="1280160" y="2194560"/>
            <a:ext cx="1371600" cy="1371600"/>
          </a:xfrm>
          <a:prstGeom prst="ellipse">
            <a:avLst/>
          </a:prstGeom>
          <a:solidFill>
            <a:srgbClr val="3467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Text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749039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424242"/>
                </a:solidFill>
                <a:latin typeface="Segoe UI"/>
              </a:defRPr>
            </a:pPr>
            <a:r>
              <a:t>Read &amp; write</a:t>
            </a:r>
            <a:br/>
            <a:r>
              <a:t>words</a:t>
            </a:r>
          </a:p>
        </p:txBody>
      </p:sp>
      <p:sp>
        <p:nvSpPr>
          <p:cNvPr id="8" name="Oval 7"/>
          <p:cNvSpPr/>
          <p:nvPr/>
        </p:nvSpPr>
        <p:spPr>
          <a:xfrm>
            <a:off x="4206240" y="2194560"/>
            <a:ext cx="1371600" cy="1371600"/>
          </a:xfrm>
          <a:prstGeom prst="ellipse">
            <a:avLst/>
          </a:prstGeom>
          <a:solidFill>
            <a:srgbClr val="7E57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Images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3749039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424242"/>
                </a:solidFill>
                <a:latin typeface="Segoe UI"/>
              </a:defRPr>
            </a:pPr>
            <a:r>
              <a:t>See &amp; create</a:t>
            </a:r>
            <a:br/>
            <a:r>
              <a:t>pictures</a:t>
            </a:r>
          </a:p>
        </p:txBody>
      </p:sp>
      <p:sp>
        <p:nvSpPr>
          <p:cNvPr id="10" name="Oval 9"/>
          <p:cNvSpPr/>
          <p:nvPr/>
        </p:nvSpPr>
        <p:spPr>
          <a:xfrm>
            <a:off x="7132320" y="2194560"/>
            <a:ext cx="1371600" cy="1371600"/>
          </a:xfrm>
          <a:prstGeom prst="ellipse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Audio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3749039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424242"/>
                </a:solidFill>
                <a:latin typeface="Segoe UI"/>
              </a:defRPr>
            </a:pPr>
            <a:r>
              <a:t>Hear &amp; speak</a:t>
            </a:r>
            <a:br/>
            <a:r>
              <a:t>(voice)</a:t>
            </a:r>
          </a:p>
        </p:txBody>
      </p:sp>
      <p:sp>
        <p:nvSpPr>
          <p:cNvPr id="12" name="Oval 11"/>
          <p:cNvSpPr/>
          <p:nvPr/>
        </p:nvSpPr>
        <p:spPr>
          <a:xfrm>
            <a:off x="10058400" y="2194560"/>
            <a:ext cx="1371600" cy="1371600"/>
          </a:xfrm>
          <a:prstGeom prst="ellipse">
            <a:avLst/>
          </a:prstGeom>
          <a:solidFill>
            <a:srgbClr val="EC40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Video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0" y="3749039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424242"/>
                </a:solidFill>
                <a:latin typeface="Segoe UI"/>
              </a:defRPr>
            </a:pPr>
            <a:r>
              <a:t>Watch &amp; make</a:t>
            </a:r>
            <a:br/>
            <a:r>
              <a:t>clips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572000"/>
            <a:ext cx="11274552" cy="1097280"/>
          </a:xfrm>
          <a:prstGeom prst="roundRect">
            <a:avLst/>
          </a:prstGeom>
          <a:solidFill>
            <a:srgbClr val="ADD8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46634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3A5F"/>
                </a:solidFill>
                <a:latin typeface="Segoe UI"/>
              </a:defRPr>
            </a:pPr>
            <a:r>
              <a:t>Examples You Can Try Today: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02920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24242"/>
                </a:solidFill>
                <a:latin typeface="Segoe UI"/>
              </a:defRPr>
            </a:pPr>
            <a:r>
              <a:t>GPT-4o: Upload a photo and ask questions about it  |  Gemini: Describe an image and it explains what's in it  |  Claude: Analyze charts, screenshots, and documents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 Semibold"/>
              </a:defRPr>
            </a:pPr>
            <a:r>
              <a:t>Prompting for Images vs. 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88952" cy="73152"/>
          </a:xfrm>
          <a:prstGeom prst="rect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5486400" cy="548640"/>
          </a:xfrm>
          <a:prstGeom prst="roundRect">
            <a:avLst/>
          </a:prstGeom>
          <a:solidFill>
            <a:srgbClr val="3467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500" b="1">
                <a:solidFill>
                  <a:srgbClr val="FFFFFF"/>
                </a:solidFill>
                <a:latin typeface="Segoe UI"/>
              </a:defRPr>
            </a:pPr>
            <a:r>
              <a:t>Text Prompts (what you know)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554480"/>
            <a:ext cx="5486400" cy="548640"/>
          </a:xfrm>
          <a:prstGeom prst="roundRect">
            <a:avLst/>
          </a:prstGeom>
          <a:solidFill>
            <a:srgbClr val="7E57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500" b="1">
                <a:solidFill>
                  <a:srgbClr val="FFFFFF"/>
                </a:solidFill>
                <a:latin typeface="Segoe UI"/>
              </a:defRPr>
            </a:pPr>
            <a:r>
              <a:t>Image Prompts (new today!)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24242"/>
                </a:solidFill>
                <a:latin typeface="Segoe UI"/>
              </a:defRPr>
            </a:pPr>
            <a:r>
              <a:t>• Role, Task, Context, Format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2860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24242"/>
                </a:solidFill>
                <a:latin typeface="Segoe UI"/>
              </a:defRPr>
            </a:pPr>
            <a:r>
              <a:t>• Subject, Style, Lighting, Mood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8892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24242"/>
                </a:solidFill>
                <a:latin typeface="Segoe UI"/>
              </a:defRPr>
            </a:pPr>
            <a:r>
              <a:t>• Be specific about what you want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78892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24242"/>
                </a:solidFill>
                <a:latin typeface="Segoe UI"/>
              </a:defRPr>
            </a:pPr>
            <a:r>
              <a:t>• Describe what the image LOOKS like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29184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24242"/>
                </a:solidFill>
                <a:latin typeface="Segoe UI"/>
              </a:defRPr>
            </a:pPr>
            <a:r>
              <a:t>• Chain-of-thought for reasoning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29184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24242"/>
                </a:solidFill>
                <a:latin typeface="Segoe UI"/>
              </a:defRPr>
            </a:pPr>
            <a:r>
              <a:t>• Mention art style (cartoon, realistic, pixel art)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9476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24242"/>
                </a:solidFill>
                <a:latin typeface="Segoe UI"/>
              </a:defRPr>
            </a:pPr>
            <a:r>
              <a:t>• More words = more detail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79476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24242"/>
                </a:solidFill>
                <a:latin typeface="Segoe UI"/>
              </a:defRPr>
            </a:pPr>
            <a:r>
              <a:t>• More descriptive = more detailed image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480560"/>
            <a:ext cx="11274552" cy="1645920"/>
          </a:xfrm>
          <a:prstGeom prst="roundRect">
            <a:avLst/>
          </a:prstGeom>
          <a:solidFill>
            <a:srgbClr val="F5F5F5"/>
          </a:solidFill>
          <a:ln w="25400">
            <a:solidFill>
              <a:srgbClr val="3467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45720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44336"/>
                </a:solidFill>
                <a:latin typeface="Segoe UI"/>
              </a:defRPr>
            </a:pPr>
            <a:r>
              <a:t>Bad image prompt: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8920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24242"/>
                </a:solidFill>
                <a:latin typeface="Segoe UI"/>
              </a:defRPr>
            </a:pPr>
            <a:r>
              <a:t>"Make me a dog picture"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45720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CAF50"/>
                </a:solidFill>
                <a:latin typeface="Segoe UI"/>
              </a:defRPr>
            </a:pPr>
            <a:r>
              <a:t>Great image prompt: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4892040"/>
            <a:ext cx="5303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24242"/>
                </a:solidFill>
                <a:latin typeface="Segoe UI"/>
              </a:defRPr>
            </a:pPr>
            <a:r>
              <a:t>"A golden retriever puppy sitting in a field of sunflowers,</a:t>
            </a:r>
            <a:br/>
            <a:r>
              <a:t>watercolor painting style, warm sunset lighting, happy mood"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 Semibold"/>
              </a:defRPr>
            </a:pPr>
            <a:r>
              <a:t>Live Demo Time!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88952" cy="73152"/>
          </a:xfrm>
          <a:prstGeom prst="rect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424242"/>
                </a:solidFill>
                <a:latin typeface="Segoe UI"/>
              </a:defRPr>
            </a:pPr>
            <a:r>
              <a:t>Let's generate images together and see what happens!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377440"/>
            <a:ext cx="2011680" cy="777240"/>
          </a:xfrm>
          <a:prstGeom prst="round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Demo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2468880"/>
            <a:ext cx="8229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424242"/>
                </a:solidFill>
                <a:latin typeface="Segoe UI"/>
              </a:defRPr>
            </a:pPr>
            <a:r>
              <a:t>Same prompt, different tools</a:t>
            </a:r>
            <a:br/>
            <a:r>
              <a:t>(ChatGPT vs. Gemini)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3383280"/>
            <a:ext cx="2011680" cy="777240"/>
          </a:xfrm>
          <a:prstGeom prst="round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Demo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3474720"/>
            <a:ext cx="8229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424242"/>
                </a:solidFill>
                <a:latin typeface="Segoe UI"/>
              </a:defRPr>
            </a:pPr>
            <a:r>
              <a:t>Vague prompt vs. detailed prompt</a:t>
            </a:r>
            <a:br/>
            <a:r>
              <a:t>(see the quality difference!)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4389120"/>
            <a:ext cx="2011680" cy="777240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Demo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4480560"/>
            <a:ext cx="8229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424242"/>
                </a:solidFill>
                <a:latin typeface="Segoe UI"/>
              </a:defRPr>
            </a:pPr>
            <a:r>
              <a:t>Upload a photo and ask AI about it</a:t>
            </a:r>
            <a:br/>
            <a:r>
              <a:t>(multimodal in action)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5394960"/>
            <a:ext cx="2011680" cy="777240"/>
          </a:xfrm>
          <a:prstGeom prst="roundRect">
            <a:avLst/>
          </a:prstGeom>
          <a:solidFill>
            <a:srgbClr val="EC40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Demo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5486400"/>
            <a:ext cx="8229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424242"/>
                </a:solidFill>
                <a:latin typeface="Segoe UI"/>
              </a:defRPr>
            </a:pPr>
            <a:r>
              <a:t>Try to make AI generate something</a:t>
            </a:r>
            <a:br/>
            <a:r>
              <a:t>impossible or weird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 Semibold"/>
              </a:defRPr>
            </a:pPr>
            <a:r>
              <a:t>The Dark Side: Deepfakes &amp; Misuse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88952" cy="73152"/>
          </a:xfrm>
          <a:prstGeom prst="rect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DD8E6"/>
                </a:solidFill>
                <a:latin typeface="Segoe UI"/>
              </a:defRPr>
            </a:pPr>
            <a:r>
              <a:t>With great power comes great responsibility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2286000" cy="77724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400" b="1">
                <a:solidFill>
                  <a:srgbClr val="FFFFFF"/>
                </a:solidFill>
                <a:latin typeface="Segoe UI"/>
              </a:defRPr>
            </a:pPr>
            <a:r>
              <a:t>Deepfakes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1691639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24242"/>
                </a:solidFill>
                <a:latin typeface="Segoe UI"/>
              </a:defRPr>
            </a:pPr>
            <a:r>
              <a:t>Fake photos/videos of real people — used for bullying or scams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606039"/>
            <a:ext cx="2286000" cy="777240"/>
          </a:xfrm>
          <a:prstGeom prst="roundRect">
            <a:avLst/>
          </a:prstGeom>
          <a:solidFill>
            <a:srgbClr val="EC40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400" b="1">
                <a:solidFill>
                  <a:srgbClr val="FFFFFF"/>
                </a:solidFill>
                <a:latin typeface="Segoe UI"/>
              </a:defRPr>
            </a:pPr>
            <a:r>
              <a:t>Misinformation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2743199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24242"/>
                </a:solidFill>
                <a:latin typeface="Segoe UI"/>
              </a:defRPr>
            </a:pPr>
            <a:r>
              <a:t>AI-generated images can spread false news and fool people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657600"/>
            <a:ext cx="2286000" cy="777240"/>
          </a:xfrm>
          <a:prstGeom prst="roundRect">
            <a:avLst/>
          </a:prstGeom>
          <a:solidFill>
            <a:srgbClr val="7E57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400" b="1">
                <a:solidFill>
                  <a:srgbClr val="FFFFFF"/>
                </a:solidFill>
                <a:latin typeface="Segoe UI"/>
              </a:defRPr>
            </a:pPr>
            <a:r>
              <a:t>Artist Concerns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3794760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24242"/>
                </a:solidFill>
                <a:latin typeface="Segoe UI"/>
              </a:defRPr>
            </a:pPr>
            <a:r>
              <a:t>AI trained on artists' work without permission — is that fair?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709159"/>
            <a:ext cx="2286000" cy="777240"/>
          </a:xfrm>
          <a:prstGeom prst="roundRect">
            <a:avLst/>
          </a:prstGeom>
          <a:solidFill>
            <a:srgbClr val="4242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400" b="1">
                <a:solidFill>
                  <a:srgbClr val="FFFFFF"/>
                </a:solidFill>
                <a:latin typeface="Segoe UI"/>
              </a:defRPr>
            </a:pPr>
            <a:r>
              <a:t>Identity Theft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0" y="4846320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24242"/>
                </a:solidFill>
                <a:latin typeface="Segoe UI"/>
              </a:defRPr>
            </a:pPr>
            <a:r>
              <a:t>Fake profile pictures, impersonation, fraud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5760720"/>
            <a:ext cx="10360152" cy="640080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RULE: Never create fake images of real people. Always think before you share.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 Semibold"/>
              </a:defRPr>
            </a:pPr>
            <a:r>
              <a:t>How to Spot AI-Generated Images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88952" cy="73152"/>
          </a:xfrm>
          <a:prstGeom prst="rect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1554480"/>
            <a:ext cx="640080" cy="640080"/>
          </a:xfrm>
          <a:prstGeom prst="ellipse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16002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E3A5F"/>
                </a:solidFill>
                <a:latin typeface="Segoe UI"/>
              </a:defRPr>
            </a:pPr>
            <a:r>
              <a:t>Hands &amp; Fingers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60020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24242"/>
                </a:solidFill>
                <a:latin typeface="Segoe UI"/>
              </a:defRPr>
            </a:pPr>
            <a:r>
              <a:t>Often too many or too few fingers, weird poses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2468880"/>
            <a:ext cx="640080" cy="640080"/>
          </a:xfrm>
          <a:prstGeom prst="ellipse">
            <a:avLst/>
          </a:prstGeom>
          <a:solidFill>
            <a:srgbClr val="7E57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5146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E3A5F"/>
                </a:solidFill>
                <a:latin typeface="Segoe UI"/>
              </a:defRPr>
            </a:pPr>
            <a:r>
              <a:t>Text in Images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51460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24242"/>
                </a:solidFill>
                <a:latin typeface="Segoe UI"/>
              </a:defRPr>
            </a:pPr>
            <a:r>
              <a:t>AI-generated text is usually garbled or misspelled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383280"/>
            <a:ext cx="640080" cy="640080"/>
          </a:xfrm>
          <a:prstGeom prst="ellipse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4290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E3A5F"/>
                </a:solidFill>
                <a:latin typeface="Segoe UI"/>
              </a:defRPr>
            </a:pPr>
            <a:r>
              <a:t>Background Details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42900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24242"/>
                </a:solidFill>
                <a:latin typeface="Segoe UI"/>
              </a:defRPr>
            </a:pPr>
            <a:r>
              <a:t>Look for melting objects, impossible architecture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4297680"/>
            <a:ext cx="640080" cy="640080"/>
          </a:xfrm>
          <a:prstGeom prst="ellipse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43434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E3A5F"/>
                </a:solidFill>
                <a:latin typeface="Segoe UI"/>
              </a:defRPr>
            </a:pPr>
            <a:r>
              <a:t>Too Perfect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34340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24242"/>
                </a:solidFill>
                <a:latin typeface="Segoe UI"/>
              </a:defRPr>
            </a:pPr>
            <a:r>
              <a:t>Skin too smooth, lighting too even, no imperfections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5212080"/>
            <a:ext cx="640080" cy="640080"/>
          </a:xfrm>
          <a:prstGeom prst="ellipse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52578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E3A5F"/>
                </a:solidFill>
                <a:latin typeface="Segoe UI"/>
              </a:defRPr>
            </a:pPr>
            <a:r>
              <a:t>Context Clues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920" y="525780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24242"/>
                </a:solidFill>
                <a:latin typeface="Segoe UI"/>
              </a:defRPr>
            </a:pPr>
            <a:r>
              <a:t>Check the source — who shared it and why?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5760720"/>
            <a:ext cx="10360152" cy="640080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When in doubt, reverse image search or check the source!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 Semibold"/>
              </a:defRPr>
            </a:pPr>
            <a:r>
              <a:t>Key Vocabulary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88952" cy="73152"/>
          </a:xfrm>
          <a:prstGeom prst="rect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463040"/>
            <a:ext cx="2560320" cy="594360"/>
          </a:xfrm>
          <a:prstGeom prst="roundRect">
            <a:avLst/>
          </a:prstGeom>
          <a:solidFill>
            <a:srgbClr val="7E57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300" b="1">
                <a:solidFill>
                  <a:srgbClr val="FFFFFF"/>
                </a:solidFill>
                <a:latin typeface="Segoe UI"/>
              </a:defRPr>
            </a:pPr>
            <a:r>
              <a:t>Text-to-Image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554480"/>
            <a:ext cx="8412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24242"/>
                </a:solidFill>
                <a:latin typeface="Segoe UI"/>
              </a:defRPr>
            </a:pPr>
            <a:r>
              <a:t>AI model that creates pictures from text descriptions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240280"/>
            <a:ext cx="2560320" cy="594360"/>
          </a:xfrm>
          <a:prstGeom prst="round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300" b="1">
                <a:solidFill>
                  <a:srgbClr val="FFFFFF"/>
                </a:solidFill>
                <a:latin typeface="Segoe UI"/>
              </a:defRPr>
            </a:pPr>
            <a:r>
              <a:t>Diffusion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2331720"/>
            <a:ext cx="8412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24242"/>
                </a:solidFill>
                <a:latin typeface="Segoe UI"/>
              </a:defRPr>
            </a:pPr>
            <a:r>
              <a:t>The process of removing noise step by step to create an image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017520"/>
            <a:ext cx="2560320" cy="594360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300" b="1">
                <a:solidFill>
                  <a:srgbClr val="FFFFFF"/>
                </a:solidFill>
                <a:latin typeface="Segoe UI"/>
              </a:defRPr>
            </a:pPr>
            <a:r>
              <a:t>Multimodal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3108960"/>
            <a:ext cx="8412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24242"/>
                </a:solidFill>
                <a:latin typeface="Segoe UI"/>
              </a:defRPr>
            </a:pPr>
            <a:r>
              <a:t>AI that works with multiple types of data (text + image + audio)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794760"/>
            <a:ext cx="2560320" cy="59436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300" b="1">
                <a:solidFill>
                  <a:srgbClr val="FFFFFF"/>
                </a:solidFill>
                <a:latin typeface="Segoe UI"/>
              </a:defRPr>
            </a:pPr>
            <a:r>
              <a:t>Deepfake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3886200"/>
            <a:ext cx="8412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24242"/>
                </a:solidFill>
                <a:latin typeface="Segoe UI"/>
              </a:defRPr>
            </a:pPr>
            <a:r>
              <a:t>AI-generated fake image or video of a real person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572000"/>
            <a:ext cx="2560320" cy="594360"/>
          </a:xfrm>
          <a:prstGeom prst="round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300" b="1">
                <a:solidFill>
                  <a:srgbClr val="FFFFFF"/>
                </a:solidFill>
                <a:latin typeface="Segoe UI"/>
              </a:defRPr>
            </a:pPr>
            <a:r>
              <a:t>Image Prompt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4663440"/>
            <a:ext cx="8412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24242"/>
                </a:solidFill>
                <a:latin typeface="Segoe UI"/>
              </a:defRPr>
            </a:pPr>
            <a:r>
              <a:t>The text description you give to an image generator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5349240"/>
            <a:ext cx="2560320" cy="594360"/>
          </a:xfrm>
          <a:prstGeom prst="roundRect">
            <a:avLst/>
          </a:prstGeom>
          <a:solidFill>
            <a:srgbClr val="EC40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300" b="1">
                <a:solidFill>
                  <a:srgbClr val="FFFFFF"/>
                </a:solidFill>
                <a:latin typeface="Segoe UI"/>
              </a:defRPr>
            </a:pPr>
            <a:r>
              <a:t>Style Transfer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5440679"/>
            <a:ext cx="8412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24242"/>
                </a:solidFill>
                <a:latin typeface="Segoe UI"/>
              </a:defRPr>
            </a:pPr>
            <a:r>
              <a:t>Applying one artistic style to another image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 Semibold"/>
              </a:defRPr>
            </a:pPr>
            <a:r>
              <a:t>Today's Key Takeaways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88952" cy="73152"/>
          </a:xfrm>
          <a:prstGeom prst="rect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31520" y="1508760"/>
            <a:ext cx="502920" cy="502920"/>
          </a:xfrm>
          <a:prstGeom prst="ellipse">
            <a:avLst/>
          </a:prstGeom>
          <a:solidFill>
            <a:srgbClr val="3467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15544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424242"/>
                </a:solidFill>
                <a:latin typeface="Segoe UI"/>
              </a:defRPr>
            </a:pPr>
            <a:r>
              <a:t>AI can generate images from text using diffusion (noise removal)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2286000"/>
            <a:ext cx="502920" cy="502920"/>
          </a:xfrm>
          <a:prstGeom prst="ellipse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331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424242"/>
                </a:solidFill>
                <a:latin typeface="Segoe UI"/>
              </a:defRPr>
            </a:pPr>
            <a:r>
              <a:t>Multimodal AI understands text, images, audio, and video together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3063239"/>
            <a:ext cx="502920" cy="502920"/>
          </a:xfrm>
          <a:prstGeom prst="ellipse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31089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424242"/>
                </a:solidFill>
                <a:latin typeface="Segoe UI"/>
              </a:defRPr>
            </a:pPr>
            <a:r>
              <a:t>Better prompts = better images (describe subject, style, lighting, mood)</a:t>
            </a:r>
          </a:p>
        </p:txBody>
      </p:sp>
      <p:sp>
        <p:nvSpPr>
          <p:cNvPr id="11" name="Oval 10"/>
          <p:cNvSpPr/>
          <p:nvPr/>
        </p:nvSpPr>
        <p:spPr>
          <a:xfrm>
            <a:off x="731520" y="3840480"/>
            <a:ext cx="502920" cy="502920"/>
          </a:xfrm>
          <a:prstGeom prst="ellipse">
            <a:avLst/>
          </a:prstGeom>
          <a:solidFill>
            <a:srgbClr val="7E57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886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424242"/>
                </a:solidFill>
                <a:latin typeface="Segoe UI"/>
              </a:defRPr>
            </a:pPr>
            <a:r>
              <a:t>AI images are NOT copied — they're generated from learned patterns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4617720"/>
            <a:ext cx="502920" cy="502920"/>
          </a:xfrm>
          <a:prstGeom prst="ellipse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46634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424242"/>
                </a:solidFill>
                <a:latin typeface="Segoe UI"/>
              </a:defRPr>
            </a:pPr>
            <a:r>
              <a:t>Deepfakes are dangerous — never make fake images of real people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5394959"/>
            <a:ext cx="502920" cy="502920"/>
          </a:xfrm>
          <a:prstGeom prst="ellipse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5440679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424242"/>
                </a:solidFill>
                <a:latin typeface="Segoe UI"/>
              </a:defRPr>
            </a:pPr>
            <a:r>
              <a:t>Always check if an image is AI-generated before trusting or sharing it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463040"/>
            <a:ext cx="1218895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0" b="0">
                <a:solidFill>
                  <a:srgbClr val="FFFFFF"/>
                </a:solidFill>
                <a:latin typeface="Segoe UI"/>
              </a:defRPr>
            </a:pPr>
            <a:r>
              <a:t>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200400"/>
            <a:ext cx="121889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  <a:latin typeface="Segoe UI Semibold"/>
              </a:defRPr>
            </a:pPr>
            <a:r>
              <a:t>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663440"/>
            <a:ext cx="121889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ADD8E6"/>
                </a:solidFill>
                <a:latin typeface="Segoe UI"/>
              </a:defRPr>
            </a:pPr>
            <a:r>
              <a:t>Any questions before the Kahoot?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