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554480"/>
            <a:ext cx="9966960" cy="2834639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3A5F"/>
                </a:solidFill>
                <a:latin typeface="Segoe UI Semibold"/>
              </a:defRPr>
            </a:pPr>
            <a:r>
              <a:t>How AI Agents</a:t>
            </a:r>
            <a:br/>
            <a:r>
              <a:t>Actually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79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E3A5F"/>
                </a:solidFill>
                <a:latin typeface="Segoe UI"/>
              </a:defRPr>
            </a:pPr>
            <a:r>
              <a:t>Inside the Loop — Tools, Memory, and Why It All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DD8E6"/>
                </a:solidFill>
                <a:latin typeface="Segoe UI"/>
              </a:defRPr>
            </a:pPr>
            <a:r>
              <a:t>May 2,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754880"/>
            <a:ext cx="6702552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12064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Week 4 of the AI Phase  |  Kids Computer Science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463040"/>
            <a:ext cx="502920" cy="50292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Quick Recap: What Is an AI Agent?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The LLM Brain — How It Thinks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51760"/>
            <a:ext cx="502920" cy="50292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System Prompts &amp; Context Windows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246120"/>
            <a:ext cx="502920" cy="50292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337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Tools — How an Agent Takes Action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840480"/>
            <a:ext cx="502920" cy="50292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31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Live Demo: Same Task, Three Ways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52627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Why Agents Sometimes Fail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029200"/>
            <a:ext cx="502920" cy="50292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20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Hands-On: Agent Trace Lab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62356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715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Kahoot!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Quick Recap: Last Week's Agent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1828800"/>
            <a:ext cx="1463040" cy="146304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Plan what to do</a:t>
            </a:r>
          </a:p>
        </p:txBody>
      </p:sp>
      <p:sp>
        <p:nvSpPr>
          <p:cNvPr id="7" name="Oval 6"/>
          <p:cNvSpPr/>
          <p:nvPr/>
        </p:nvSpPr>
        <p:spPr>
          <a:xfrm>
            <a:off x="3886200" y="1828800"/>
            <a:ext cx="1463040" cy="146304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Use a tool</a:t>
            </a:r>
          </a:p>
        </p:txBody>
      </p:sp>
      <p:sp>
        <p:nvSpPr>
          <p:cNvPr id="9" name="Oval 8"/>
          <p:cNvSpPr/>
          <p:nvPr/>
        </p:nvSpPr>
        <p:spPr>
          <a:xfrm>
            <a:off x="6720840" y="1828800"/>
            <a:ext cx="1463040" cy="146304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Look at result</a:t>
            </a:r>
          </a:p>
        </p:txBody>
      </p:sp>
      <p:sp>
        <p:nvSpPr>
          <p:cNvPr id="11" name="Oval 10"/>
          <p:cNvSpPr/>
          <p:nvPr/>
        </p:nvSpPr>
        <p:spPr>
          <a:xfrm>
            <a:off x="9555480" y="1828800"/>
            <a:ext cx="1463040" cy="146304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REPEAT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Until done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103120" y="2468880"/>
            <a:ext cx="640080" cy="365760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4937760" y="2468880"/>
            <a:ext cx="640080" cy="365760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772400" y="2468880"/>
            <a:ext cx="640080" cy="365760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Today: HOW does the agent decide what to do at each step?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Segoe UI Semibold"/>
              </a:defRPr>
            </a:pPr>
            <a:r>
              <a:t>But HOW does it actually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DD8E6"/>
                </a:solidFill>
                <a:latin typeface="Segoe UI"/>
              </a:defRPr>
            </a:pPr>
            <a:r>
              <a:t>Last week we saw what agents can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933"/>
                </a:solidFill>
                <a:latin typeface="Segoe UI"/>
              </a:defRPr>
            </a:pPr>
            <a:r>
              <a:t>Today we open the hood.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The LLM Brain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It's just predicting the next word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017520" cy="137160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Segoe UI"/>
              </a:defRPr>
            </a:pPr>
            <a:r>
              <a:t>YOU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"The capital of France is..."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57600" y="2331720"/>
            <a:ext cx="731520" cy="365760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200400" cy="137160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LLM PREDICTS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Most likely next word?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72400" y="2331720"/>
            <a:ext cx="731520" cy="365760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95360" y="1828800"/>
            <a:ext cx="3017520" cy="13716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377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"Paris"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10360152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4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06908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Segoe UI"/>
              </a:defRPr>
            </a:pPr>
            <a:r>
              <a:t>It does this OVER and OVER, one word at a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34840"/>
            <a:ext cx="9784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A long answer is just hundreds of "predict the next word" steps in a row.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An LLM doesn't 'know' answers — it predicts text that sounds right.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The System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Hidden instructions you never see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10360152" cy="1371600"/>
          </a:xfrm>
          <a:prstGeom prst="roundRect">
            <a:avLst/>
          </a:prstGeom>
          <a:solidFill>
            <a:srgbClr val="F44336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9164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SYSTEM PROMPT (hidden)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9784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"You are a helpful tutor for kids ages 10-15. Be patient. Never share personal info. If unsure, say so."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08960"/>
            <a:ext cx="10360152" cy="91440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4612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Segoe UI"/>
              </a:defRPr>
            </a:pPr>
            <a:r>
              <a:t>USER MESSAGE (what you type)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2044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"Help me with my math homework."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97680"/>
            <a:ext cx="5394960" cy="82296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Set by the AI company or developer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297680"/>
            <a:ext cx="5394960" cy="82296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Tells the AI HOW to behave &amp; rules to follow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Every AI you use has a hidden system prompt shaping its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The Context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The agent's working memory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303520" cy="32918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Segoe UI"/>
              </a:defRPr>
            </a:pPr>
            <a:r>
              <a:t>Think of a Whiteboard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• It only fits so much text at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• Once full, old stuff gets erased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• The AI can ONLY see what's on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94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• When you start a new chat -&gt; new whiteboard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329184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How Big Is 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Older chatbots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D8E6"/>
                </a:solidFill>
                <a:latin typeface="Segoe UI"/>
              </a:defRPr>
            </a:pPr>
            <a:r>
              <a:t>~4,000 words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Modern AI (GPT-4o)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788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D8E6"/>
                </a:solidFill>
                <a:latin typeface="Segoe UI"/>
              </a:defRPr>
            </a:pPr>
            <a:r>
              <a:t>~100,000 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Claude / Gemini 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D8E6"/>
                </a:solidFill>
                <a:latin typeface="Segoe UI"/>
              </a:defRPr>
            </a:pPr>
            <a:r>
              <a:t>~750,000 - 1.5M 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94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Still — there is ALWAYS a limit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794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D8E6"/>
                </a:solidFill>
                <a:latin typeface="Segoe U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If the chat gets too long, the AI 'forgets' the early parts.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What turns an LLM into an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3A5F"/>
                </a:solidFill>
                <a:latin typeface="Segoe UI"/>
              </a:defRPr>
            </a:pPr>
            <a:r>
              <a:t>An LLM only outputs text. Tools let the agent DO things.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3657600" cy="128016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Web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Look up live info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377440"/>
            <a:ext cx="3657600" cy="128016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Code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3063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Run real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377440"/>
            <a:ext cx="3657600" cy="128016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Image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063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Create pictures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31920"/>
            <a:ext cx="3657600" cy="12801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114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File Reader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617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Read your docs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931920"/>
            <a:ext cx="3657600" cy="12801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79" y="4114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Email / Calendar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4617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Send &amp; schedule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3931920"/>
            <a:ext cx="3657600" cy="128016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4114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Browser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617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Click &amp; type for 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Different tools = different superpowers. More tools = more capable agent.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How a Tool Call Actually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Like ordering at a restaurant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651760" cy="219456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AI THINKS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1. AI says</a:t>
            </a:r>
            <a:br/>
            <a:r>
              <a:t>'I need to search'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4680" y="2743200"/>
            <a:ext cx="228600" cy="365760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828800"/>
            <a:ext cx="2651760" cy="219456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688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2. Request goes</a:t>
            </a:r>
            <a:br/>
            <a:r>
              <a:t>to a server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80760" y="2743200"/>
            <a:ext cx="228600" cy="365760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2651760" cy="21945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TOOL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3. Server runs</a:t>
            </a:r>
            <a:br/>
            <a:r>
              <a:t>the search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06840" y="2743200"/>
            <a:ext cx="228600" cy="365760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5440" y="1828800"/>
            <a:ext cx="2651760" cy="219456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AI READS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4688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4. Result comes</a:t>
            </a:r>
            <a:br/>
            <a:r>
              <a:t>back to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297680"/>
            <a:ext cx="10360152" cy="91440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434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Segoe UI"/>
              </a:defRPr>
            </a:pPr>
            <a:r>
              <a:t>AI CONNECTION: Every tool call is an HTTP request — just like loading a website!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AI doesn't 'do' the search. It asks another program to do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Walkthrough: Booking a Trip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The loop in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08792" cy="64008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3A5F"/>
                </a:solidFill>
                <a:latin typeface="Segoe UI"/>
              </a:defRPr>
            </a:pPr>
            <a:r>
              <a:t>"Find me a cheap flight from SFO to NYC next month and email it to my mom."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1280160" cy="9601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7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THINK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423160"/>
            <a:ext cx="4023360" cy="960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69747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I need flight prices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423160"/>
            <a:ext cx="1280160" cy="9601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69747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423160"/>
            <a:ext cx="4023360" cy="960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80" y="269747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Search: 'SFO to NYC June flights'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1280160" cy="96012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404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OBSERVE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3566160"/>
            <a:ext cx="4023360" cy="960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3840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Cheapest is $189 on JetBlue.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566160"/>
            <a:ext cx="1280160" cy="9601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8404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THINK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3566160"/>
            <a:ext cx="4023360" cy="960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80" y="3840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Now I need mom's email address.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709160"/>
            <a:ext cx="1280160" cy="9601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9834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4709160"/>
            <a:ext cx="4023360" cy="960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4983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Send email with flight details.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709160"/>
            <a:ext cx="1280160" cy="96012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9834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OBSERVE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4709160"/>
            <a:ext cx="4023360" cy="960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6680" y="4983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Email sent successfully.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One user request = many small loop steps behind the scenes.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Reasoning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When the AI 'thinks out loud'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3A5F"/>
                </a:solidFill>
                <a:latin typeface="Segoe UI"/>
              </a:defRPr>
            </a:pPr>
            <a:r>
              <a:t>Modern agents show their thinking BEFORE they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9445752" cy="23774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423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73AB7"/>
                </a:solidFill>
                <a:latin typeface="Segoe UI"/>
              </a:defRPr>
            </a:pPr>
            <a:r>
              <a:t>[Agent thinking...]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889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• Hmm, the user wants the cheapest flight.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081527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• First I should figure out their dates.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37413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• They said 'next month' — that's June 2026.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66674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• I should search a flight site for SFO -&gt; NYC in June.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5935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• Then compare prices and pick the lowest.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251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• Then I'll need to find mom's email...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937760"/>
            <a:ext cx="10360152" cy="77724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074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3A5F"/>
                </a:solidFill>
                <a:latin typeface="Segoe UI"/>
              </a:defRPr>
            </a:pPr>
            <a:r>
              <a:t>WHY IT MATTERS: You can SEE if the agent's plan is right — and stop it before it does something wrong.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Reasoning makes agents more trustworthy — you see the plan 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Chatbot vs. Assistant vs.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291840" cy="5486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1554480"/>
            <a:ext cx="2651760" cy="5486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Chatbot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554480"/>
            <a:ext cx="2651760" cy="5486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Assistant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1554480"/>
            <a:ext cx="2651760" cy="5486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3291840" cy="54864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Answers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2194560"/>
            <a:ext cx="2651760" cy="54864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194560"/>
            <a:ext cx="2651760" cy="54864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2194560"/>
            <a:ext cx="2651760" cy="54864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34639"/>
            <a:ext cx="3291840" cy="54864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Remembers chat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834639"/>
            <a:ext cx="2651760" cy="54864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2834639"/>
            <a:ext cx="2651760" cy="54864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2834639"/>
            <a:ext cx="2651760" cy="54864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74720"/>
            <a:ext cx="3291840" cy="54864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Uses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3474720"/>
            <a:ext cx="2651760" cy="54864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3474720"/>
            <a:ext cx="2651760" cy="54864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3474720"/>
            <a:ext cx="2651760" cy="54864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14800"/>
            <a:ext cx="3291840" cy="54864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Multi-step tasks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4114800"/>
            <a:ext cx="2651760" cy="54864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4114800"/>
            <a:ext cx="2651760" cy="54864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Sort of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4114800"/>
            <a:ext cx="2651760" cy="54864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754879"/>
            <a:ext cx="3291840" cy="54864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Can search live info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754879"/>
            <a:ext cx="2651760" cy="54864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4754879"/>
            <a:ext cx="2651760" cy="54864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2600" y="4754879"/>
            <a:ext cx="2651760" cy="54864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Agents = LLM brain + memory + tools + planning, all working together.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egoe UI Semibold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Same Task, Three 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566160"/>
            <a:ext cx="9445752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3703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3A5F"/>
                </a:solidFill>
                <a:latin typeface="Segoe UI"/>
              </a:defRPr>
            </a:pPr>
            <a:r>
              <a:t>WE'LL ASK ALL THREE: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4069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"What is the most popular video game right now, how many people are playing it, and write a short poem about it?"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Watch what happens differently in each 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Why Agents Sometimes Fail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They are powerful — not perfect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94960" cy="15544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Wrong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23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5F5"/>
                </a:solidFill>
                <a:latin typeface="Segoe UI"/>
              </a:defRPr>
            </a:pPr>
            <a:r>
              <a:t>Picks web search when it should run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394960" cy="155448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Bad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23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5F5"/>
                </a:solidFill>
                <a:latin typeface="Segoe UI"/>
              </a:defRPr>
            </a:pPr>
            <a:r>
              <a:t>Plans 5 steps but skips a key 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29000"/>
            <a:ext cx="5394960" cy="155448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Stuck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206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5F5"/>
                </a:solidFill>
                <a:latin typeface="Segoe UI"/>
              </a:defRPr>
            </a:pPr>
            <a:r>
              <a:t>Keeps retrying the same broken approach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429000"/>
            <a:ext cx="5394960" cy="155448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Hallucination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06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5F5"/>
                </a:solidFill>
                <a:latin typeface="Segoe UI"/>
              </a:defRPr>
            </a:pPr>
            <a:r>
              <a:t>Confidently makes up info when uncertain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Always check the agent's work — especially for important tasks.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Wait — Is This AGI?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A common question — let's clear it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384048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AI AGENT (today)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• An LLM with tools, memory, and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• Great at narrow, specific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• Still makes mistakes &amp; hallucinates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• Needs human supervision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• EXISTS RIGHT NOW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5486400" cy="3840480"/>
          </a:xfrm>
          <a:prstGeom prst="round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737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AGI (someday?)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468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Segoe UI"/>
              </a:defRPr>
            </a:pPr>
            <a:r>
              <a:t>• Artificial General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971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Segoe UI"/>
              </a:defRPr>
            </a:pPr>
            <a:r>
              <a:t>• Human-level reasoning across ALL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474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Segoe UI"/>
              </a:defRPr>
            </a:pPr>
            <a:r>
              <a:t>• Could learn anything a person 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977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Segoe UI"/>
              </a:defRPr>
            </a:pPr>
            <a:r>
              <a:t>• Researchers debate when (if!) it arrives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480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Segoe UI"/>
              </a:defRPr>
            </a:pPr>
            <a:r>
              <a:t>• DOES NOT EXIST YET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Agents are powerful tools today. AGI is a question for tomorrow.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Classwork: Agent Trace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908792" cy="82296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Run a real multi-step prompt and label what you see.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1828800" cy="64008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Section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2606040"/>
            <a:ext cx="6858000" cy="6400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77063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Recap the agent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2606040"/>
            <a:ext cx="1947672" cy="64008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15 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1828800" cy="6400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Section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3383280"/>
            <a:ext cx="6858000" cy="6400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354787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Spot the agent skills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3383280"/>
            <a:ext cx="1947672" cy="6400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25 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1828800" cy="64008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Section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4160520"/>
            <a:ext cx="6858000" cy="6400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432511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Annotate the trace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160520"/>
            <a:ext cx="1947672" cy="64008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35 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37760"/>
            <a:ext cx="1828800" cy="64008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Section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4937760"/>
            <a:ext cx="6858000" cy="6400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510235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Same task, two ways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4937760"/>
            <a:ext cx="1947672" cy="64008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25 pts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Total: 100 points + 10 bonus  |  Submit on Microsoft Teams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Homework: Build Your Agent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908792" cy="91440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Segoe UI"/>
              </a:defRPr>
            </a:pPr>
            <a:r>
              <a:t>Design your own multi-step AI agent for a real task in your life.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5394960" cy="128016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880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Pick a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83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Something with multiple steps — not a single 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743200"/>
            <a:ext cx="5394960" cy="128016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880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Choose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383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Web search? Email? Code? Pick at least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5394960" cy="12801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Write System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800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How should YOUR agent behave?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160520"/>
            <a:ext cx="5394960" cy="128016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Map 5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800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What does the agent do at each loop?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Total: 100 points + 5 bonus  |  Due next class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Big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600200"/>
            <a:ext cx="502920" cy="502920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459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LLMs predict text, one word at a time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Tools turn an LLM into an AGENT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971800"/>
            <a:ext cx="502920" cy="502920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17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Every tool call is a network request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657600"/>
            <a:ext cx="502920" cy="50292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Memory &amp; context windows have limits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343400"/>
            <a:ext cx="502920" cy="502920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389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Agents can fail — always verify their work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029200"/>
            <a:ext cx="502920" cy="50292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0749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Agents are NOT AGI — that doesn't exist yet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Next week: We'll start BUILDING with AI tools.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6304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0">
                <a:solidFill>
                  <a:srgbClr val="FFFFFF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 Semibold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6634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DD8E6"/>
                </a:solidFill>
                <a:latin typeface="Segoe UI"/>
              </a:defRPr>
            </a:pPr>
            <a:r>
              <a:t>Ask away before we start the Kahoot!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