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66960" cy="2834639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Prompt Engineering &amp;</a:t>
            </a:r>
            <a:br/>
            <a:r>
              <a:t>Using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79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3A5F"/>
                </a:solidFill>
                <a:latin typeface="Segoe UI"/>
              </a:defRPr>
            </a:pPr>
            <a:r>
              <a:t>Learning to Talk to AI Effectively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April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754880"/>
            <a:ext cx="6702552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Week 2 of the AI Phase  |  Kids Computer Science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Quick Recap: Last Week's AI Foundations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What is a Prompt?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Why Prompts Matter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The Prompting Framework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Good vs Bad Prompts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262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Prompting Techniques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AI Limitations &amp; Safety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Hands-On Activity!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Quick Recap: Last Week's AI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120640" cy="16459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LLM = Large Language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AI trained on massive text data to predict the next 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554480"/>
            <a:ext cx="5120640" cy="16459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2860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Architecture that processes all words at once using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5120640" cy="1645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Next Token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The core process: predicting the most likely next 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3383280"/>
            <a:ext cx="5120640" cy="1645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114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AI that can plan, use tools, and take actions autonomously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94960"/>
            <a:ext cx="9445752" cy="6400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Now let's learn how to actually USE these AI tools!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is a Prompt?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60152" cy="82296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 prompt is the text instruction you give to an AI to get a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360152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Simple: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"What is the weather?"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10360152" cy="91440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Better: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Segoe UI"/>
              </a:defRPr>
            </a:pPr>
            <a:r>
              <a:t>"What's the weather forecast for Portland, Oregon this weekend?"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37760"/>
            <a:ext cx="10360152" cy="914400"/>
          </a:xfrm>
          <a:prstGeom prst="roundRect">
            <a:avLst/>
          </a:prstGeom>
          <a:solidFill>
            <a:srgbClr val="388E3C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Best: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029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"Give me a 3-day weather forecast for Portland, Oregon starting Friday. Include highs, lows, and rain chance."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33"/>
                </a:solidFill>
                <a:latin typeface="Segoe UI"/>
              </a:defRPr>
            </a:pPr>
            <a:r>
              <a:t>The more specific your prompt, the better the AI's response!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Why Prompts Matter: Same AI, Different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4336"/>
                </a:solidFill>
                <a:latin typeface="Segoe UI"/>
              </a:defRPr>
            </a:pPr>
            <a:r>
              <a:t>Vague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475488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"Tell me about dogs"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Result: A generic, unfocused response that covers random dog facts. Not useful for any specific purpose.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554480"/>
            <a:ext cx="53035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  <a:latin typeface="Segoe UI"/>
              </a:defRPr>
            </a:pPr>
            <a:r>
              <a:t>Specific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1112" y="2286000"/>
            <a:ext cx="475488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"Explain the top 3 most popular dog breeds for families with kids, including size and temperament"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2004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Result: A focused, helpful response with exactly what you need -- breed names, sizes, and temperaments.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AI is the same -- YOUR prompt determines the quality of the answer!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Prompting Framework: R.T.C.F.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606040" cy="274320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=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Who should the AI be?</a:t>
            </a:r>
            <a:br/>
            <a:r>
              <a:t>(teacher, scientist, editor)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606040" cy="274320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7373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31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=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What do you want it to do?</a:t>
            </a:r>
            <a:br/>
            <a:r>
              <a:t>(explain, write, compare)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2606040" cy="27432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7373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331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=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What background info</a:t>
            </a:r>
            <a:br/>
            <a:r>
              <a:t>does it need?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54480"/>
            <a:ext cx="2606040" cy="2743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7373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31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=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5F5"/>
                </a:solidFill>
                <a:latin typeface="Segoe UI"/>
              </a:defRPr>
            </a:pPr>
            <a:r>
              <a:t>How should the answer look?</a:t>
            </a:r>
            <a:br/>
            <a:r>
              <a:t>(list, paragraph, table)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11183112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33"/>
                </a:solidFill>
                <a:latin typeface="Segoe UI"/>
              </a:defRPr>
            </a:pPr>
            <a:r>
              <a:t>Example using all four: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"You are a history teacher (Role). Explain the causes of WW2 (Task). My students are in 8th grade (Context). Use 5 bullet points (Format)."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33"/>
                </a:solidFill>
                <a:latin typeface="Segoe UI"/>
              </a:defRPr>
            </a:pPr>
            <a:r>
              <a:t>Remember: The more parts of RTCF you include, the better the response!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Putting R.T.C.F.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37160" cy="4114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73AB7"/>
                </a:solidFill>
                <a:latin typeface="Segoe UI"/>
              </a:defRPr>
            </a:pPr>
            <a:r>
              <a:t>Role: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54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"You are a friendly science teacher for 8th graders."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137160" cy="41148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8E3C"/>
                </a:solidFill>
                <a:latin typeface="Segoe UI"/>
              </a:defRPr>
            </a:pPr>
            <a:r>
              <a:t>Task: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"Explain how photosynthesis works."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137160" cy="41148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33"/>
                </a:solidFill>
                <a:latin typeface="Segoe UI"/>
              </a:defRPr>
            </a:pPr>
            <a:r>
              <a:t>Context: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51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"The students have already learned about plant cells."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13716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Segoe UI"/>
              </a:defRPr>
            </a:pPr>
            <a:r>
              <a:t>Format: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00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"Use 3 bullet points with simple language. Include an analogy."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08792" cy="1645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33"/>
                </a:solidFill>
                <a:latin typeface="Segoe UI"/>
              </a:defRPr>
            </a:pPr>
            <a:r>
              <a:t>Combined Prompt: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"You are a friendly science teacher for 8th graders. Explain how photosynthesis works. The students have already learned about plant cells. Use 3 bullet points with simple language. Include an analogy."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760720"/>
            <a:ext cx="9445752" cy="6400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 don't need ALL four every time -- but the more you include, the better!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Good vs Bad Prompts: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4336"/>
                </a:solidFill>
                <a:latin typeface="Segoe UI"/>
              </a:defRPr>
            </a:pPr>
            <a:r>
              <a:t>Bad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2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Segoe UI"/>
              </a:defRPr>
            </a:pPr>
            <a:r>
              <a:t>Good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45720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4336"/>
                </a:solidFill>
                <a:latin typeface="Segoe UI"/>
              </a:defRPr>
            </a:pPr>
            <a:r>
              <a:t>"Write an essay"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0952" y="1828800"/>
            <a:ext cx="6400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196596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8E3C"/>
                </a:solidFill>
                <a:latin typeface="Segoe UI"/>
              </a:defRPr>
            </a:pPr>
            <a:r>
              <a:t>"Write a 5-paragraph essay about why recycling is important for a 7th grade science class"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45720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4336"/>
                </a:solidFill>
                <a:latin typeface="Segoe UI"/>
              </a:defRPr>
            </a:pPr>
            <a:r>
              <a:t>"Fix this code"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0952" y="3291840"/>
            <a:ext cx="6400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34290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8E3C"/>
                </a:solidFill>
                <a:latin typeface="Segoe UI"/>
              </a:defRPr>
            </a:pPr>
            <a:r>
              <a:t>"Find the bug in this Python function that should add two numbers but returns None"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45720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9204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4336"/>
                </a:solidFill>
                <a:latin typeface="Segoe UI"/>
              </a:defRPr>
            </a:pPr>
            <a:r>
              <a:t>"Help with homework"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0952" y="4754880"/>
            <a:ext cx="640080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489204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8E3C"/>
                </a:solidFill>
                <a:latin typeface="Segoe UI"/>
              </a:defRPr>
            </a:pPr>
            <a:r>
              <a:t>"Explain how to solve quadratic equations step by step with an example using x² + 5x + 6 = 0"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33"/>
                </a:solidFill>
                <a:latin typeface="Segoe UI"/>
              </a:defRPr>
            </a:pPr>
            <a:r>
              <a:t>Specificity is the key to great AI responses!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Prompting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08792" cy="13716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Just ask directly. No examples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D8E6"/>
                </a:solidFill>
                <a:latin typeface="Segoe UI"/>
              </a:defRPr>
            </a:pPr>
            <a:r>
              <a:t>Example: "Translate 'hello' to Spanish"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908792" cy="137160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Few-Shot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Give the AI a few examples first so it learns the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D8E6"/>
                </a:solidFill>
                <a:latin typeface="Segoe UI"/>
              </a:defRPr>
            </a:pPr>
            <a:r>
              <a:t>Example: "Happy = positive, Sad = negative, Excited = 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908792" cy="13716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Chain-of-Thought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Ask the AI to think step by 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D8E6"/>
                </a:solidFill>
                <a:latin typeface="Segoe UI"/>
              </a:defRPr>
            </a:pPr>
            <a:r>
              <a:t>Example: "Solve this math problem. Show your work step by step."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3AB7"/>
                </a:solidFill>
                <a:latin typeface="Segoe UI"/>
              </a:defRPr>
            </a:pPr>
            <a:r>
              <a:t>Remember Few-Shot from last week? GPT-3 surprised everyone by learning from just a few examples!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Chain-of-Thought: Making AI Think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3931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44336"/>
                </a:solidFill>
                <a:latin typeface="Segoe UI"/>
              </a:defRPr>
            </a:pPr>
            <a:r>
              <a:t>Without Chain-of-Thought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4754880" cy="54864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"What is 15% tip on $42.50?"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AI response: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"The tip would be $6.50"</a:t>
            </a:r>
            <a:br/>
            <a:br/>
            <a:r>
              <a:t>(Might be wrong -- no work shown!)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554480"/>
            <a:ext cx="5303520" cy="3931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  <a:latin typeface="Segoe UI"/>
              </a:defRPr>
            </a:pPr>
            <a:r>
              <a:t>With Chain-of-Thought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1112" y="2286000"/>
            <a:ext cx="475488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"What is 15% tip on $42.50? Think step by step."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AI response: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35661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Step 1: 10% of $42.50 = $4.25</a:t>
            </a:r>
            <a:br/>
            <a:r>
              <a:t>Step 2: 5% = $4.25 / 2 = $2.125</a:t>
            </a:r>
            <a:br/>
            <a:r>
              <a:t>Step 3: 15% = $4.25 + $2.125 = $6.38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Adding 'think step by step' or 'explain your reasoning' makes AI much more accurate!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AI Limitations: Hallucinations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9144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Hallucination = When AI generates false information but presents it confidently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9445752" cy="77724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might invent fake book titles that don't exist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749039"/>
            <a:ext cx="9445752" cy="77724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might cite made-up statistics or research papers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754880"/>
            <a:ext cx="9445752" cy="77724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might give wrong answers to math or logic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ALWAYS fact-check important AI responses! AI is confident, not always correct.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More AI Limitations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120640" cy="16459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Knowledge Cutoff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AI doesn't know about recent events after its training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554480"/>
            <a:ext cx="5120640" cy="1645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AI can reflect biases from its training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5120640" cy="16459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No Real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AI predicts words -- it doesn't truly 'understand' like humans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3383280"/>
            <a:ext cx="5120640" cy="1645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Context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160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AI can only process a limited amount of text at once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94960"/>
            <a:ext cx="94457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Understanding limitations makes you a SMARTER AI user!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Using AI Safely &amp;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Segoe UI"/>
              </a:defRPr>
            </a:pPr>
            <a:r>
              <a:t>DO's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3C"/>
                </a:solidFill>
                <a:latin typeface="Segoe UI"/>
              </a:defRPr>
            </a:pPr>
            <a:r>
              <a:t>✓  Fact-check important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3C"/>
                </a:solidFill>
                <a:latin typeface="Segoe UI"/>
              </a:defRPr>
            </a:pPr>
            <a:r>
              <a:t>✓  Use AI as a learning helper, not a replacement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3C"/>
                </a:solidFill>
                <a:latin typeface="Segoe UI"/>
              </a:defRPr>
            </a:pPr>
            <a:r>
              <a:t>✓  Tell teachers when you use AI for assignments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3C"/>
                </a:solidFill>
                <a:latin typeface="Segoe UI"/>
              </a:defRPr>
            </a:pPr>
            <a:r>
              <a:t>✓  Protect your personal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554480"/>
            <a:ext cx="530352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4336"/>
                </a:solidFill>
                <a:latin typeface="Segoe UI"/>
              </a:defRPr>
            </a:pPr>
            <a:r>
              <a:t>DON'T's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  <a:latin typeface="Segoe UI"/>
              </a:defRPr>
            </a:pPr>
            <a:r>
              <a:t>✗  Don't share personal info (address, passwords)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  <a:latin typeface="Segoe UI"/>
              </a:defRPr>
            </a:pPr>
            <a:r>
              <a:t>✗  Don't copy AI output and claim it as your 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  <a:latin typeface="Segoe UI"/>
              </a:defRPr>
            </a:pPr>
            <a:r>
              <a:t>✗  Don't trust AI blindly -- verify important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4206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  <a:latin typeface="Segoe UI"/>
              </a:defRPr>
            </a:pPr>
            <a:r>
              <a:t>✗  Don't use AI to cheat on tests or assignments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is a powerful TOOL -- use it wisely and honestly!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AI Tools You Can 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120640" cy="1645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by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DD8E6"/>
                </a:solidFill>
                <a:latin typeface="Segoe UI"/>
              </a:defRPr>
            </a:pPr>
            <a:r>
              <a:t>Most popular chatbot, free tier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554480"/>
            <a:ext cx="5120640" cy="16459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by Anthropic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DD8E6"/>
                </a:solidFill>
                <a:latin typeface="Segoe UI"/>
              </a:defRPr>
            </a:pPr>
            <a:r>
              <a:t>Focused on being helpful and safe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5120640" cy="16459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by 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DD8E6"/>
                </a:solidFill>
                <a:latin typeface="Segoe UI"/>
              </a:defRPr>
            </a:pPr>
            <a:r>
              <a:t>Integrated with Google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3383280"/>
            <a:ext cx="5120640" cy="1645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Segoe UI"/>
              </a:defRPr>
            </a:pPr>
            <a:r>
              <a:t>by 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DD8E6"/>
                </a:solidFill>
                <a:latin typeface="Segoe UI"/>
              </a:defRPr>
            </a:pPr>
            <a:r>
              <a:t>Built into Windows, Edge, and Office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 of these use LLMs -- the concepts you learned last week power these tools!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A prompt is how you talk to AI -- wording matters!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Use R.T.C.F.: Role, Task, Context, Format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71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Be specific: vague prompts = vague answers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1188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Chain-of-thought: 'think step by step' improves accuracy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AI can hallucinate -- always fact-check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983480"/>
            <a:ext cx="502920" cy="502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29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Use AI responsibly -- it's a tool, not a shortcut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852160"/>
            <a:ext cx="76169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Time for the activity and Kahoot!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Let's practice prompting!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