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554480"/>
            <a:ext cx="9966960" cy="2834639"/>
          </a:xfrm>
          <a:prstGeom prst="roundRect">
            <a:avLst/>
          </a:prstGeom>
          <a:solidFill>
            <a:srgbClr val="649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1672" cy="1097280"/>
          </a:xfrm>
          <a:prstGeom prst="rect">
            <a:avLst/>
          </a:prstGeom>
          <a:noFill/>
        </p:spPr>
        <p:txBody>
          <a:bodyPr wrap="square">
            <a:spAutoFit/>
          </a:bodyPr>
          <a:lstStyle/>
          <a:p>
            <a:pPr algn="ctr">
              <a:defRPr sz="4400" b="1">
                <a:solidFill>
                  <a:srgbClr val="1E3A5F"/>
                </a:solidFill>
                <a:latin typeface="Segoe UI Semibold"/>
              </a:defRPr>
            </a:pPr>
            <a:r>
              <a:t>Meta Prompting &amp;</a:t>
            </a:r>
            <a:br/>
            <a:r>
              <a:t>AI Team Challenge</a:t>
            </a:r>
          </a:p>
        </p:txBody>
      </p:sp>
      <p:sp>
        <p:nvSpPr>
          <p:cNvPr id="5" name="TextBox 4"/>
          <p:cNvSpPr txBox="1"/>
          <p:nvPr/>
        </p:nvSpPr>
        <p:spPr>
          <a:xfrm>
            <a:off x="548640" y="3383279"/>
            <a:ext cx="11091672" cy="548640"/>
          </a:xfrm>
          <a:prstGeom prst="rect">
            <a:avLst/>
          </a:prstGeom>
          <a:noFill/>
        </p:spPr>
        <p:txBody>
          <a:bodyPr wrap="square">
            <a:spAutoFit/>
          </a:bodyPr>
          <a:lstStyle/>
          <a:p>
            <a:pPr algn="ctr">
              <a:defRPr sz="2200" b="0">
                <a:solidFill>
                  <a:srgbClr val="1E3A5F"/>
                </a:solidFill>
                <a:latin typeface="Segoe UI"/>
              </a:defRPr>
            </a:pPr>
            <a:r>
              <a:t>Using AI to Write Better Prompts + Hands-On Group Projects</a:t>
            </a:r>
          </a:p>
        </p:txBody>
      </p:sp>
      <p:sp>
        <p:nvSpPr>
          <p:cNvPr id="6" name="TextBox 5"/>
          <p:cNvSpPr txBox="1"/>
          <p:nvPr/>
        </p:nvSpPr>
        <p:spPr>
          <a:xfrm>
            <a:off x="548640" y="6035040"/>
            <a:ext cx="11091672" cy="365760"/>
          </a:xfrm>
          <a:prstGeom prst="rect">
            <a:avLst/>
          </a:prstGeom>
          <a:noFill/>
        </p:spPr>
        <p:txBody>
          <a:bodyPr wrap="square">
            <a:spAutoFit/>
          </a:bodyPr>
          <a:lstStyle/>
          <a:p>
            <a:pPr algn="ctr">
              <a:defRPr sz="1800" b="0">
                <a:solidFill>
                  <a:srgbClr val="ADD8E6"/>
                </a:solidFill>
                <a:latin typeface="Segoe UI"/>
              </a:defRPr>
            </a:pPr>
            <a:r>
              <a:t>April 18, 2026</a:t>
            </a:r>
          </a:p>
        </p:txBody>
      </p:sp>
      <p:sp>
        <p:nvSpPr>
          <p:cNvPr id="7" name="Rectangle 6"/>
          <p:cNvSpPr/>
          <p:nvPr/>
        </p:nvSpPr>
        <p:spPr>
          <a:xfrm>
            <a:off x="2743200" y="4754880"/>
            <a:ext cx="6702552" cy="54864"/>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120640"/>
            <a:ext cx="8531352" cy="457200"/>
          </a:xfrm>
          <a:prstGeom prst="rect">
            <a:avLst/>
          </a:prstGeom>
          <a:noFill/>
        </p:spPr>
        <p:txBody>
          <a:bodyPr wrap="square">
            <a:spAutoFit/>
          </a:bodyPr>
          <a:lstStyle/>
          <a:p>
            <a:pPr algn="ctr">
              <a:defRPr sz="1600" b="0">
                <a:solidFill>
                  <a:srgbClr val="ADD8E6"/>
                </a:solidFill>
                <a:latin typeface="Segoe UI"/>
              </a:defRPr>
            </a:pPr>
            <a:r>
              <a:t>Week 3 of the AI Phase  |  Kids Computer Science Class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Today's Journey</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463040"/>
            <a:ext cx="502920" cy="502920"/>
          </a:xfrm>
          <a:prstGeom prst="ellipse">
            <a:avLst/>
          </a:prstGeom>
          <a:solidFill>
            <a:srgbClr val="6495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1</a:t>
            </a:r>
          </a:p>
        </p:txBody>
      </p:sp>
      <p:sp>
        <p:nvSpPr>
          <p:cNvPr id="6" name="TextBox 5"/>
          <p:cNvSpPr txBox="1"/>
          <p:nvPr/>
        </p:nvSpPr>
        <p:spPr>
          <a:xfrm>
            <a:off x="1828800" y="1554480"/>
            <a:ext cx="9601200" cy="457200"/>
          </a:xfrm>
          <a:prstGeom prst="rect">
            <a:avLst/>
          </a:prstGeom>
          <a:noFill/>
        </p:spPr>
        <p:txBody>
          <a:bodyPr wrap="square">
            <a:spAutoFit/>
          </a:bodyPr>
          <a:lstStyle/>
          <a:p>
            <a:pPr algn="l">
              <a:defRPr sz="2000" b="0">
                <a:solidFill>
                  <a:srgbClr val="424242"/>
                </a:solidFill>
                <a:latin typeface="Segoe UI"/>
              </a:defRPr>
            </a:pPr>
            <a:r>
              <a:t>Quick Recap: Weeks 1-2</a:t>
            </a:r>
          </a:p>
        </p:txBody>
      </p:sp>
      <p:sp>
        <p:nvSpPr>
          <p:cNvPr id="7" name="Oval 6"/>
          <p:cNvSpPr/>
          <p:nvPr/>
        </p:nvSpPr>
        <p:spPr>
          <a:xfrm>
            <a:off x="914400" y="2057400"/>
            <a:ext cx="502920" cy="50292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2</a:t>
            </a:r>
          </a:p>
        </p:txBody>
      </p:sp>
      <p:sp>
        <p:nvSpPr>
          <p:cNvPr id="8" name="TextBox 7"/>
          <p:cNvSpPr txBox="1"/>
          <p:nvPr/>
        </p:nvSpPr>
        <p:spPr>
          <a:xfrm>
            <a:off x="1828800" y="2148840"/>
            <a:ext cx="9601200" cy="457200"/>
          </a:xfrm>
          <a:prstGeom prst="rect">
            <a:avLst/>
          </a:prstGeom>
          <a:noFill/>
        </p:spPr>
        <p:txBody>
          <a:bodyPr wrap="square">
            <a:spAutoFit/>
          </a:bodyPr>
          <a:lstStyle/>
          <a:p>
            <a:pPr algn="l">
              <a:defRPr sz="2000" b="0">
                <a:solidFill>
                  <a:srgbClr val="424242"/>
                </a:solidFill>
                <a:latin typeface="Segoe UI"/>
              </a:defRPr>
            </a:pPr>
            <a:r>
              <a:t>What is Meta Prompting?</a:t>
            </a:r>
          </a:p>
        </p:txBody>
      </p:sp>
      <p:sp>
        <p:nvSpPr>
          <p:cNvPr id="9" name="Oval 8"/>
          <p:cNvSpPr/>
          <p:nvPr/>
        </p:nvSpPr>
        <p:spPr>
          <a:xfrm>
            <a:off x="914400" y="2651760"/>
            <a:ext cx="502920" cy="502920"/>
          </a:xfrm>
          <a:prstGeom prst="ellipse">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3</a:t>
            </a:r>
          </a:p>
        </p:txBody>
      </p:sp>
      <p:sp>
        <p:nvSpPr>
          <p:cNvPr id="10" name="TextBox 9"/>
          <p:cNvSpPr txBox="1"/>
          <p:nvPr/>
        </p:nvSpPr>
        <p:spPr>
          <a:xfrm>
            <a:off x="1828800" y="2743200"/>
            <a:ext cx="9601200" cy="457200"/>
          </a:xfrm>
          <a:prstGeom prst="rect">
            <a:avLst/>
          </a:prstGeom>
          <a:noFill/>
        </p:spPr>
        <p:txBody>
          <a:bodyPr wrap="square">
            <a:spAutoFit/>
          </a:bodyPr>
          <a:lstStyle/>
          <a:p>
            <a:pPr algn="l">
              <a:defRPr sz="2000" b="0">
                <a:solidFill>
                  <a:srgbClr val="424242"/>
                </a:solidFill>
                <a:latin typeface="Segoe UI"/>
              </a:defRPr>
            </a:pPr>
            <a:r>
              <a:t>Meta Prompting Techniques</a:t>
            </a:r>
          </a:p>
        </p:txBody>
      </p:sp>
      <p:sp>
        <p:nvSpPr>
          <p:cNvPr id="11" name="Oval 10"/>
          <p:cNvSpPr/>
          <p:nvPr/>
        </p:nvSpPr>
        <p:spPr>
          <a:xfrm>
            <a:off x="914400" y="3246120"/>
            <a:ext cx="502920" cy="502920"/>
          </a:xfrm>
          <a:prstGeom prst="ellipse">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4</a:t>
            </a:r>
          </a:p>
        </p:txBody>
      </p:sp>
      <p:sp>
        <p:nvSpPr>
          <p:cNvPr id="12" name="TextBox 11"/>
          <p:cNvSpPr txBox="1"/>
          <p:nvPr/>
        </p:nvSpPr>
        <p:spPr>
          <a:xfrm>
            <a:off x="1828800" y="3337560"/>
            <a:ext cx="9601200" cy="457200"/>
          </a:xfrm>
          <a:prstGeom prst="rect">
            <a:avLst/>
          </a:prstGeom>
          <a:noFill/>
        </p:spPr>
        <p:txBody>
          <a:bodyPr wrap="square">
            <a:spAutoFit/>
          </a:bodyPr>
          <a:lstStyle/>
          <a:p>
            <a:pPr algn="l">
              <a:defRPr sz="2000" b="0">
                <a:solidFill>
                  <a:srgbClr val="424242"/>
                </a:solidFill>
                <a:latin typeface="Segoe UI"/>
              </a:defRPr>
            </a:pPr>
            <a:r>
              <a:t>Live Demo: Meta Prompting in Action</a:t>
            </a:r>
          </a:p>
        </p:txBody>
      </p:sp>
      <p:sp>
        <p:nvSpPr>
          <p:cNvPr id="13" name="Oval 12"/>
          <p:cNvSpPr/>
          <p:nvPr/>
        </p:nvSpPr>
        <p:spPr>
          <a:xfrm>
            <a:off x="914400" y="3840480"/>
            <a:ext cx="502920" cy="50292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5</a:t>
            </a:r>
          </a:p>
        </p:txBody>
      </p:sp>
      <p:sp>
        <p:nvSpPr>
          <p:cNvPr id="14" name="TextBox 13"/>
          <p:cNvSpPr txBox="1"/>
          <p:nvPr/>
        </p:nvSpPr>
        <p:spPr>
          <a:xfrm>
            <a:off x="1828800" y="3931920"/>
            <a:ext cx="9601200" cy="457200"/>
          </a:xfrm>
          <a:prstGeom prst="rect">
            <a:avLst/>
          </a:prstGeom>
          <a:noFill/>
        </p:spPr>
        <p:txBody>
          <a:bodyPr wrap="square">
            <a:spAutoFit/>
          </a:bodyPr>
          <a:lstStyle/>
          <a:p>
            <a:pPr algn="l">
              <a:defRPr sz="2000" b="0">
                <a:solidFill>
                  <a:srgbClr val="424242"/>
                </a:solidFill>
                <a:latin typeface="Segoe UI"/>
              </a:defRPr>
            </a:pPr>
            <a:r>
              <a:t>AI Tools You Can Use (Free!)</a:t>
            </a:r>
          </a:p>
        </p:txBody>
      </p:sp>
      <p:sp>
        <p:nvSpPr>
          <p:cNvPr id="15" name="Oval 14"/>
          <p:cNvSpPr/>
          <p:nvPr/>
        </p:nvSpPr>
        <p:spPr>
          <a:xfrm>
            <a:off x="914400" y="4434840"/>
            <a:ext cx="502920" cy="502920"/>
          </a:xfrm>
          <a:prstGeom prst="ellipse">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6</a:t>
            </a:r>
          </a:p>
        </p:txBody>
      </p:sp>
      <p:sp>
        <p:nvSpPr>
          <p:cNvPr id="16" name="TextBox 15"/>
          <p:cNvSpPr txBox="1"/>
          <p:nvPr/>
        </p:nvSpPr>
        <p:spPr>
          <a:xfrm>
            <a:off x="1828800" y="4526279"/>
            <a:ext cx="9601200" cy="457200"/>
          </a:xfrm>
          <a:prstGeom prst="rect">
            <a:avLst/>
          </a:prstGeom>
          <a:noFill/>
        </p:spPr>
        <p:txBody>
          <a:bodyPr wrap="square">
            <a:spAutoFit/>
          </a:bodyPr>
          <a:lstStyle/>
          <a:p>
            <a:pPr algn="l">
              <a:defRPr sz="2000" b="0">
                <a:solidFill>
                  <a:srgbClr val="424242"/>
                </a:solidFill>
                <a:latin typeface="Segoe UI"/>
              </a:defRPr>
            </a:pPr>
            <a:r>
              <a:t>Group Challenge: AI Team Battle!</a:t>
            </a:r>
          </a:p>
        </p:txBody>
      </p:sp>
      <p:sp>
        <p:nvSpPr>
          <p:cNvPr id="17" name="Oval 16"/>
          <p:cNvSpPr/>
          <p:nvPr/>
        </p:nvSpPr>
        <p:spPr>
          <a:xfrm>
            <a:off x="914400" y="5029200"/>
            <a:ext cx="502920" cy="502920"/>
          </a:xfrm>
          <a:prstGeom prst="ellipse">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7</a:t>
            </a:r>
          </a:p>
        </p:txBody>
      </p:sp>
      <p:sp>
        <p:nvSpPr>
          <p:cNvPr id="18" name="TextBox 17"/>
          <p:cNvSpPr txBox="1"/>
          <p:nvPr/>
        </p:nvSpPr>
        <p:spPr>
          <a:xfrm>
            <a:off x="1828800" y="5120640"/>
            <a:ext cx="9601200" cy="457200"/>
          </a:xfrm>
          <a:prstGeom prst="rect">
            <a:avLst/>
          </a:prstGeom>
          <a:noFill/>
        </p:spPr>
        <p:txBody>
          <a:bodyPr wrap="square">
            <a:spAutoFit/>
          </a:bodyPr>
          <a:lstStyle/>
          <a:p>
            <a:pPr algn="l">
              <a:defRPr sz="2000" b="0">
                <a:solidFill>
                  <a:srgbClr val="424242"/>
                </a:solidFill>
                <a:latin typeface="Segoe UI"/>
              </a:defRPr>
            </a:pPr>
            <a:r>
              <a:t>Presentations &amp; Voting</a:t>
            </a:r>
          </a:p>
        </p:txBody>
      </p:sp>
      <p:sp>
        <p:nvSpPr>
          <p:cNvPr id="19" name="Oval 18"/>
          <p:cNvSpPr/>
          <p:nvPr/>
        </p:nvSpPr>
        <p:spPr>
          <a:xfrm>
            <a:off x="914400" y="5623560"/>
            <a:ext cx="502920" cy="50292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8</a:t>
            </a:r>
          </a:p>
        </p:txBody>
      </p:sp>
      <p:sp>
        <p:nvSpPr>
          <p:cNvPr id="20" name="TextBox 19"/>
          <p:cNvSpPr txBox="1"/>
          <p:nvPr/>
        </p:nvSpPr>
        <p:spPr>
          <a:xfrm>
            <a:off x="1828800" y="5715000"/>
            <a:ext cx="9601200" cy="457200"/>
          </a:xfrm>
          <a:prstGeom prst="rect">
            <a:avLst/>
          </a:prstGeom>
          <a:noFill/>
        </p:spPr>
        <p:txBody>
          <a:bodyPr wrap="square">
            <a:spAutoFit/>
          </a:bodyPr>
          <a:lstStyle/>
          <a:p>
            <a:pPr algn="l">
              <a:defRPr sz="2000" b="0">
                <a:solidFill>
                  <a:srgbClr val="424242"/>
                </a:solidFill>
                <a:latin typeface="Segoe UI"/>
              </a:defRPr>
            </a:pPr>
            <a:r>
              <a:t>Kahoot!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Quick Recap: What We've Learned So Far</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3474720" cy="1371600"/>
          </a:xfrm>
          <a:prstGeom prst="roundRect">
            <a:avLst/>
          </a:prstGeom>
          <a:solidFill>
            <a:srgbClr val="3467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3200400" cy="365760"/>
          </a:xfrm>
          <a:prstGeom prst="rect">
            <a:avLst/>
          </a:prstGeom>
          <a:noFill/>
        </p:spPr>
        <p:txBody>
          <a:bodyPr wrap="square">
            <a:spAutoFit/>
          </a:bodyPr>
          <a:lstStyle/>
          <a:p>
            <a:pPr algn="ctr">
              <a:defRPr sz="1800" b="1">
                <a:solidFill>
                  <a:srgbClr val="FFFFFF"/>
                </a:solidFill>
                <a:latin typeface="Segoe UI"/>
              </a:defRPr>
            </a:pPr>
            <a:r>
              <a:t>LLMs &amp; Transformers</a:t>
            </a:r>
          </a:p>
        </p:txBody>
      </p:sp>
      <p:sp>
        <p:nvSpPr>
          <p:cNvPr id="7" name="TextBox 6"/>
          <p:cNvSpPr txBox="1"/>
          <p:nvPr/>
        </p:nvSpPr>
        <p:spPr>
          <a:xfrm>
            <a:off x="640080" y="2103120"/>
            <a:ext cx="3200400" cy="640080"/>
          </a:xfrm>
          <a:prstGeom prst="rect">
            <a:avLst/>
          </a:prstGeom>
          <a:noFill/>
        </p:spPr>
        <p:txBody>
          <a:bodyPr wrap="square">
            <a:spAutoFit/>
          </a:bodyPr>
          <a:lstStyle/>
          <a:p>
            <a:pPr algn="ctr">
              <a:defRPr sz="1400" b="0">
                <a:solidFill>
                  <a:srgbClr val="F5F5F5"/>
                </a:solidFill>
                <a:latin typeface="Segoe UI"/>
              </a:defRPr>
            </a:pPr>
            <a:r>
              <a:t>AI trained on text data using</a:t>
            </a:r>
            <a:br/>
            <a:r>
              <a:t>attention to predict next words</a:t>
            </a:r>
          </a:p>
        </p:txBody>
      </p:sp>
      <p:sp>
        <p:nvSpPr>
          <p:cNvPr id="8" name="Rounded Rectangle 7"/>
          <p:cNvSpPr/>
          <p:nvPr/>
        </p:nvSpPr>
        <p:spPr>
          <a:xfrm>
            <a:off x="4251959" y="1554480"/>
            <a:ext cx="3474720" cy="1371600"/>
          </a:xfrm>
          <a:prstGeom prst="roundRect">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19" y="1691640"/>
            <a:ext cx="3200400" cy="365760"/>
          </a:xfrm>
          <a:prstGeom prst="rect">
            <a:avLst/>
          </a:prstGeom>
          <a:noFill/>
        </p:spPr>
        <p:txBody>
          <a:bodyPr wrap="square">
            <a:spAutoFit/>
          </a:bodyPr>
          <a:lstStyle/>
          <a:p>
            <a:pPr algn="ctr">
              <a:defRPr sz="1800" b="1">
                <a:solidFill>
                  <a:srgbClr val="FFFFFF"/>
                </a:solidFill>
                <a:latin typeface="Segoe UI"/>
              </a:defRPr>
            </a:pPr>
            <a:r>
              <a:t>RTCF Framework</a:t>
            </a:r>
          </a:p>
        </p:txBody>
      </p:sp>
      <p:sp>
        <p:nvSpPr>
          <p:cNvPr id="10" name="TextBox 9"/>
          <p:cNvSpPr txBox="1"/>
          <p:nvPr/>
        </p:nvSpPr>
        <p:spPr>
          <a:xfrm>
            <a:off x="4389119" y="2103120"/>
            <a:ext cx="3200400" cy="640080"/>
          </a:xfrm>
          <a:prstGeom prst="rect">
            <a:avLst/>
          </a:prstGeom>
          <a:noFill/>
        </p:spPr>
        <p:txBody>
          <a:bodyPr wrap="square">
            <a:spAutoFit/>
          </a:bodyPr>
          <a:lstStyle/>
          <a:p>
            <a:pPr algn="ctr">
              <a:defRPr sz="1400" b="0">
                <a:solidFill>
                  <a:srgbClr val="F5F5F5"/>
                </a:solidFill>
                <a:latin typeface="Segoe UI"/>
              </a:defRPr>
            </a:pPr>
            <a:r>
              <a:t>Role, Task, Context, Format</a:t>
            </a:r>
            <a:br/>
            <a:r>
              <a:t>for writing great prompts</a:t>
            </a:r>
          </a:p>
        </p:txBody>
      </p:sp>
      <p:sp>
        <p:nvSpPr>
          <p:cNvPr id="11" name="Rounded Rectangle 10"/>
          <p:cNvSpPr/>
          <p:nvPr/>
        </p:nvSpPr>
        <p:spPr>
          <a:xfrm>
            <a:off x="8001000" y="1554480"/>
            <a:ext cx="3474720" cy="137160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691640"/>
            <a:ext cx="3200400" cy="365760"/>
          </a:xfrm>
          <a:prstGeom prst="rect">
            <a:avLst/>
          </a:prstGeom>
          <a:noFill/>
        </p:spPr>
        <p:txBody>
          <a:bodyPr wrap="square">
            <a:spAutoFit/>
          </a:bodyPr>
          <a:lstStyle/>
          <a:p>
            <a:pPr algn="ctr">
              <a:defRPr sz="1800" b="1">
                <a:solidFill>
                  <a:srgbClr val="FFFFFF"/>
                </a:solidFill>
                <a:latin typeface="Segoe UI"/>
              </a:defRPr>
            </a:pPr>
            <a:r>
              <a:t>Prompting Techniques</a:t>
            </a:r>
          </a:p>
        </p:txBody>
      </p:sp>
      <p:sp>
        <p:nvSpPr>
          <p:cNvPr id="13" name="TextBox 12"/>
          <p:cNvSpPr txBox="1"/>
          <p:nvPr/>
        </p:nvSpPr>
        <p:spPr>
          <a:xfrm>
            <a:off x="8138160" y="2103120"/>
            <a:ext cx="3200400" cy="640080"/>
          </a:xfrm>
          <a:prstGeom prst="rect">
            <a:avLst/>
          </a:prstGeom>
          <a:noFill/>
        </p:spPr>
        <p:txBody>
          <a:bodyPr wrap="square">
            <a:spAutoFit/>
          </a:bodyPr>
          <a:lstStyle/>
          <a:p>
            <a:pPr algn="ctr">
              <a:defRPr sz="1400" b="0">
                <a:solidFill>
                  <a:srgbClr val="F5F5F5"/>
                </a:solidFill>
                <a:latin typeface="Segoe UI"/>
              </a:defRPr>
            </a:pPr>
            <a:r>
              <a:t>Zero-shot, Few-shot,</a:t>
            </a:r>
            <a:br/>
            <a:r>
              <a:t>Chain-of-Thought</a:t>
            </a:r>
          </a:p>
        </p:txBody>
      </p:sp>
      <p:sp>
        <p:nvSpPr>
          <p:cNvPr id="14" name="Rounded Rectangle 13"/>
          <p:cNvSpPr/>
          <p:nvPr/>
        </p:nvSpPr>
        <p:spPr>
          <a:xfrm>
            <a:off x="502920" y="3108960"/>
            <a:ext cx="3474720" cy="1371600"/>
          </a:xfrm>
          <a:prstGeom prst="round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46120"/>
            <a:ext cx="3200400" cy="365760"/>
          </a:xfrm>
          <a:prstGeom prst="rect">
            <a:avLst/>
          </a:prstGeom>
          <a:noFill/>
        </p:spPr>
        <p:txBody>
          <a:bodyPr wrap="square">
            <a:spAutoFit/>
          </a:bodyPr>
          <a:lstStyle/>
          <a:p>
            <a:pPr algn="ctr">
              <a:defRPr sz="1800" b="1">
                <a:solidFill>
                  <a:srgbClr val="FFFFFF"/>
                </a:solidFill>
                <a:latin typeface="Segoe UI"/>
              </a:defRPr>
            </a:pPr>
            <a:r>
              <a:t>AI Limitations</a:t>
            </a:r>
          </a:p>
        </p:txBody>
      </p:sp>
      <p:sp>
        <p:nvSpPr>
          <p:cNvPr id="16" name="TextBox 15"/>
          <p:cNvSpPr txBox="1"/>
          <p:nvPr/>
        </p:nvSpPr>
        <p:spPr>
          <a:xfrm>
            <a:off x="640080" y="3657600"/>
            <a:ext cx="3200400" cy="640080"/>
          </a:xfrm>
          <a:prstGeom prst="rect">
            <a:avLst/>
          </a:prstGeom>
          <a:noFill/>
        </p:spPr>
        <p:txBody>
          <a:bodyPr wrap="square">
            <a:spAutoFit/>
          </a:bodyPr>
          <a:lstStyle/>
          <a:p>
            <a:pPr algn="ctr">
              <a:defRPr sz="1400" b="0">
                <a:solidFill>
                  <a:srgbClr val="F5F5F5"/>
                </a:solidFill>
                <a:latin typeface="Segoe UI"/>
              </a:defRPr>
            </a:pPr>
            <a:r>
              <a:t>Hallucinations, bias,</a:t>
            </a:r>
            <a:br/>
            <a:r>
              <a:t>knowledge cutoff</a:t>
            </a:r>
          </a:p>
        </p:txBody>
      </p:sp>
      <p:sp>
        <p:nvSpPr>
          <p:cNvPr id="17" name="Rounded Rectangle 16"/>
          <p:cNvSpPr/>
          <p:nvPr/>
        </p:nvSpPr>
        <p:spPr>
          <a:xfrm>
            <a:off x="4251959" y="3108960"/>
            <a:ext cx="3474720" cy="1371600"/>
          </a:xfrm>
          <a:prstGeom prst="round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19" y="3246120"/>
            <a:ext cx="3200400" cy="365760"/>
          </a:xfrm>
          <a:prstGeom prst="rect">
            <a:avLst/>
          </a:prstGeom>
          <a:noFill/>
        </p:spPr>
        <p:txBody>
          <a:bodyPr wrap="square">
            <a:spAutoFit/>
          </a:bodyPr>
          <a:lstStyle/>
          <a:p>
            <a:pPr algn="ctr">
              <a:defRPr sz="1800" b="1">
                <a:solidFill>
                  <a:srgbClr val="FFFFFF"/>
                </a:solidFill>
                <a:latin typeface="Segoe UI"/>
              </a:defRPr>
            </a:pPr>
            <a:r>
              <a:t>AI Safety</a:t>
            </a:r>
          </a:p>
        </p:txBody>
      </p:sp>
      <p:sp>
        <p:nvSpPr>
          <p:cNvPr id="19" name="TextBox 18"/>
          <p:cNvSpPr txBox="1"/>
          <p:nvPr/>
        </p:nvSpPr>
        <p:spPr>
          <a:xfrm>
            <a:off x="4389119" y="3657600"/>
            <a:ext cx="3200400" cy="640080"/>
          </a:xfrm>
          <a:prstGeom prst="rect">
            <a:avLst/>
          </a:prstGeom>
          <a:noFill/>
        </p:spPr>
        <p:txBody>
          <a:bodyPr wrap="square">
            <a:spAutoFit/>
          </a:bodyPr>
          <a:lstStyle/>
          <a:p>
            <a:pPr algn="ctr">
              <a:defRPr sz="1400" b="0">
                <a:solidFill>
                  <a:srgbClr val="F5F5F5"/>
                </a:solidFill>
                <a:latin typeface="Segoe UI"/>
              </a:defRPr>
            </a:pPr>
            <a:r>
              <a:t>Fact-check, don't share</a:t>
            </a:r>
            <a:br/>
            <a:r>
              <a:t>personal info, be honest</a:t>
            </a:r>
          </a:p>
        </p:txBody>
      </p:sp>
      <p:sp>
        <p:nvSpPr>
          <p:cNvPr id="20" name="Rounded Rectangle 19"/>
          <p:cNvSpPr/>
          <p:nvPr/>
        </p:nvSpPr>
        <p:spPr>
          <a:xfrm>
            <a:off x="8001000" y="3108960"/>
            <a:ext cx="3474720" cy="1371600"/>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3246120"/>
            <a:ext cx="3200400" cy="365760"/>
          </a:xfrm>
          <a:prstGeom prst="rect">
            <a:avLst/>
          </a:prstGeom>
          <a:noFill/>
        </p:spPr>
        <p:txBody>
          <a:bodyPr wrap="square">
            <a:spAutoFit/>
          </a:bodyPr>
          <a:lstStyle/>
          <a:p>
            <a:pPr algn="ctr">
              <a:defRPr sz="1800" b="1">
                <a:solidFill>
                  <a:srgbClr val="FFFFFF"/>
                </a:solidFill>
                <a:latin typeface="Segoe UI"/>
              </a:defRPr>
            </a:pPr>
            <a:r>
              <a:t>AI Tools</a:t>
            </a:r>
          </a:p>
        </p:txBody>
      </p:sp>
      <p:sp>
        <p:nvSpPr>
          <p:cNvPr id="22" name="TextBox 21"/>
          <p:cNvSpPr txBox="1"/>
          <p:nvPr/>
        </p:nvSpPr>
        <p:spPr>
          <a:xfrm>
            <a:off x="8138160" y="3657600"/>
            <a:ext cx="3200400" cy="640080"/>
          </a:xfrm>
          <a:prstGeom prst="rect">
            <a:avLst/>
          </a:prstGeom>
          <a:noFill/>
        </p:spPr>
        <p:txBody>
          <a:bodyPr wrap="square">
            <a:spAutoFit/>
          </a:bodyPr>
          <a:lstStyle/>
          <a:p>
            <a:pPr algn="ctr">
              <a:defRPr sz="1400" b="0">
                <a:solidFill>
                  <a:srgbClr val="F5F5F5"/>
                </a:solidFill>
                <a:latin typeface="Segoe UI"/>
              </a:defRPr>
            </a:pPr>
            <a:r>
              <a:t>ChatGPT, Gemini, Grok</a:t>
            </a:r>
            <a:br/>
            <a:r>
              <a:t>and more</a:t>
            </a:r>
          </a:p>
        </p:txBody>
      </p:sp>
      <p:sp>
        <p:nvSpPr>
          <p:cNvPr id="23" name="Rounded Rectangle 22"/>
          <p:cNvSpPr/>
          <p:nvPr/>
        </p:nvSpPr>
        <p:spPr>
          <a:xfrm>
            <a:off x="1371600" y="4846320"/>
            <a:ext cx="9445752" cy="6400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2000" b="1">
                <a:solidFill>
                  <a:srgbClr val="1E3A5F"/>
                </a:solidFill>
                <a:latin typeface="Segoe UI"/>
              </a:defRPr>
            </a:pPr>
            <a:r>
              <a:t>Today: Level up your prompting with META PROMPTING + team challenges!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What is Meta Prompting?</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63040"/>
            <a:ext cx="10908792" cy="1097280"/>
          </a:xfrm>
          <a:prstGeom prst="round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0152" cy="457200"/>
          </a:xfrm>
          <a:prstGeom prst="rect">
            <a:avLst/>
          </a:prstGeom>
          <a:noFill/>
        </p:spPr>
        <p:txBody>
          <a:bodyPr wrap="square">
            <a:spAutoFit/>
          </a:bodyPr>
          <a:lstStyle/>
          <a:p>
            <a:pPr algn="ctr">
              <a:defRPr sz="2400" b="1">
                <a:solidFill>
                  <a:srgbClr val="FFFFFF"/>
                </a:solidFill>
                <a:latin typeface="Segoe UI"/>
              </a:defRPr>
            </a:pPr>
            <a:r>
              <a:t>Meta Prompting = Using AI to help you write better prompts</a:t>
            </a:r>
          </a:p>
        </p:txBody>
      </p:sp>
      <p:sp>
        <p:nvSpPr>
          <p:cNvPr id="7" name="TextBox 6"/>
          <p:cNvSpPr txBox="1"/>
          <p:nvPr/>
        </p:nvSpPr>
        <p:spPr>
          <a:xfrm>
            <a:off x="914400" y="2011680"/>
            <a:ext cx="10360152" cy="365760"/>
          </a:xfrm>
          <a:prstGeom prst="rect">
            <a:avLst/>
          </a:prstGeom>
          <a:noFill/>
        </p:spPr>
        <p:txBody>
          <a:bodyPr wrap="square">
            <a:spAutoFit/>
          </a:bodyPr>
          <a:lstStyle/>
          <a:p>
            <a:pPr algn="ctr">
              <a:defRPr sz="1600" b="0">
                <a:solidFill>
                  <a:srgbClr val="F5F5F5"/>
                </a:solidFill>
                <a:latin typeface="Segoe UI"/>
              </a:defRPr>
            </a:pPr>
            <a:r>
              <a:t>Instead of writing the perfect prompt yourself, ask AI to help you create it!</a:t>
            </a:r>
          </a:p>
        </p:txBody>
      </p:sp>
      <p:sp>
        <p:nvSpPr>
          <p:cNvPr id="8" name="Rounded Rectangle 7"/>
          <p:cNvSpPr/>
          <p:nvPr/>
        </p:nvSpPr>
        <p:spPr>
          <a:xfrm>
            <a:off x="640080" y="2926080"/>
            <a:ext cx="5120640" cy="2743200"/>
          </a:xfrm>
          <a:prstGeom prst="roundRect">
            <a:avLst/>
          </a:prstGeom>
          <a:solidFill>
            <a:srgbClr val="F5F5F5"/>
          </a:solidFill>
          <a:ln w="25400">
            <a:solidFill>
              <a:srgbClr val="673A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063240"/>
            <a:ext cx="4754880" cy="365760"/>
          </a:xfrm>
          <a:prstGeom prst="rect">
            <a:avLst/>
          </a:prstGeom>
          <a:noFill/>
        </p:spPr>
        <p:txBody>
          <a:bodyPr wrap="square">
            <a:spAutoFit/>
          </a:bodyPr>
          <a:lstStyle/>
          <a:p>
            <a:pPr algn="ctr">
              <a:defRPr sz="2000" b="1">
                <a:solidFill>
                  <a:srgbClr val="673AB7"/>
                </a:solidFill>
                <a:latin typeface="Segoe UI"/>
              </a:defRPr>
            </a:pPr>
            <a:r>
              <a:t>Think of it like this...</a:t>
            </a:r>
          </a:p>
        </p:txBody>
      </p:sp>
      <p:sp>
        <p:nvSpPr>
          <p:cNvPr id="10" name="TextBox 9"/>
          <p:cNvSpPr txBox="1"/>
          <p:nvPr/>
        </p:nvSpPr>
        <p:spPr>
          <a:xfrm>
            <a:off x="822960" y="3566160"/>
            <a:ext cx="4754880" cy="1828800"/>
          </a:xfrm>
          <a:prstGeom prst="rect">
            <a:avLst/>
          </a:prstGeom>
          <a:noFill/>
        </p:spPr>
        <p:txBody>
          <a:bodyPr wrap="square">
            <a:spAutoFit/>
          </a:bodyPr>
          <a:lstStyle/>
          <a:p>
            <a:pPr algn="ctr">
              <a:defRPr sz="1500" b="0">
                <a:solidFill>
                  <a:srgbClr val="424242"/>
                </a:solidFill>
                <a:latin typeface="Segoe UI"/>
              </a:defRPr>
            </a:pPr>
            <a:r>
              <a:t>Regular prompting:</a:t>
            </a:r>
            <a:br/>
            <a:r>
              <a:t>You write a prompt and hope it works.</a:t>
            </a:r>
            <a:br/>
            <a:br/>
            <a:r>
              <a:t>Meta prompting:</a:t>
            </a:r>
            <a:br/>
            <a:r>
              <a:t>You ask AI to help you write the prompt,</a:t>
            </a:r>
            <a:br/>
            <a:r>
              <a:t>THEN you use that better prompt!</a:t>
            </a:r>
          </a:p>
        </p:txBody>
      </p:sp>
      <p:sp>
        <p:nvSpPr>
          <p:cNvPr id="11" name="Rounded Rectangle 10"/>
          <p:cNvSpPr/>
          <p:nvPr/>
        </p:nvSpPr>
        <p:spPr>
          <a:xfrm>
            <a:off x="6336792" y="2926080"/>
            <a:ext cx="5212080" cy="274320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3063240"/>
            <a:ext cx="4846320" cy="365760"/>
          </a:xfrm>
          <a:prstGeom prst="rect">
            <a:avLst/>
          </a:prstGeom>
          <a:noFill/>
        </p:spPr>
        <p:txBody>
          <a:bodyPr wrap="square">
            <a:spAutoFit/>
          </a:bodyPr>
          <a:lstStyle/>
          <a:p>
            <a:pPr algn="ctr">
              <a:defRPr sz="2000" b="1">
                <a:solidFill>
                  <a:srgbClr val="1E3A5F"/>
                </a:solidFill>
                <a:latin typeface="Segoe UI"/>
              </a:defRPr>
            </a:pPr>
            <a:r>
              <a:t>Why does this matter?</a:t>
            </a:r>
          </a:p>
        </p:txBody>
      </p:sp>
      <p:sp>
        <p:nvSpPr>
          <p:cNvPr id="13" name="TextBox 12"/>
          <p:cNvSpPr txBox="1"/>
          <p:nvPr/>
        </p:nvSpPr>
        <p:spPr>
          <a:xfrm>
            <a:off x="6519672" y="3566160"/>
            <a:ext cx="4846320" cy="1828800"/>
          </a:xfrm>
          <a:prstGeom prst="rect">
            <a:avLst/>
          </a:prstGeom>
          <a:noFill/>
        </p:spPr>
        <p:txBody>
          <a:bodyPr wrap="square">
            <a:spAutoFit/>
          </a:bodyPr>
          <a:lstStyle/>
          <a:p>
            <a:pPr algn="l">
              <a:defRPr sz="1500" b="0">
                <a:solidFill>
                  <a:srgbClr val="1E3A5F"/>
                </a:solidFill>
                <a:latin typeface="Segoe UI"/>
              </a:defRPr>
            </a:pPr>
            <a:r>
              <a:t>- AI is great at writing prompts!</a:t>
            </a:r>
            <a:br/>
            <a:r>
              <a:t>- You get better results with less effort</a:t>
            </a:r>
            <a:br/>
            <a:r>
              <a:t>- It helps when you're stuck</a:t>
            </a:r>
            <a:br/>
            <a:r>
              <a:t>- It's how professionals use AI</a:t>
            </a:r>
          </a:p>
        </p:txBody>
      </p:sp>
      <p:sp>
        <p:nvSpPr>
          <p:cNvPr id="14" name="Rounded Rectangle 13"/>
          <p:cNvSpPr/>
          <p:nvPr/>
        </p:nvSpPr>
        <p:spPr>
          <a:xfrm>
            <a:off x="914400" y="5760720"/>
            <a:ext cx="10360152" cy="640080"/>
          </a:xfrm>
          <a:prstGeom prst="round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Meta prompting is the #1 skill that separates beginners from experts!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Technique 1: Ask AI to Write Your Prompt</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5120640" cy="2011680"/>
          </a:xfrm>
          <a:prstGeom prst="roundRect">
            <a:avLst/>
          </a:prstGeom>
          <a:solidFill>
            <a:srgbClr val="F5F5F5"/>
          </a:solidFill>
          <a:ln w="254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4754880" cy="365760"/>
          </a:xfrm>
          <a:prstGeom prst="rect">
            <a:avLst/>
          </a:prstGeom>
          <a:noFill/>
        </p:spPr>
        <p:txBody>
          <a:bodyPr wrap="square">
            <a:spAutoFit/>
          </a:bodyPr>
          <a:lstStyle/>
          <a:p>
            <a:pPr algn="ctr">
              <a:defRPr sz="1800" b="1">
                <a:solidFill>
                  <a:srgbClr val="F44336"/>
                </a:solidFill>
                <a:latin typeface="Segoe UI"/>
              </a:defRPr>
            </a:pPr>
            <a:r>
              <a:t>What you might normally type:</a:t>
            </a:r>
          </a:p>
        </p:txBody>
      </p:sp>
      <p:sp>
        <p:nvSpPr>
          <p:cNvPr id="7" name="Rounded Rectangle 6"/>
          <p:cNvSpPr/>
          <p:nvPr/>
        </p:nvSpPr>
        <p:spPr>
          <a:xfrm>
            <a:off x="914400" y="2194560"/>
            <a:ext cx="4572000" cy="548640"/>
          </a:xfrm>
          <a:prstGeom prst="round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b="1">
                <a:solidFill>
                  <a:srgbClr val="FFFFFF"/>
                </a:solidFill>
                <a:latin typeface="Segoe UI"/>
              </a:defRPr>
            </a:pPr>
            <a:r>
              <a:t>"Tell me about black holes"</a:t>
            </a:r>
          </a:p>
        </p:txBody>
      </p:sp>
      <p:sp>
        <p:nvSpPr>
          <p:cNvPr id="8" name="TextBox 7"/>
          <p:cNvSpPr txBox="1"/>
          <p:nvPr/>
        </p:nvSpPr>
        <p:spPr>
          <a:xfrm>
            <a:off x="822960" y="2926080"/>
            <a:ext cx="4754880" cy="365760"/>
          </a:xfrm>
          <a:prstGeom prst="rect">
            <a:avLst/>
          </a:prstGeom>
          <a:noFill/>
        </p:spPr>
        <p:txBody>
          <a:bodyPr wrap="square">
            <a:spAutoFit/>
          </a:bodyPr>
          <a:lstStyle/>
          <a:p>
            <a:pPr algn="ctr">
              <a:defRPr sz="1400" b="0">
                <a:solidFill>
                  <a:srgbClr val="424242"/>
                </a:solidFill>
                <a:latin typeface="Segoe UI"/>
              </a:defRPr>
            </a:pPr>
            <a:r>
              <a:t>Generic, unfocused result</a:t>
            </a:r>
          </a:p>
        </p:txBody>
      </p:sp>
      <p:sp>
        <p:nvSpPr>
          <p:cNvPr id="9" name="Rounded Rectangle 8"/>
          <p:cNvSpPr/>
          <p:nvPr/>
        </p:nvSpPr>
        <p:spPr>
          <a:xfrm>
            <a:off x="6336792" y="1554480"/>
            <a:ext cx="5212080" cy="2011680"/>
          </a:xfrm>
          <a:prstGeom prst="roundRect">
            <a:avLst/>
          </a:prstGeom>
          <a:solidFill>
            <a:srgbClr val="F5F5F5"/>
          </a:solidFill>
          <a:ln w="25400">
            <a:solidFill>
              <a:srgbClr val="388E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91640"/>
            <a:ext cx="4846320" cy="365760"/>
          </a:xfrm>
          <a:prstGeom prst="rect">
            <a:avLst/>
          </a:prstGeom>
          <a:noFill/>
        </p:spPr>
        <p:txBody>
          <a:bodyPr wrap="square">
            <a:spAutoFit/>
          </a:bodyPr>
          <a:lstStyle/>
          <a:p>
            <a:pPr algn="ctr">
              <a:defRPr sz="1800" b="1">
                <a:solidFill>
                  <a:srgbClr val="388E3C"/>
                </a:solidFill>
                <a:latin typeface="Segoe UI"/>
              </a:defRPr>
            </a:pPr>
            <a:r>
              <a:t>The meta prompting way:</a:t>
            </a:r>
          </a:p>
        </p:txBody>
      </p:sp>
      <p:sp>
        <p:nvSpPr>
          <p:cNvPr id="11" name="Rounded Rectangle 10"/>
          <p:cNvSpPr/>
          <p:nvPr/>
        </p:nvSpPr>
        <p:spPr>
          <a:xfrm>
            <a:off x="6611112" y="2194560"/>
            <a:ext cx="4663440" cy="548640"/>
          </a:xfrm>
          <a:prstGeom prst="round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400" b="1">
                <a:solidFill>
                  <a:srgbClr val="FFFFFF"/>
                </a:solidFill>
                <a:latin typeface="Segoe UI"/>
              </a:defRPr>
            </a:pPr>
            <a:r>
              <a:t>"Write the best possible prompt for learning about black holes"</a:t>
            </a:r>
          </a:p>
        </p:txBody>
      </p:sp>
      <p:sp>
        <p:nvSpPr>
          <p:cNvPr id="12" name="TextBox 11"/>
          <p:cNvSpPr txBox="1"/>
          <p:nvPr/>
        </p:nvSpPr>
        <p:spPr>
          <a:xfrm>
            <a:off x="6519672" y="2926080"/>
            <a:ext cx="4846320" cy="365760"/>
          </a:xfrm>
          <a:prstGeom prst="rect">
            <a:avLst/>
          </a:prstGeom>
          <a:noFill/>
        </p:spPr>
        <p:txBody>
          <a:bodyPr wrap="square">
            <a:spAutoFit/>
          </a:bodyPr>
          <a:lstStyle/>
          <a:p>
            <a:pPr algn="ctr">
              <a:defRPr sz="1400" b="0">
                <a:solidFill>
                  <a:srgbClr val="424242"/>
                </a:solidFill>
                <a:latin typeface="Segoe UI"/>
              </a:defRPr>
            </a:pPr>
            <a:r>
              <a:t>AI creates a detailed, structured prompt for you!</a:t>
            </a:r>
          </a:p>
        </p:txBody>
      </p:sp>
      <p:sp>
        <p:nvSpPr>
          <p:cNvPr id="13" name="TextBox 12"/>
          <p:cNvSpPr txBox="1"/>
          <p:nvPr/>
        </p:nvSpPr>
        <p:spPr>
          <a:xfrm>
            <a:off x="5577840" y="2286000"/>
            <a:ext cx="914400" cy="457200"/>
          </a:xfrm>
          <a:prstGeom prst="rect">
            <a:avLst/>
          </a:prstGeom>
          <a:noFill/>
        </p:spPr>
        <p:txBody>
          <a:bodyPr wrap="square">
            <a:spAutoFit/>
          </a:bodyPr>
          <a:lstStyle/>
          <a:p>
            <a:pPr algn="ctr">
              <a:defRPr sz="3600" b="1">
                <a:solidFill>
                  <a:srgbClr val="FFB300"/>
                </a:solidFill>
                <a:latin typeface="Segoe UI"/>
              </a:defRPr>
            </a:pPr>
            <a:r>
              <a:t>→</a:t>
            </a:r>
          </a:p>
        </p:txBody>
      </p:sp>
      <p:sp>
        <p:nvSpPr>
          <p:cNvPr id="14" name="Rounded Rectangle 13"/>
          <p:cNvSpPr/>
          <p:nvPr/>
        </p:nvSpPr>
        <p:spPr>
          <a:xfrm>
            <a:off x="640080" y="3931920"/>
            <a:ext cx="10908792" cy="182880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23360"/>
            <a:ext cx="10360152" cy="365760"/>
          </a:xfrm>
          <a:prstGeom prst="rect">
            <a:avLst/>
          </a:prstGeom>
          <a:noFill/>
        </p:spPr>
        <p:txBody>
          <a:bodyPr wrap="square">
            <a:spAutoFit/>
          </a:bodyPr>
          <a:lstStyle/>
          <a:p>
            <a:pPr algn="l">
              <a:defRPr sz="1600" b="1">
                <a:solidFill>
                  <a:srgbClr val="FFB300"/>
                </a:solidFill>
                <a:latin typeface="Segoe UI"/>
              </a:defRPr>
            </a:pPr>
            <a:r>
              <a:t>AI might generate a prompt like:</a:t>
            </a:r>
          </a:p>
        </p:txBody>
      </p:sp>
      <p:sp>
        <p:nvSpPr>
          <p:cNvPr id="16" name="TextBox 15"/>
          <p:cNvSpPr txBox="1"/>
          <p:nvPr/>
        </p:nvSpPr>
        <p:spPr>
          <a:xfrm>
            <a:off x="914400" y="4434840"/>
            <a:ext cx="10360152" cy="1188720"/>
          </a:xfrm>
          <a:prstGeom prst="rect">
            <a:avLst/>
          </a:prstGeom>
          <a:noFill/>
        </p:spPr>
        <p:txBody>
          <a:bodyPr wrap="square">
            <a:spAutoFit/>
          </a:bodyPr>
          <a:lstStyle/>
          <a:p>
            <a:pPr algn="l">
              <a:defRPr sz="1500" b="0">
                <a:solidFill>
                  <a:srgbClr val="FFFFFF"/>
                </a:solidFill>
                <a:latin typeface="Segoe UI"/>
              </a:defRPr>
            </a:pPr>
            <a:r>
              <a:t>"You are an astrophysics professor explaining to curious teenagers. Explain how black holes form, what happens at the event horizon, and why they matter for understanding the universe. Use analogies, include 5 key facts, and end with the most mind-blowing thing about black holes."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Technique 2: Ask AI to Improve Your Prompt</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10908792" cy="1188720"/>
          </a:xfrm>
          <a:prstGeom prst="round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10360152" cy="320040"/>
          </a:xfrm>
          <a:prstGeom prst="rect">
            <a:avLst/>
          </a:prstGeom>
          <a:noFill/>
        </p:spPr>
        <p:txBody>
          <a:bodyPr wrap="square">
            <a:spAutoFit/>
          </a:bodyPr>
          <a:lstStyle/>
          <a:p>
            <a:pPr algn="l">
              <a:defRPr sz="1800" b="1">
                <a:solidFill>
                  <a:srgbClr val="FFFFFF"/>
                </a:solidFill>
                <a:latin typeface="Segoe UI"/>
              </a:defRPr>
            </a:pPr>
            <a:r>
              <a:t>Step 1: Your rough prompt</a:t>
            </a:r>
          </a:p>
        </p:txBody>
      </p:sp>
      <p:sp>
        <p:nvSpPr>
          <p:cNvPr id="7" name="TextBox 6"/>
          <p:cNvSpPr txBox="1"/>
          <p:nvPr/>
        </p:nvSpPr>
        <p:spPr>
          <a:xfrm>
            <a:off x="914400" y="2011680"/>
            <a:ext cx="10360152" cy="640080"/>
          </a:xfrm>
          <a:prstGeom prst="rect">
            <a:avLst/>
          </a:prstGeom>
          <a:noFill/>
        </p:spPr>
        <p:txBody>
          <a:bodyPr wrap="square">
            <a:spAutoFit/>
          </a:bodyPr>
          <a:lstStyle/>
          <a:p>
            <a:pPr algn="l">
              <a:defRPr sz="1500" b="0">
                <a:solidFill>
                  <a:srgbClr val="F5F5F5"/>
                </a:solidFill>
                <a:latin typeface="Segoe UI"/>
              </a:defRPr>
            </a:pPr>
            <a:r>
              <a:t>"Explain photosynthesis for my science class"</a:t>
            </a:r>
          </a:p>
        </p:txBody>
      </p:sp>
      <p:sp>
        <p:nvSpPr>
          <p:cNvPr id="8" name="TextBox 7"/>
          <p:cNvSpPr txBox="1"/>
          <p:nvPr/>
        </p:nvSpPr>
        <p:spPr>
          <a:xfrm>
            <a:off x="5486400" y="2743200"/>
            <a:ext cx="1216152" cy="274320"/>
          </a:xfrm>
          <a:prstGeom prst="rect">
            <a:avLst/>
          </a:prstGeom>
          <a:noFill/>
        </p:spPr>
        <p:txBody>
          <a:bodyPr wrap="square">
            <a:spAutoFit/>
          </a:bodyPr>
          <a:lstStyle/>
          <a:p>
            <a:pPr algn="ctr">
              <a:defRPr sz="2400" b="1">
                <a:solidFill>
                  <a:srgbClr val="FFB300"/>
                </a:solidFill>
                <a:latin typeface="Segoe UI"/>
              </a:defRPr>
            </a:pPr>
            <a:r>
              <a:t>↓</a:t>
            </a:r>
          </a:p>
        </p:txBody>
      </p:sp>
      <p:sp>
        <p:nvSpPr>
          <p:cNvPr id="9" name="Rounded Rectangle 8"/>
          <p:cNvSpPr/>
          <p:nvPr/>
        </p:nvSpPr>
        <p:spPr>
          <a:xfrm>
            <a:off x="640080" y="2971800"/>
            <a:ext cx="10908792" cy="118872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063240"/>
            <a:ext cx="10360152" cy="320040"/>
          </a:xfrm>
          <a:prstGeom prst="rect">
            <a:avLst/>
          </a:prstGeom>
          <a:noFill/>
        </p:spPr>
        <p:txBody>
          <a:bodyPr wrap="square">
            <a:spAutoFit/>
          </a:bodyPr>
          <a:lstStyle/>
          <a:p>
            <a:pPr algn="l">
              <a:defRPr sz="1800" b="1">
                <a:solidFill>
                  <a:srgbClr val="FFFFFF"/>
                </a:solidFill>
                <a:latin typeface="Segoe UI"/>
              </a:defRPr>
            </a:pPr>
            <a:r>
              <a:t>Step 2: Ask AI to improve it</a:t>
            </a:r>
          </a:p>
        </p:txBody>
      </p:sp>
      <p:sp>
        <p:nvSpPr>
          <p:cNvPr id="11" name="TextBox 10"/>
          <p:cNvSpPr txBox="1"/>
          <p:nvPr/>
        </p:nvSpPr>
        <p:spPr>
          <a:xfrm>
            <a:off x="914400" y="3429000"/>
            <a:ext cx="10360152" cy="640080"/>
          </a:xfrm>
          <a:prstGeom prst="rect">
            <a:avLst/>
          </a:prstGeom>
          <a:noFill/>
        </p:spPr>
        <p:txBody>
          <a:bodyPr wrap="square">
            <a:spAutoFit/>
          </a:bodyPr>
          <a:lstStyle/>
          <a:p>
            <a:pPr algn="l">
              <a:defRPr sz="1500" b="0">
                <a:solidFill>
                  <a:srgbClr val="F5F5F5"/>
                </a:solidFill>
                <a:latin typeface="Segoe UI"/>
              </a:defRPr>
            </a:pPr>
            <a:r>
              <a:t>"Make this prompt better using the RTCF framework:</a:t>
            </a:r>
            <a:br/>
            <a:r>
              <a:t>Explain photosynthesis for my science class"</a:t>
            </a:r>
          </a:p>
        </p:txBody>
      </p:sp>
      <p:sp>
        <p:nvSpPr>
          <p:cNvPr id="12" name="TextBox 11"/>
          <p:cNvSpPr txBox="1"/>
          <p:nvPr/>
        </p:nvSpPr>
        <p:spPr>
          <a:xfrm>
            <a:off x="5486400" y="4160520"/>
            <a:ext cx="1216152" cy="274320"/>
          </a:xfrm>
          <a:prstGeom prst="rect">
            <a:avLst/>
          </a:prstGeom>
          <a:noFill/>
        </p:spPr>
        <p:txBody>
          <a:bodyPr wrap="square">
            <a:spAutoFit/>
          </a:bodyPr>
          <a:lstStyle/>
          <a:p>
            <a:pPr algn="ctr">
              <a:defRPr sz="2400" b="1">
                <a:solidFill>
                  <a:srgbClr val="FFB300"/>
                </a:solidFill>
                <a:latin typeface="Segoe UI"/>
              </a:defRPr>
            </a:pPr>
            <a:r>
              <a:t>↓</a:t>
            </a:r>
          </a:p>
        </p:txBody>
      </p:sp>
      <p:sp>
        <p:nvSpPr>
          <p:cNvPr id="13" name="Rounded Rectangle 12"/>
          <p:cNvSpPr/>
          <p:nvPr/>
        </p:nvSpPr>
        <p:spPr>
          <a:xfrm>
            <a:off x="640080" y="4389120"/>
            <a:ext cx="10908792" cy="1188720"/>
          </a:xfrm>
          <a:prstGeom prst="round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80560"/>
            <a:ext cx="10360152" cy="320040"/>
          </a:xfrm>
          <a:prstGeom prst="rect">
            <a:avLst/>
          </a:prstGeom>
          <a:noFill/>
        </p:spPr>
        <p:txBody>
          <a:bodyPr wrap="square">
            <a:spAutoFit/>
          </a:bodyPr>
          <a:lstStyle/>
          <a:p>
            <a:pPr algn="l">
              <a:defRPr sz="1800" b="1">
                <a:solidFill>
                  <a:srgbClr val="FFFFFF"/>
                </a:solidFill>
                <a:latin typeface="Segoe UI"/>
              </a:defRPr>
            </a:pPr>
            <a:r>
              <a:t>Step 3: Use the improved prompt</a:t>
            </a:r>
          </a:p>
        </p:txBody>
      </p:sp>
      <p:sp>
        <p:nvSpPr>
          <p:cNvPr id="15" name="TextBox 14"/>
          <p:cNvSpPr txBox="1"/>
          <p:nvPr/>
        </p:nvSpPr>
        <p:spPr>
          <a:xfrm>
            <a:off x="914400" y="4846320"/>
            <a:ext cx="10360152" cy="640080"/>
          </a:xfrm>
          <a:prstGeom prst="rect">
            <a:avLst/>
          </a:prstGeom>
          <a:noFill/>
        </p:spPr>
        <p:txBody>
          <a:bodyPr wrap="square">
            <a:spAutoFit/>
          </a:bodyPr>
          <a:lstStyle/>
          <a:p>
            <a:pPr algn="l">
              <a:defRPr sz="1500" b="0">
                <a:solidFill>
                  <a:srgbClr val="F5F5F5"/>
                </a:solidFill>
                <a:latin typeface="Segoe UI"/>
              </a:defRPr>
            </a:pPr>
            <a:r>
              <a:t>AI rewrites it with Role, Task, Context, and Format!</a:t>
            </a:r>
          </a:p>
        </p:txBody>
      </p:sp>
      <p:sp>
        <p:nvSpPr>
          <p:cNvPr id="16" name="Rounded Rectangle 15"/>
          <p:cNvSpPr/>
          <p:nvPr/>
        </p:nvSpPr>
        <p:spPr>
          <a:xfrm>
            <a:off x="914400" y="5760720"/>
            <a:ext cx="10360152" cy="640080"/>
          </a:xfrm>
          <a:prstGeom prst="round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You don't need to write the perfect prompt -- let AI help you perfect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Technique 3: Ask AI What Questions to Ask</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5120640" cy="1371600"/>
          </a:xfrm>
          <a:prstGeom prst="roundRect">
            <a:avLst/>
          </a:prstGeom>
          <a:solidFill>
            <a:srgbClr val="F5F5F5"/>
          </a:solidFill>
          <a:ln w="2540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4754880" cy="365760"/>
          </a:xfrm>
          <a:prstGeom prst="rect">
            <a:avLst/>
          </a:prstGeom>
          <a:noFill/>
        </p:spPr>
        <p:txBody>
          <a:bodyPr wrap="square">
            <a:spAutoFit/>
          </a:bodyPr>
          <a:lstStyle/>
          <a:p>
            <a:pPr algn="ctr">
              <a:defRPr sz="2000" b="1">
                <a:solidFill>
                  <a:srgbClr val="FF9933"/>
                </a:solidFill>
                <a:latin typeface="Segoe UI"/>
              </a:defRPr>
            </a:pPr>
            <a:r>
              <a:t>The Problem:</a:t>
            </a:r>
          </a:p>
        </p:txBody>
      </p:sp>
      <p:sp>
        <p:nvSpPr>
          <p:cNvPr id="7" name="TextBox 6"/>
          <p:cNvSpPr txBox="1"/>
          <p:nvPr/>
        </p:nvSpPr>
        <p:spPr>
          <a:xfrm>
            <a:off x="822960" y="2103120"/>
            <a:ext cx="4754880" cy="640080"/>
          </a:xfrm>
          <a:prstGeom prst="rect">
            <a:avLst/>
          </a:prstGeom>
          <a:noFill/>
        </p:spPr>
        <p:txBody>
          <a:bodyPr wrap="square">
            <a:spAutoFit/>
          </a:bodyPr>
          <a:lstStyle/>
          <a:p>
            <a:pPr algn="ctr">
              <a:defRPr sz="1600" b="0">
                <a:solidFill>
                  <a:srgbClr val="424242"/>
                </a:solidFill>
                <a:latin typeface="Segoe UI"/>
              </a:defRPr>
            </a:pPr>
            <a:r>
              <a:t>Sometimes you don't even know</a:t>
            </a:r>
            <a:br/>
            <a:r>
              <a:t>what to ask! You just know the topic.</a:t>
            </a:r>
          </a:p>
        </p:txBody>
      </p:sp>
      <p:sp>
        <p:nvSpPr>
          <p:cNvPr id="8" name="Rounded Rectangle 7"/>
          <p:cNvSpPr/>
          <p:nvPr/>
        </p:nvSpPr>
        <p:spPr>
          <a:xfrm>
            <a:off x="6336792" y="1554480"/>
            <a:ext cx="5212080" cy="1371600"/>
          </a:xfrm>
          <a:prstGeom prst="roundRect">
            <a:avLst/>
          </a:prstGeom>
          <a:solidFill>
            <a:srgbClr val="F5F5F5"/>
          </a:solidFill>
          <a:ln w="25400">
            <a:solidFill>
              <a:srgbClr val="388E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691640"/>
            <a:ext cx="4846320" cy="365760"/>
          </a:xfrm>
          <a:prstGeom prst="rect">
            <a:avLst/>
          </a:prstGeom>
          <a:noFill/>
        </p:spPr>
        <p:txBody>
          <a:bodyPr wrap="square">
            <a:spAutoFit/>
          </a:bodyPr>
          <a:lstStyle/>
          <a:p>
            <a:pPr algn="ctr">
              <a:defRPr sz="2000" b="1">
                <a:solidFill>
                  <a:srgbClr val="388E3C"/>
                </a:solidFill>
                <a:latin typeface="Segoe UI"/>
              </a:defRPr>
            </a:pPr>
            <a:r>
              <a:t>The Meta Prompt:</a:t>
            </a:r>
          </a:p>
        </p:txBody>
      </p:sp>
      <p:sp>
        <p:nvSpPr>
          <p:cNvPr id="10" name="TextBox 9"/>
          <p:cNvSpPr txBox="1"/>
          <p:nvPr/>
        </p:nvSpPr>
        <p:spPr>
          <a:xfrm>
            <a:off x="6519672" y="2103120"/>
            <a:ext cx="4846320" cy="640080"/>
          </a:xfrm>
          <a:prstGeom prst="rect">
            <a:avLst/>
          </a:prstGeom>
          <a:noFill/>
        </p:spPr>
        <p:txBody>
          <a:bodyPr wrap="square">
            <a:spAutoFit/>
          </a:bodyPr>
          <a:lstStyle/>
          <a:p>
            <a:pPr algn="ctr">
              <a:defRPr sz="1500" b="0">
                <a:solidFill>
                  <a:srgbClr val="424242"/>
                </a:solidFill>
                <a:latin typeface="Segoe UI"/>
              </a:defRPr>
            </a:pPr>
            <a:r>
              <a:t>"I'm researching climate change for</a:t>
            </a:r>
            <a:br/>
            <a:r>
              <a:t>a school project. What are the 5 best</a:t>
            </a:r>
            <a:br/>
            <a:r>
              <a:t>questions I should ask you?"</a:t>
            </a:r>
          </a:p>
        </p:txBody>
      </p:sp>
      <p:sp>
        <p:nvSpPr>
          <p:cNvPr id="11" name="Rounded Rectangle 10"/>
          <p:cNvSpPr/>
          <p:nvPr/>
        </p:nvSpPr>
        <p:spPr>
          <a:xfrm>
            <a:off x="640080" y="3200400"/>
            <a:ext cx="10908792" cy="256032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291840"/>
            <a:ext cx="10360152" cy="365760"/>
          </a:xfrm>
          <a:prstGeom prst="rect">
            <a:avLst/>
          </a:prstGeom>
          <a:noFill/>
        </p:spPr>
        <p:txBody>
          <a:bodyPr wrap="square">
            <a:spAutoFit/>
          </a:bodyPr>
          <a:lstStyle/>
          <a:p>
            <a:pPr algn="l">
              <a:defRPr sz="1800" b="1">
                <a:solidFill>
                  <a:srgbClr val="FFB300"/>
                </a:solidFill>
                <a:latin typeface="Segoe UI"/>
              </a:defRPr>
            </a:pPr>
            <a:r>
              <a:t>AI might suggest questions like:</a:t>
            </a:r>
          </a:p>
        </p:txBody>
      </p:sp>
      <p:sp>
        <p:nvSpPr>
          <p:cNvPr id="13" name="TextBox 12"/>
          <p:cNvSpPr txBox="1"/>
          <p:nvPr/>
        </p:nvSpPr>
        <p:spPr>
          <a:xfrm>
            <a:off x="1188720" y="3749039"/>
            <a:ext cx="9811512" cy="320040"/>
          </a:xfrm>
          <a:prstGeom prst="rect">
            <a:avLst/>
          </a:prstGeom>
          <a:noFill/>
        </p:spPr>
        <p:txBody>
          <a:bodyPr wrap="square">
            <a:spAutoFit/>
          </a:bodyPr>
          <a:lstStyle/>
          <a:p>
            <a:pPr algn="l">
              <a:defRPr sz="1500" b="0">
                <a:solidFill>
                  <a:srgbClr val="FFFFFF"/>
                </a:solidFill>
                <a:latin typeface="Segoe UI"/>
              </a:defRPr>
            </a:pPr>
            <a:r>
              <a:t>1. What are the top 3 causes of climate change?</a:t>
            </a:r>
          </a:p>
        </p:txBody>
      </p:sp>
      <p:sp>
        <p:nvSpPr>
          <p:cNvPr id="14" name="TextBox 13"/>
          <p:cNvSpPr txBox="1"/>
          <p:nvPr/>
        </p:nvSpPr>
        <p:spPr>
          <a:xfrm>
            <a:off x="1188720" y="4114800"/>
            <a:ext cx="9811512" cy="320040"/>
          </a:xfrm>
          <a:prstGeom prst="rect">
            <a:avLst/>
          </a:prstGeom>
          <a:noFill/>
        </p:spPr>
        <p:txBody>
          <a:bodyPr wrap="square">
            <a:spAutoFit/>
          </a:bodyPr>
          <a:lstStyle/>
          <a:p>
            <a:pPr algn="l">
              <a:defRPr sz="1500" b="0">
                <a:solidFill>
                  <a:srgbClr val="FFFFFF"/>
                </a:solidFill>
                <a:latin typeface="Segoe UI"/>
              </a:defRPr>
            </a:pPr>
            <a:r>
              <a:t>2. How does climate change affect weather patterns?</a:t>
            </a:r>
          </a:p>
        </p:txBody>
      </p:sp>
      <p:sp>
        <p:nvSpPr>
          <p:cNvPr id="15" name="TextBox 14"/>
          <p:cNvSpPr txBox="1"/>
          <p:nvPr/>
        </p:nvSpPr>
        <p:spPr>
          <a:xfrm>
            <a:off x="1188720" y="4480559"/>
            <a:ext cx="9811512" cy="320040"/>
          </a:xfrm>
          <a:prstGeom prst="rect">
            <a:avLst/>
          </a:prstGeom>
          <a:noFill/>
        </p:spPr>
        <p:txBody>
          <a:bodyPr wrap="square">
            <a:spAutoFit/>
          </a:bodyPr>
          <a:lstStyle/>
          <a:p>
            <a:pPr algn="l">
              <a:defRPr sz="1500" b="0">
                <a:solidFill>
                  <a:srgbClr val="FFFFFF"/>
                </a:solidFill>
                <a:latin typeface="Segoe UI"/>
              </a:defRPr>
            </a:pPr>
            <a:r>
              <a:t>3. What are scientists doing to fight climate change?</a:t>
            </a:r>
          </a:p>
        </p:txBody>
      </p:sp>
      <p:sp>
        <p:nvSpPr>
          <p:cNvPr id="16" name="TextBox 15"/>
          <p:cNvSpPr txBox="1"/>
          <p:nvPr/>
        </p:nvSpPr>
        <p:spPr>
          <a:xfrm>
            <a:off x="1188720" y="4846320"/>
            <a:ext cx="9811512" cy="320040"/>
          </a:xfrm>
          <a:prstGeom prst="rect">
            <a:avLst/>
          </a:prstGeom>
          <a:noFill/>
        </p:spPr>
        <p:txBody>
          <a:bodyPr wrap="square">
            <a:spAutoFit/>
          </a:bodyPr>
          <a:lstStyle/>
          <a:p>
            <a:pPr algn="l">
              <a:defRPr sz="1500" b="0">
                <a:solidFill>
                  <a:srgbClr val="FFFFFF"/>
                </a:solidFill>
                <a:latin typeface="Segoe UI"/>
              </a:defRPr>
            </a:pPr>
            <a:r>
              <a:t>4. How does climate change impact animals and ecosystems?</a:t>
            </a:r>
          </a:p>
        </p:txBody>
      </p:sp>
      <p:sp>
        <p:nvSpPr>
          <p:cNvPr id="17" name="TextBox 16"/>
          <p:cNvSpPr txBox="1"/>
          <p:nvPr/>
        </p:nvSpPr>
        <p:spPr>
          <a:xfrm>
            <a:off x="1188720" y="5212079"/>
            <a:ext cx="9811512" cy="320040"/>
          </a:xfrm>
          <a:prstGeom prst="rect">
            <a:avLst/>
          </a:prstGeom>
          <a:noFill/>
        </p:spPr>
        <p:txBody>
          <a:bodyPr wrap="square">
            <a:spAutoFit/>
          </a:bodyPr>
          <a:lstStyle/>
          <a:p>
            <a:pPr algn="l">
              <a:defRPr sz="1500" b="0">
                <a:solidFill>
                  <a:srgbClr val="FFFFFF"/>
                </a:solidFill>
                <a:latin typeface="Segoe UI"/>
              </a:defRPr>
            </a:pPr>
            <a:r>
              <a:t>5. What can teenagers do to help reduce climate change?</a:t>
            </a:r>
          </a:p>
        </p:txBody>
      </p:sp>
      <p:sp>
        <p:nvSpPr>
          <p:cNvPr id="18" name="Rounded Rectangle 17"/>
          <p:cNvSpPr/>
          <p:nvPr/>
        </p:nvSpPr>
        <p:spPr>
          <a:xfrm>
            <a:off x="914400" y="5760720"/>
            <a:ext cx="10360152" cy="6400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When you're stuck, ask AI: "What should I ask you about [topic]?"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Live Demo: Meta Prompting in Action</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5120640" cy="4114800"/>
          </a:xfrm>
          <a:prstGeom prst="roundRect">
            <a:avLst/>
          </a:prstGeom>
          <a:solidFill>
            <a:srgbClr val="F5F5F5"/>
          </a:solidFill>
          <a:ln w="254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4754880" cy="365760"/>
          </a:xfrm>
          <a:prstGeom prst="rect">
            <a:avLst/>
          </a:prstGeom>
          <a:noFill/>
        </p:spPr>
        <p:txBody>
          <a:bodyPr wrap="square">
            <a:spAutoFit/>
          </a:bodyPr>
          <a:lstStyle/>
          <a:p>
            <a:pPr algn="ctr">
              <a:defRPr sz="2200" b="1">
                <a:solidFill>
                  <a:srgbClr val="F44336"/>
                </a:solidFill>
                <a:latin typeface="Segoe UI"/>
              </a:defRPr>
            </a:pPr>
            <a:r>
              <a:t>BEFORE Meta Prompting</a:t>
            </a:r>
          </a:p>
        </p:txBody>
      </p:sp>
      <p:sp>
        <p:nvSpPr>
          <p:cNvPr id="7" name="Rounded Rectangle 6"/>
          <p:cNvSpPr/>
          <p:nvPr/>
        </p:nvSpPr>
        <p:spPr>
          <a:xfrm>
            <a:off x="914400" y="2286000"/>
            <a:ext cx="4572000" cy="548640"/>
          </a:xfrm>
          <a:prstGeom prst="round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600" b="1">
                <a:solidFill>
                  <a:srgbClr val="FFFFFF"/>
                </a:solidFill>
                <a:latin typeface="Segoe UI"/>
              </a:defRPr>
            </a:pPr>
            <a:r>
              <a:t>"Help me study for my test"</a:t>
            </a:r>
          </a:p>
        </p:txBody>
      </p:sp>
      <p:sp>
        <p:nvSpPr>
          <p:cNvPr id="8" name="TextBox 7"/>
          <p:cNvSpPr txBox="1"/>
          <p:nvPr/>
        </p:nvSpPr>
        <p:spPr>
          <a:xfrm>
            <a:off x="822960" y="3108960"/>
            <a:ext cx="4754880" cy="2286000"/>
          </a:xfrm>
          <a:prstGeom prst="rect">
            <a:avLst/>
          </a:prstGeom>
          <a:noFill/>
        </p:spPr>
        <p:txBody>
          <a:bodyPr wrap="square">
            <a:spAutoFit/>
          </a:bodyPr>
          <a:lstStyle/>
          <a:p>
            <a:pPr algn="ctr">
              <a:defRPr sz="1500" b="0">
                <a:solidFill>
                  <a:srgbClr val="424242"/>
                </a:solidFill>
                <a:latin typeface="Segoe UI"/>
              </a:defRPr>
            </a:pPr>
            <a:r>
              <a:t>Result:</a:t>
            </a:r>
            <a:br/>
            <a:r>
              <a:t>Generic study tips that could</a:t>
            </a:r>
            <a:br/>
            <a:r>
              <a:t>apply to any subject.</a:t>
            </a:r>
            <a:br/>
            <a:br/>
            <a:r>
              <a:t>Not personalized.</a:t>
            </a:r>
            <a:br/>
            <a:r>
              <a:t>Not specific.</a:t>
            </a:r>
            <a:br/>
            <a:r>
              <a:t>Not very helpful.</a:t>
            </a:r>
          </a:p>
        </p:txBody>
      </p:sp>
      <p:sp>
        <p:nvSpPr>
          <p:cNvPr id="9" name="TextBox 8"/>
          <p:cNvSpPr txBox="1"/>
          <p:nvPr/>
        </p:nvSpPr>
        <p:spPr>
          <a:xfrm>
            <a:off x="5486400" y="3200400"/>
            <a:ext cx="1097280" cy="457200"/>
          </a:xfrm>
          <a:prstGeom prst="rect">
            <a:avLst/>
          </a:prstGeom>
          <a:noFill/>
        </p:spPr>
        <p:txBody>
          <a:bodyPr wrap="square">
            <a:spAutoFit/>
          </a:bodyPr>
          <a:lstStyle/>
          <a:p>
            <a:pPr algn="ctr">
              <a:defRPr sz="4000" b="1">
                <a:solidFill>
                  <a:srgbClr val="FFB300"/>
                </a:solidFill>
                <a:latin typeface="Segoe UI"/>
              </a:defRPr>
            </a:pPr>
            <a:r>
              <a:t>→</a:t>
            </a:r>
          </a:p>
        </p:txBody>
      </p:sp>
      <p:sp>
        <p:nvSpPr>
          <p:cNvPr id="10" name="Rounded Rectangle 9"/>
          <p:cNvSpPr/>
          <p:nvPr/>
        </p:nvSpPr>
        <p:spPr>
          <a:xfrm>
            <a:off x="6336792" y="1554480"/>
            <a:ext cx="5212080" cy="4114800"/>
          </a:xfrm>
          <a:prstGeom prst="roundRect">
            <a:avLst/>
          </a:prstGeom>
          <a:solidFill>
            <a:srgbClr val="F5F5F5"/>
          </a:solidFill>
          <a:ln w="25400">
            <a:solidFill>
              <a:srgbClr val="388E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691640"/>
            <a:ext cx="4846320" cy="365760"/>
          </a:xfrm>
          <a:prstGeom prst="rect">
            <a:avLst/>
          </a:prstGeom>
          <a:noFill/>
        </p:spPr>
        <p:txBody>
          <a:bodyPr wrap="square">
            <a:spAutoFit/>
          </a:bodyPr>
          <a:lstStyle/>
          <a:p>
            <a:pPr algn="ctr">
              <a:defRPr sz="2200" b="1">
                <a:solidFill>
                  <a:srgbClr val="388E3C"/>
                </a:solidFill>
                <a:latin typeface="Segoe UI"/>
              </a:defRPr>
            </a:pPr>
            <a:r>
              <a:t>AFTER Meta Prompting</a:t>
            </a:r>
          </a:p>
        </p:txBody>
      </p:sp>
      <p:sp>
        <p:nvSpPr>
          <p:cNvPr id="12" name="Rounded Rectangle 11"/>
          <p:cNvSpPr/>
          <p:nvPr/>
        </p:nvSpPr>
        <p:spPr>
          <a:xfrm>
            <a:off x="6611112" y="2286000"/>
            <a:ext cx="4663440" cy="548640"/>
          </a:xfrm>
          <a:prstGeom prst="round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300" b="1">
                <a:solidFill>
                  <a:srgbClr val="FFFFFF"/>
                </a:solidFill>
                <a:latin typeface="Segoe UI"/>
              </a:defRPr>
            </a:pPr>
            <a:r>
              <a:t>"Write me the best prompt for studying for my 8th grade biology test on cells"</a:t>
            </a:r>
          </a:p>
        </p:txBody>
      </p:sp>
      <p:sp>
        <p:nvSpPr>
          <p:cNvPr id="13" name="TextBox 12"/>
          <p:cNvSpPr txBox="1"/>
          <p:nvPr/>
        </p:nvSpPr>
        <p:spPr>
          <a:xfrm>
            <a:off x="6519672" y="3108960"/>
            <a:ext cx="4846320" cy="2286000"/>
          </a:xfrm>
          <a:prstGeom prst="rect">
            <a:avLst/>
          </a:prstGeom>
          <a:noFill/>
        </p:spPr>
        <p:txBody>
          <a:bodyPr wrap="square">
            <a:spAutoFit/>
          </a:bodyPr>
          <a:lstStyle/>
          <a:p>
            <a:pPr algn="ctr">
              <a:defRPr sz="1500" b="0">
                <a:solidFill>
                  <a:srgbClr val="424242"/>
                </a:solidFill>
                <a:latin typeface="Segoe UI"/>
              </a:defRPr>
            </a:pPr>
            <a:r>
              <a:t>Result:</a:t>
            </a:r>
            <a:br/>
            <a:r>
              <a:t>AI writes a detailed RTCF prompt.</a:t>
            </a:r>
            <a:br/>
            <a:r>
              <a:t>You use THAT prompt.</a:t>
            </a:r>
            <a:br/>
            <a:br/>
            <a:r>
              <a:t>Personalized study guide.</a:t>
            </a:r>
            <a:br/>
            <a:r>
              <a:t>Practice questions included.</a:t>
            </a:r>
            <a:br/>
            <a:r>
              <a:t>Exactly what you need!</a:t>
            </a:r>
          </a:p>
        </p:txBody>
      </p:sp>
      <p:sp>
        <p:nvSpPr>
          <p:cNvPr id="14" name="Rounded Rectangle 13"/>
          <p:cNvSpPr/>
          <p:nvPr/>
        </p:nvSpPr>
        <p:spPr>
          <a:xfrm>
            <a:off x="914400" y="5760720"/>
            <a:ext cx="10360152" cy="640080"/>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Let's try this LIVE right now! Watch the difference in real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AI Tools You Can Use (Free!)</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554480"/>
            <a:ext cx="3474720" cy="3200400"/>
          </a:xfrm>
          <a:prstGeom prst="round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3200400" cy="457200"/>
          </a:xfrm>
          <a:prstGeom prst="rect">
            <a:avLst/>
          </a:prstGeom>
          <a:noFill/>
        </p:spPr>
        <p:txBody>
          <a:bodyPr wrap="square">
            <a:spAutoFit/>
          </a:bodyPr>
          <a:lstStyle/>
          <a:p>
            <a:pPr algn="ctr">
              <a:defRPr sz="2800" b="1">
                <a:solidFill>
                  <a:srgbClr val="FFFFFF"/>
                </a:solidFill>
                <a:latin typeface="Segoe UI"/>
              </a:defRPr>
            </a:pPr>
            <a:r>
              <a:t>ChatGPT</a:t>
            </a:r>
          </a:p>
        </p:txBody>
      </p:sp>
      <p:sp>
        <p:nvSpPr>
          <p:cNvPr id="7" name="TextBox 6"/>
          <p:cNvSpPr txBox="1"/>
          <p:nvPr/>
        </p:nvSpPr>
        <p:spPr>
          <a:xfrm>
            <a:off x="640080" y="2103120"/>
            <a:ext cx="3200400" cy="320040"/>
          </a:xfrm>
          <a:prstGeom prst="rect">
            <a:avLst/>
          </a:prstGeom>
          <a:noFill/>
        </p:spPr>
        <p:txBody>
          <a:bodyPr wrap="square">
            <a:spAutoFit/>
          </a:bodyPr>
          <a:lstStyle/>
          <a:p>
            <a:pPr algn="ctr">
              <a:defRPr sz="1400" b="0">
                <a:solidFill>
                  <a:srgbClr val="F5F5F5"/>
                </a:solidFill>
                <a:latin typeface="Segoe UI"/>
              </a:defRPr>
            </a:pPr>
            <a:r>
              <a:t>by OpenAI</a:t>
            </a:r>
          </a:p>
        </p:txBody>
      </p:sp>
      <p:sp>
        <p:nvSpPr>
          <p:cNvPr id="8" name="Rounded Rectangle 7"/>
          <p:cNvSpPr/>
          <p:nvPr/>
        </p:nvSpPr>
        <p:spPr>
          <a:xfrm>
            <a:off x="685800" y="2560320"/>
            <a:ext cx="31089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06040"/>
            <a:ext cx="3108960" cy="365760"/>
          </a:xfrm>
          <a:prstGeom prst="rect">
            <a:avLst/>
          </a:prstGeom>
          <a:noFill/>
        </p:spPr>
        <p:txBody>
          <a:bodyPr wrap="square">
            <a:spAutoFit/>
          </a:bodyPr>
          <a:lstStyle/>
          <a:p>
            <a:pPr algn="ctr">
              <a:defRPr sz="1400" b="1">
                <a:solidFill>
                  <a:srgbClr val="1E3A5F"/>
                </a:solidFill>
                <a:latin typeface="Segoe UI"/>
              </a:defRPr>
            </a:pPr>
            <a:r>
              <a:t>chat.openai.com</a:t>
            </a:r>
          </a:p>
        </p:txBody>
      </p:sp>
      <p:sp>
        <p:nvSpPr>
          <p:cNvPr id="10" name="TextBox 9"/>
          <p:cNvSpPr txBox="1"/>
          <p:nvPr/>
        </p:nvSpPr>
        <p:spPr>
          <a:xfrm>
            <a:off x="640080" y="3200400"/>
            <a:ext cx="3200400" cy="1097280"/>
          </a:xfrm>
          <a:prstGeom prst="rect">
            <a:avLst/>
          </a:prstGeom>
          <a:noFill/>
        </p:spPr>
        <p:txBody>
          <a:bodyPr wrap="square">
            <a:spAutoFit/>
          </a:bodyPr>
          <a:lstStyle/>
          <a:p>
            <a:pPr algn="ctr">
              <a:defRPr sz="1400" b="0">
                <a:solidFill>
                  <a:srgbClr val="F5F5F5"/>
                </a:solidFill>
                <a:latin typeface="Segoe UI"/>
              </a:defRPr>
            </a:pPr>
            <a:r>
              <a:t>Most popular AI chatbot</a:t>
            </a:r>
            <a:br/>
            <a:r>
              <a:t>Free account with email or Google</a:t>
            </a:r>
          </a:p>
        </p:txBody>
      </p:sp>
      <p:sp>
        <p:nvSpPr>
          <p:cNvPr id="11" name="Rounded Rectangle 10"/>
          <p:cNvSpPr/>
          <p:nvPr/>
        </p:nvSpPr>
        <p:spPr>
          <a:xfrm>
            <a:off x="4251959" y="1554480"/>
            <a:ext cx="3474720" cy="3200400"/>
          </a:xfrm>
          <a:prstGeom prst="roundRect">
            <a:avLst/>
          </a:prstGeom>
          <a:solidFill>
            <a:srgbClr val="3467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19" y="1691640"/>
            <a:ext cx="3200400" cy="457200"/>
          </a:xfrm>
          <a:prstGeom prst="rect">
            <a:avLst/>
          </a:prstGeom>
          <a:noFill/>
        </p:spPr>
        <p:txBody>
          <a:bodyPr wrap="square">
            <a:spAutoFit/>
          </a:bodyPr>
          <a:lstStyle/>
          <a:p>
            <a:pPr algn="ctr">
              <a:defRPr sz="2800" b="1">
                <a:solidFill>
                  <a:srgbClr val="FFFFFF"/>
                </a:solidFill>
                <a:latin typeface="Segoe UI"/>
              </a:defRPr>
            </a:pPr>
            <a:r>
              <a:t>Gemini</a:t>
            </a:r>
          </a:p>
        </p:txBody>
      </p:sp>
      <p:sp>
        <p:nvSpPr>
          <p:cNvPr id="13" name="TextBox 12"/>
          <p:cNvSpPr txBox="1"/>
          <p:nvPr/>
        </p:nvSpPr>
        <p:spPr>
          <a:xfrm>
            <a:off x="4389119" y="2103120"/>
            <a:ext cx="3200400" cy="320040"/>
          </a:xfrm>
          <a:prstGeom prst="rect">
            <a:avLst/>
          </a:prstGeom>
          <a:noFill/>
        </p:spPr>
        <p:txBody>
          <a:bodyPr wrap="square">
            <a:spAutoFit/>
          </a:bodyPr>
          <a:lstStyle/>
          <a:p>
            <a:pPr algn="ctr">
              <a:defRPr sz="1400" b="0">
                <a:solidFill>
                  <a:srgbClr val="F5F5F5"/>
                </a:solidFill>
                <a:latin typeface="Segoe UI"/>
              </a:defRPr>
            </a:pPr>
            <a:r>
              <a:t>by Google</a:t>
            </a:r>
          </a:p>
        </p:txBody>
      </p:sp>
      <p:sp>
        <p:nvSpPr>
          <p:cNvPr id="14" name="Rounded Rectangle 13"/>
          <p:cNvSpPr/>
          <p:nvPr/>
        </p:nvSpPr>
        <p:spPr>
          <a:xfrm>
            <a:off x="4434839" y="2560320"/>
            <a:ext cx="31089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39" y="2606040"/>
            <a:ext cx="3108960" cy="365760"/>
          </a:xfrm>
          <a:prstGeom prst="rect">
            <a:avLst/>
          </a:prstGeom>
          <a:noFill/>
        </p:spPr>
        <p:txBody>
          <a:bodyPr wrap="square">
            <a:spAutoFit/>
          </a:bodyPr>
          <a:lstStyle/>
          <a:p>
            <a:pPr algn="ctr">
              <a:defRPr sz="1400" b="1">
                <a:solidFill>
                  <a:srgbClr val="1E3A5F"/>
                </a:solidFill>
                <a:latin typeface="Segoe UI"/>
              </a:defRPr>
            </a:pPr>
            <a:r>
              <a:t>gemini.google.com</a:t>
            </a:r>
          </a:p>
        </p:txBody>
      </p:sp>
      <p:sp>
        <p:nvSpPr>
          <p:cNvPr id="16" name="TextBox 15"/>
          <p:cNvSpPr txBox="1"/>
          <p:nvPr/>
        </p:nvSpPr>
        <p:spPr>
          <a:xfrm>
            <a:off x="4389119" y="3200400"/>
            <a:ext cx="3200400" cy="1097280"/>
          </a:xfrm>
          <a:prstGeom prst="rect">
            <a:avLst/>
          </a:prstGeom>
          <a:noFill/>
        </p:spPr>
        <p:txBody>
          <a:bodyPr wrap="square">
            <a:spAutoFit/>
          </a:bodyPr>
          <a:lstStyle/>
          <a:p>
            <a:pPr algn="ctr">
              <a:defRPr sz="1400" b="0">
                <a:solidFill>
                  <a:srgbClr val="F5F5F5"/>
                </a:solidFill>
                <a:latin typeface="Segoe UI"/>
              </a:defRPr>
            </a:pPr>
            <a:r>
              <a:t>Works with your Google account</a:t>
            </a:r>
            <a:br/>
            <a:r>
              <a:t>Great for research and writing</a:t>
            </a:r>
          </a:p>
        </p:txBody>
      </p:sp>
      <p:sp>
        <p:nvSpPr>
          <p:cNvPr id="17" name="Rounded Rectangle 16"/>
          <p:cNvSpPr/>
          <p:nvPr/>
        </p:nvSpPr>
        <p:spPr>
          <a:xfrm>
            <a:off x="8001000" y="1554480"/>
            <a:ext cx="3474720" cy="3200400"/>
          </a:xfrm>
          <a:prstGeom prst="roundRect">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1691640"/>
            <a:ext cx="3200400" cy="457200"/>
          </a:xfrm>
          <a:prstGeom prst="rect">
            <a:avLst/>
          </a:prstGeom>
          <a:noFill/>
        </p:spPr>
        <p:txBody>
          <a:bodyPr wrap="square">
            <a:spAutoFit/>
          </a:bodyPr>
          <a:lstStyle/>
          <a:p>
            <a:pPr algn="ctr">
              <a:defRPr sz="2800" b="1">
                <a:solidFill>
                  <a:srgbClr val="FFFFFF"/>
                </a:solidFill>
                <a:latin typeface="Segoe UI"/>
              </a:defRPr>
            </a:pPr>
            <a:r>
              <a:t>Grok</a:t>
            </a:r>
          </a:p>
        </p:txBody>
      </p:sp>
      <p:sp>
        <p:nvSpPr>
          <p:cNvPr id="19" name="TextBox 18"/>
          <p:cNvSpPr txBox="1"/>
          <p:nvPr/>
        </p:nvSpPr>
        <p:spPr>
          <a:xfrm>
            <a:off x="8138160" y="2103120"/>
            <a:ext cx="3200400" cy="320040"/>
          </a:xfrm>
          <a:prstGeom prst="rect">
            <a:avLst/>
          </a:prstGeom>
          <a:noFill/>
        </p:spPr>
        <p:txBody>
          <a:bodyPr wrap="square">
            <a:spAutoFit/>
          </a:bodyPr>
          <a:lstStyle/>
          <a:p>
            <a:pPr algn="ctr">
              <a:defRPr sz="1400" b="0">
                <a:solidFill>
                  <a:srgbClr val="F5F5F5"/>
                </a:solidFill>
                <a:latin typeface="Segoe UI"/>
              </a:defRPr>
            </a:pPr>
            <a:r>
              <a:t>by xAI</a:t>
            </a:r>
          </a:p>
        </p:txBody>
      </p:sp>
      <p:sp>
        <p:nvSpPr>
          <p:cNvPr id="20" name="Rounded Rectangle 19"/>
          <p:cNvSpPr/>
          <p:nvPr/>
        </p:nvSpPr>
        <p:spPr>
          <a:xfrm>
            <a:off x="8183880" y="2560320"/>
            <a:ext cx="310896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2606040"/>
            <a:ext cx="3108960" cy="365760"/>
          </a:xfrm>
          <a:prstGeom prst="rect">
            <a:avLst/>
          </a:prstGeom>
          <a:noFill/>
        </p:spPr>
        <p:txBody>
          <a:bodyPr wrap="square">
            <a:spAutoFit/>
          </a:bodyPr>
          <a:lstStyle/>
          <a:p>
            <a:pPr algn="ctr">
              <a:defRPr sz="1400" b="1">
                <a:solidFill>
                  <a:srgbClr val="1E3A5F"/>
                </a:solidFill>
                <a:latin typeface="Segoe UI"/>
              </a:defRPr>
            </a:pPr>
            <a:r>
              <a:t>grok.com</a:t>
            </a:r>
          </a:p>
        </p:txBody>
      </p:sp>
      <p:sp>
        <p:nvSpPr>
          <p:cNvPr id="22" name="TextBox 21"/>
          <p:cNvSpPr txBox="1"/>
          <p:nvPr/>
        </p:nvSpPr>
        <p:spPr>
          <a:xfrm>
            <a:off x="8138160" y="3200400"/>
            <a:ext cx="3200400" cy="1097280"/>
          </a:xfrm>
          <a:prstGeom prst="rect">
            <a:avLst/>
          </a:prstGeom>
          <a:noFill/>
        </p:spPr>
        <p:txBody>
          <a:bodyPr wrap="square">
            <a:spAutoFit/>
          </a:bodyPr>
          <a:lstStyle/>
          <a:p>
            <a:pPr algn="ctr">
              <a:defRPr sz="1400" b="0">
                <a:solidFill>
                  <a:srgbClr val="F5F5F5"/>
                </a:solidFill>
                <a:latin typeface="Segoe UI"/>
              </a:defRPr>
            </a:pPr>
            <a:r>
              <a:t>Free tier available</a:t>
            </a:r>
            <a:br/>
            <a:r>
              <a:t>Sign up with email or X account</a:t>
            </a:r>
          </a:p>
        </p:txBody>
      </p:sp>
      <p:sp>
        <p:nvSpPr>
          <p:cNvPr id="23" name="Rounded Rectangle 22"/>
          <p:cNvSpPr/>
          <p:nvPr/>
        </p:nvSpPr>
        <p:spPr>
          <a:xfrm>
            <a:off x="502920" y="5029200"/>
            <a:ext cx="11183112" cy="640080"/>
          </a:xfrm>
          <a:prstGeom prst="round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REMINDER: Never share personal information (passwords, address, phone) with any AI tool!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Working with AI as a Team</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908792" cy="365760"/>
          </a:xfrm>
          <a:prstGeom prst="rect">
            <a:avLst/>
          </a:prstGeom>
          <a:noFill/>
        </p:spPr>
        <p:txBody>
          <a:bodyPr wrap="square">
            <a:spAutoFit/>
          </a:bodyPr>
          <a:lstStyle/>
          <a:p>
            <a:pPr algn="ctr">
              <a:defRPr sz="1800" b="1">
                <a:solidFill>
                  <a:srgbClr val="424242"/>
                </a:solidFill>
                <a:latin typeface="Segoe UI"/>
              </a:defRPr>
            </a:pPr>
            <a:r>
              <a:t>Each team member has a role. Rotate roles between rounds!</a:t>
            </a:r>
          </a:p>
        </p:txBody>
      </p:sp>
      <p:sp>
        <p:nvSpPr>
          <p:cNvPr id="6" name="Rounded Rectangle 5"/>
          <p:cNvSpPr/>
          <p:nvPr/>
        </p:nvSpPr>
        <p:spPr>
          <a:xfrm>
            <a:off x="640080" y="2011680"/>
            <a:ext cx="5120640" cy="1371600"/>
          </a:xfrm>
          <a:prstGeom prst="roundRect">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03120"/>
            <a:ext cx="4754880" cy="365760"/>
          </a:xfrm>
          <a:prstGeom prst="rect">
            <a:avLst/>
          </a:prstGeom>
          <a:noFill/>
        </p:spPr>
        <p:txBody>
          <a:bodyPr wrap="square">
            <a:spAutoFit/>
          </a:bodyPr>
          <a:lstStyle/>
          <a:p>
            <a:pPr algn="ctr">
              <a:defRPr sz="2200" b="1">
                <a:solidFill>
                  <a:srgbClr val="FFFFFF"/>
                </a:solidFill>
                <a:latin typeface="Segoe UI"/>
              </a:defRPr>
            </a:pPr>
            <a:r>
              <a:t>Prompt Writer</a:t>
            </a:r>
          </a:p>
        </p:txBody>
      </p:sp>
      <p:sp>
        <p:nvSpPr>
          <p:cNvPr id="8" name="TextBox 7"/>
          <p:cNvSpPr txBox="1"/>
          <p:nvPr/>
        </p:nvSpPr>
        <p:spPr>
          <a:xfrm>
            <a:off x="822960" y="2560320"/>
            <a:ext cx="4754880" cy="640080"/>
          </a:xfrm>
          <a:prstGeom prst="rect">
            <a:avLst/>
          </a:prstGeom>
          <a:noFill/>
        </p:spPr>
        <p:txBody>
          <a:bodyPr wrap="square">
            <a:spAutoFit/>
          </a:bodyPr>
          <a:lstStyle/>
          <a:p>
            <a:pPr algn="ctr">
              <a:defRPr sz="1500" b="0">
                <a:solidFill>
                  <a:srgbClr val="F5F5F5"/>
                </a:solidFill>
                <a:latin typeface="Segoe UI"/>
              </a:defRPr>
            </a:pPr>
            <a:r>
              <a:t>Types the prompts into the AI tool.</a:t>
            </a:r>
            <a:br/>
            <a:r>
              <a:t>Takes suggestions from the team.</a:t>
            </a:r>
          </a:p>
        </p:txBody>
      </p:sp>
      <p:sp>
        <p:nvSpPr>
          <p:cNvPr id="9" name="Rounded Rectangle 8"/>
          <p:cNvSpPr/>
          <p:nvPr/>
        </p:nvSpPr>
        <p:spPr>
          <a:xfrm>
            <a:off x="6336792" y="2011680"/>
            <a:ext cx="5120640" cy="1371600"/>
          </a:xfrm>
          <a:prstGeom prst="round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103120"/>
            <a:ext cx="4754880" cy="365760"/>
          </a:xfrm>
          <a:prstGeom prst="rect">
            <a:avLst/>
          </a:prstGeom>
          <a:noFill/>
        </p:spPr>
        <p:txBody>
          <a:bodyPr wrap="square">
            <a:spAutoFit/>
          </a:bodyPr>
          <a:lstStyle/>
          <a:p>
            <a:pPr algn="ctr">
              <a:defRPr sz="2200" b="1">
                <a:solidFill>
                  <a:srgbClr val="FFFFFF"/>
                </a:solidFill>
                <a:latin typeface="Segoe UI"/>
              </a:defRPr>
            </a:pPr>
            <a:r>
              <a:t>Fact Checker</a:t>
            </a:r>
          </a:p>
        </p:txBody>
      </p:sp>
      <p:sp>
        <p:nvSpPr>
          <p:cNvPr id="11" name="TextBox 10"/>
          <p:cNvSpPr txBox="1"/>
          <p:nvPr/>
        </p:nvSpPr>
        <p:spPr>
          <a:xfrm>
            <a:off x="6519672" y="2560320"/>
            <a:ext cx="4754880" cy="640080"/>
          </a:xfrm>
          <a:prstGeom prst="rect">
            <a:avLst/>
          </a:prstGeom>
          <a:noFill/>
        </p:spPr>
        <p:txBody>
          <a:bodyPr wrap="square">
            <a:spAutoFit/>
          </a:bodyPr>
          <a:lstStyle/>
          <a:p>
            <a:pPr algn="ctr">
              <a:defRPr sz="1500" b="0">
                <a:solidFill>
                  <a:srgbClr val="F5F5F5"/>
                </a:solidFill>
                <a:latin typeface="Segoe UI"/>
              </a:defRPr>
            </a:pPr>
            <a:r>
              <a:t>Verifies AI responses are accurate.</a:t>
            </a:r>
            <a:br/>
            <a:r>
              <a:t>Searches for evidence online.</a:t>
            </a:r>
          </a:p>
        </p:txBody>
      </p:sp>
      <p:sp>
        <p:nvSpPr>
          <p:cNvPr id="12" name="Rounded Rectangle 11"/>
          <p:cNvSpPr/>
          <p:nvPr/>
        </p:nvSpPr>
        <p:spPr>
          <a:xfrm>
            <a:off x="640080" y="3566160"/>
            <a:ext cx="5120640" cy="137160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57600"/>
            <a:ext cx="4754880" cy="365760"/>
          </a:xfrm>
          <a:prstGeom prst="rect">
            <a:avLst/>
          </a:prstGeom>
          <a:noFill/>
        </p:spPr>
        <p:txBody>
          <a:bodyPr wrap="square">
            <a:spAutoFit/>
          </a:bodyPr>
          <a:lstStyle/>
          <a:p>
            <a:pPr algn="ctr">
              <a:defRPr sz="2200" b="1">
                <a:solidFill>
                  <a:srgbClr val="FFFFFF"/>
                </a:solidFill>
                <a:latin typeface="Segoe UI"/>
              </a:defRPr>
            </a:pPr>
            <a:r>
              <a:t>Note Taker</a:t>
            </a:r>
          </a:p>
        </p:txBody>
      </p:sp>
      <p:sp>
        <p:nvSpPr>
          <p:cNvPr id="14" name="TextBox 13"/>
          <p:cNvSpPr txBox="1"/>
          <p:nvPr/>
        </p:nvSpPr>
        <p:spPr>
          <a:xfrm>
            <a:off x="822960" y="4114800"/>
            <a:ext cx="4754880" cy="640080"/>
          </a:xfrm>
          <a:prstGeom prst="rect">
            <a:avLst/>
          </a:prstGeom>
          <a:noFill/>
        </p:spPr>
        <p:txBody>
          <a:bodyPr wrap="square">
            <a:spAutoFit/>
          </a:bodyPr>
          <a:lstStyle/>
          <a:p>
            <a:pPr algn="ctr">
              <a:defRPr sz="1500" b="0">
                <a:solidFill>
                  <a:srgbClr val="F5F5F5"/>
                </a:solidFill>
                <a:latin typeface="Segoe UI"/>
              </a:defRPr>
            </a:pPr>
            <a:r>
              <a:t>Documents prompts, responses, and</a:t>
            </a:r>
            <a:br/>
            <a:r>
              <a:t>what the team changed each time.</a:t>
            </a:r>
          </a:p>
        </p:txBody>
      </p:sp>
      <p:sp>
        <p:nvSpPr>
          <p:cNvPr id="15" name="Rounded Rectangle 14"/>
          <p:cNvSpPr/>
          <p:nvPr/>
        </p:nvSpPr>
        <p:spPr>
          <a:xfrm>
            <a:off x="6336792" y="3566160"/>
            <a:ext cx="5120640" cy="137160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9672" y="3657600"/>
            <a:ext cx="4754880" cy="365760"/>
          </a:xfrm>
          <a:prstGeom prst="rect">
            <a:avLst/>
          </a:prstGeom>
          <a:noFill/>
        </p:spPr>
        <p:txBody>
          <a:bodyPr wrap="square">
            <a:spAutoFit/>
          </a:bodyPr>
          <a:lstStyle/>
          <a:p>
            <a:pPr algn="ctr">
              <a:defRPr sz="2200" b="1">
                <a:solidFill>
                  <a:srgbClr val="FFFFFF"/>
                </a:solidFill>
                <a:latin typeface="Segoe UI"/>
              </a:defRPr>
            </a:pPr>
            <a:r>
              <a:t>Idea Generator</a:t>
            </a:r>
          </a:p>
        </p:txBody>
      </p:sp>
      <p:sp>
        <p:nvSpPr>
          <p:cNvPr id="17" name="TextBox 16"/>
          <p:cNvSpPr txBox="1"/>
          <p:nvPr/>
        </p:nvSpPr>
        <p:spPr>
          <a:xfrm>
            <a:off x="6519672" y="4114800"/>
            <a:ext cx="4754880" cy="640080"/>
          </a:xfrm>
          <a:prstGeom prst="rect">
            <a:avLst/>
          </a:prstGeom>
          <a:noFill/>
        </p:spPr>
        <p:txBody>
          <a:bodyPr wrap="square">
            <a:spAutoFit/>
          </a:bodyPr>
          <a:lstStyle/>
          <a:p>
            <a:pPr algn="ctr">
              <a:defRPr sz="1500" b="0">
                <a:solidFill>
                  <a:srgbClr val="F5F5F5"/>
                </a:solidFill>
                <a:latin typeface="Segoe UI"/>
              </a:defRPr>
            </a:pPr>
            <a:r>
              <a:t>Suggests improvements to prompts.</a:t>
            </a:r>
            <a:br/>
            <a:r>
              <a:t>Thinks of creative approaches.</a:t>
            </a:r>
          </a:p>
        </p:txBody>
      </p:sp>
      <p:sp>
        <p:nvSpPr>
          <p:cNvPr id="18" name="Rounded Rectangle 17"/>
          <p:cNvSpPr/>
          <p:nvPr/>
        </p:nvSpPr>
        <p:spPr>
          <a:xfrm>
            <a:off x="914400" y="5760720"/>
            <a:ext cx="10360152" cy="640080"/>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You'll work in breakout rooms. One person shares screen -- everyone contributes!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Group Challenge Rules &amp; Scoring</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5120640" cy="411480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4754880" cy="365760"/>
          </a:xfrm>
          <a:prstGeom prst="rect">
            <a:avLst/>
          </a:prstGeom>
          <a:noFill/>
        </p:spPr>
        <p:txBody>
          <a:bodyPr wrap="square">
            <a:spAutoFit/>
          </a:bodyPr>
          <a:lstStyle/>
          <a:p>
            <a:pPr algn="ctr">
              <a:defRPr sz="2400" b="1">
                <a:solidFill>
                  <a:srgbClr val="FFB300"/>
                </a:solidFill>
                <a:latin typeface="Segoe UI"/>
              </a:defRPr>
            </a:pPr>
            <a:r>
              <a:t>Rules</a:t>
            </a:r>
          </a:p>
        </p:txBody>
      </p:sp>
      <p:sp>
        <p:nvSpPr>
          <p:cNvPr id="7" name="TextBox 6"/>
          <p:cNvSpPr txBox="1"/>
          <p:nvPr/>
        </p:nvSpPr>
        <p:spPr>
          <a:xfrm>
            <a:off x="1005840" y="2286000"/>
            <a:ext cx="4389120" cy="365760"/>
          </a:xfrm>
          <a:prstGeom prst="rect">
            <a:avLst/>
          </a:prstGeom>
          <a:noFill/>
        </p:spPr>
        <p:txBody>
          <a:bodyPr wrap="square">
            <a:spAutoFit/>
          </a:bodyPr>
          <a:lstStyle/>
          <a:p>
            <a:pPr algn="l">
              <a:defRPr sz="1400" b="0">
                <a:solidFill>
                  <a:srgbClr val="FFFFFF"/>
                </a:solidFill>
                <a:latin typeface="Segoe UI"/>
              </a:defRPr>
            </a:pPr>
            <a:r>
              <a:t>1. Everyone participates -- no passengers!</a:t>
            </a:r>
          </a:p>
        </p:txBody>
      </p:sp>
      <p:sp>
        <p:nvSpPr>
          <p:cNvPr id="8" name="TextBox 7"/>
          <p:cNvSpPr txBox="1"/>
          <p:nvPr/>
        </p:nvSpPr>
        <p:spPr>
          <a:xfrm>
            <a:off x="1005840" y="2788920"/>
            <a:ext cx="4389120" cy="365760"/>
          </a:xfrm>
          <a:prstGeom prst="rect">
            <a:avLst/>
          </a:prstGeom>
          <a:noFill/>
        </p:spPr>
        <p:txBody>
          <a:bodyPr wrap="square">
            <a:spAutoFit/>
          </a:bodyPr>
          <a:lstStyle/>
          <a:p>
            <a:pPr algn="l">
              <a:defRPr sz="1400" b="0">
                <a:solidFill>
                  <a:srgbClr val="FFFFFF"/>
                </a:solidFill>
                <a:latin typeface="Segoe UI"/>
              </a:defRPr>
            </a:pPr>
            <a:r>
              <a:t>2. Use meta prompting to improve your prompts</a:t>
            </a:r>
          </a:p>
        </p:txBody>
      </p:sp>
      <p:sp>
        <p:nvSpPr>
          <p:cNvPr id="9" name="TextBox 8"/>
          <p:cNvSpPr txBox="1"/>
          <p:nvPr/>
        </p:nvSpPr>
        <p:spPr>
          <a:xfrm>
            <a:off x="1005840" y="3291840"/>
            <a:ext cx="4389120" cy="365760"/>
          </a:xfrm>
          <a:prstGeom prst="rect">
            <a:avLst/>
          </a:prstGeom>
          <a:noFill/>
        </p:spPr>
        <p:txBody>
          <a:bodyPr wrap="square">
            <a:spAutoFit/>
          </a:bodyPr>
          <a:lstStyle/>
          <a:p>
            <a:pPr algn="l">
              <a:defRPr sz="1400" b="0">
                <a:solidFill>
                  <a:srgbClr val="FFFFFF"/>
                </a:solidFill>
                <a:latin typeface="Segoe UI"/>
              </a:defRPr>
            </a:pPr>
            <a:r>
              <a:t>3. Document your process (prompts + changes)</a:t>
            </a:r>
          </a:p>
        </p:txBody>
      </p:sp>
      <p:sp>
        <p:nvSpPr>
          <p:cNvPr id="10" name="TextBox 9"/>
          <p:cNvSpPr txBox="1"/>
          <p:nvPr/>
        </p:nvSpPr>
        <p:spPr>
          <a:xfrm>
            <a:off x="1005840" y="3794760"/>
            <a:ext cx="4389120" cy="365760"/>
          </a:xfrm>
          <a:prstGeom prst="rect">
            <a:avLst/>
          </a:prstGeom>
          <a:noFill/>
        </p:spPr>
        <p:txBody>
          <a:bodyPr wrap="square">
            <a:spAutoFit/>
          </a:bodyPr>
          <a:lstStyle/>
          <a:p>
            <a:pPr algn="l">
              <a:defRPr sz="1400" b="0">
                <a:solidFill>
                  <a:srgbClr val="FFFFFF"/>
                </a:solidFill>
                <a:latin typeface="Segoe UI"/>
              </a:defRPr>
            </a:pPr>
            <a:r>
              <a:t>4. Fact-check at least 2 AI claims</a:t>
            </a:r>
          </a:p>
        </p:txBody>
      </p:sp>
      <p:sp>
        <p:nvSpPr>
          <p:cNvPr id="11" name="TextBox 10"/>
          <p:cNvSpPr txBox="1"/>
          <p:nvPr/>
        </p:nvSpPr>
        <p:spPr>
          <a:xfrm>
            <a:off x="1005840" y="4297680"/>
            <a:ext cx="4389120" cy="365760"/>
          </a:xfrm>
          <a:prstGeom prst="rect">
            <a:avLst/>
          </a:prstGeom>
          <a:noFill/>
        </p:spPr>
        <p:txBody>
          <a:bodyPr wrap="square">
            <a:spAutoFit/>
          </a:bodyPr>
          <a:lstStyle/>
          <a:p>
            <a:pPr algn="l">
              <a:defRPr sz="1400" b="0">
                <a:solidFill>
                  <a:srgbClr val="FFFFFF"/>
                </a:solidFill>
                <a:latin typeface="Segoe UI"/>
              </a:defRPr>
            </a:pPr>
            <a:r>
              <a:t>5. Be respectful of other teams' work</a:t>
            </a:r>
          </a:p>
        </p:txBody>
      </p:sp>
      <p:sp>
        <p:nvSpPr>
          <p:cNvPr id="12" name="TextBox 11"/>
          <p:cNvSpPr txBox="1"/>
          <p:nvPr/>
        </p:nvSpPr>
        <p:spPr>
          <a:xfrm>
            <a:off x="1005840" y="4800600"/>
            <a:ext cx="4389120" cy="365760"/>
          </a:xfrm>
          <a:prstGeom prst="rect">
            <a:avLst/>
          </a:prstGeom>
          <a:noFill/>
        </p:spPr>
        <p:txBody>
          <a:bodyPr wrap="square">
            <a:spAutoFit/>
          </a:bodyPr>
          <a:lstStyle/>
          <a:p>
            <a:pPr algn="l">
              <a:defRPr sz="1400" b="0">
                <a:solidFill>
                  <a:srgbClr val="FFFFFF"/>
                </a:solidFill>
                <a:latin typeface="Segoe UI"/>
              </a:defRPr>
            </a:pPr>
            <a:r>
              <a:t>6. Have fun and be creative!</a:t>
            </a:r>
          </a:p>
        </p:txBody>
      </p:sp>
      <p:sp>
        <p:nvSpPr>
          <p:cNvPr id="13" name="Rounded Rectangle 12"/>
          <p:cNvSpPr/>
          <p:nvPr/>
        </p:nvSpPr>
        <p:spPr>
          <a:xfrm>
            <a:off x="6336792" y="1554480"/>
            <a:ext cx="5212080" cy="411480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691640"/>
            <a:ext cx="4846320" cy="365760"/>
          </a:xfrm>
          <a:prstGeom prst="rect">
            <a:avLst/>
          </a:prstGeom>
          <a:noFill/>
        </p:spPr>
        <p:txBody>
          <a:bodyPr wrap="square">
            <a:spAutoFit/>
          </a:bodyPr>
          <a:lstStyle/>
          <a:p>
            <a:pPr algn="ctr">
              <a:defRPr sz="2400" b="1">
                <a:solidFill>
                  <a:srgbClr val="1E3A5F"/>
                </a:solidFill>
                <a:latin typeface="Segoe UI"/>
              </a:defRPr>
            </a:pPr>
            <a:r>
              <a:t>Scoring</a:t>
            </a:r>
          </a:p>
        </p:txBody>
      </p:sp>
      <p:sp>
        <p:nvSpPr>
          <p:cNvPr id="15" name="TextBox 14"/>
          <p:cNvSpPr txBox="1"/>
          <p:nvPr/>
        </p:nvSpPr>
        <p:spPr>
          <a:xfrm>
            <a:off x="6675120" y="2286000"/>
            <a:ext cx="2286000" cy="365760"/>
          </a:xfrm>
          <a:prstGeom prst="rect">
            <a:avLst/>
          </a:prstGeom>
          <a:noFill/>
        </p:spPr>
        <p:txBody>
          <a:bodyPr wrap="square">
            <a:spAutoFit/>
          </a:bodyPr>
          <a:lstStyle/>
          <a:p>
            <a:pPr algn="l">
              <a:defRPr sz="1400" b="1">
                <a:solidFill>
                  <a:srgbClr val="1E3A5F"/>
                </a:solidFill>
                <a:latin typeface="Segoe UI"/>
              </a:defRPr>
            </a:pPr>
            <a:r>
              <a:t>Prompt Quality</a:t>
            </a:r>
          </a:p>
        </p:txBody>
      </p:sp>
      <p:sp>
        <p:nvSpPr>
          <p:cNvPr id="16" name="TextBox 15"/>
          <p:cNvSpPr txBox="1"/>
          <p:nvPr/>
        </p:nvSpPr>
        <p:spPr>
          <a:xfrm>
            <a:off x="8869680" y="2286000"/>
            <a:ext cx="2468880" cy="365760"/>
          </a:xfrm>
          <a:prstGeom prst="rect">
            <a:avLst/>
          </a:prstGeom>
          <a:noFill/>
        </p:spPr>
        <p:txBody>
          <a:bodyPr wrap="square">
            <a:spAutoFit/>
          </a:bodyPr>
          <a:lstStyle/>
          <a:p>
            <a:pPr algn="l">
              <a:defRPr sz="1200" b="0">
                <a:solidFill>
                  <a:srgbClr val="424242"/>
                </a:solidFill>
                <a:latin typeface="Segoe UI"/>
              </a:defRPr>
            </a:pPr>
            <a:r>
              <a:t>Did you use RTCF + meta prompting?</a:t>
            </a:r>
          </a:p>
        </p:txBody>
      </p:sp>
      <p:sp>
        <p:nvSpPr>
          <p:cNvPr id="17" name="TextBox 16"/>
          <p:cNvSpPr txBox="1"/>
          <p:nvPr/>
        </p:nvSpPr>
        <p:spPr>
          <a:xfrm>
            <a:off x="6675120" y="2788920"/>
            <a:ext cx="2286000" cy="365760"/>
          </a:xfrm>
          <a:prstGeom prst="rect">
            <a:avLst/>
          </a:prstGeom>
          <a:noFill/>
        </p:spPr>
        <p:txBody>
          <a:bodyPr wrap="square">
            <a:spAutoFit/>
          </a:bodyPr>
          <a:lstStyle/>
          <a:p>
            <a:pPr algn="l">
              <a:defRPr sz="1400" b="1">
                <a:solidFill>
                  <a:srgbClr val="1E3A5F"/>
                </a:solidFill>
                <a:latin typeface="Segoe UI"/>
              </a:defRPr>
            </a:pPr>
            <a:r>
              <a:t>Iteration</a:t>
            </a:r>
          </a:p>
        </p:txBody>
      </p:sp>
      <p:sp>
        <p:nvSpPr>
          <p:cNvPr id="18" name="TextBox 17"/>
          <p:cNvSpPr txBox="1"/>
          <p:nvPr/>
        </p:nvSpPr>
        <p:spPr>
          <a:xfrm>
            <a:off x="8869680" y="2788920"/>
            <a:ext cx="2468880" cy="365760"/>
          </a:xfrm>
          <a:prstGeom prst="rect">
            <a:avLst/>
          </a:prstGeom>
          <a:noFill/>
        </p:spPr>
        <p:txBody>
          <a:bodyPr wrap="square">
            <a:spAutoFit/>
          </a:bodyPr>
          <a:lstStyle/>
          <a:p>
            <a:pPr algn="l">
              <a:defRPr sz="1200" b="0">
                <a:solidFill>
                  <a:srgbClr val="424242"/>
                </a:solidFill>
                <a:latin typeface="Segoe UI"/>
              </a:defRPr>
            </a:pPr>
            <a:r>
              <a:t>Did you improve your prompts?</a:t>
            </a:r>
          </a:p>
        </p:txBody>
      </p:sp>
      <p:sp>
        <p:nvSpPr>
          <p:cNvPr id="19" name="TextBox 18"/>
          <p:cNvSpPr txBox="1"/>
          <p:nvPr/>
        </p:nvSpPr>
        <p:spPr>
          <a:xfrm>
            <a:off x="6675120" y="3291840"/>
            <a:ext cx="2286000" cy="365760"/>
          </a:xfrm>
          <a:prstGeom prst="rect">
            <a:avLst/>
          </a:prstGeom>
          <a:noFill/>
        </p:spPr>
        <p:txBody>
          <a:bodyPr wrap="square">
            <a:spAutoFit/>
          </a:bodyPr>
          <a:lstStyle/>
          <a:p>
            <a:pPr algn="l">
              <a:defRPr sz="1400" b="1">
                <a:solidFill>
                  <a:srgbClr val="1E3A5F"/>
                </a:solidFill>
                <a:latin typeface="Segoe UI"/>
              </a:defRPr>
            </a:pPr>
            <a:r>
              <a:t>Fact-Checking</a:t>
            </a:r>
          </a:p>
        </p:txBody>
      </p:sp>
      <p:sp>
        <p:nvSpPr>
          <p:cNvPr id="20" name="TextBox 19"/>
          <p:cNvSpPr txBox="1"/>
          <p:nvPr/>
        </p:nvSpPr>
        <p:spPr>
          <a:xfrm>
            <a:off x="8869680" y="3291840"/>
            <a:ext cx="2468880" cy="365760"/>
          </a:xfrm>
          <a:prstGeom prst="rect">
            <a:avLst/>
          </a:prstGeom>
          <a:noFill/>
        </p:spPr>
        <p:txBody>
          <a:bodyPr wrap="square">
            <a:spAutoFit/>
          </a:bodyPr>
          <a:lstStyle/>
          <a:p>
            <a:pPr algn="l">
              <a:defRPr sz="1200" b="0">
                <a:solidFill>
                  <a:srgbClr val="424242"/>
                </a:solidFill>
                <a:latin typeface="Segoe UI"/>
              </a:defRPr>
            </a:pPr>
            <a:r>
              <a:t>Did you verify AI claims?</a:t>
            </a:r>
          </a:p>
        </p:txBody>
      </p:sp>
      <p:sp>
        <p:nvSpPr>
          <p:cNvPr id="21" name="TextBox 20"/>
          <p:cNvSpPr txBox="1"/>
          <p:nvPr/>
        </p:nvSpPr>
        <p:spPr>
          <a:xfrm>
            <a:off x="6675120" y="3794760"/>
            <a:ext cx="2286000" cy="365760"/>
          </a:xfrm>
          <a:prstGeom prst="rect">
            <a:avLst/>
          </a:prstGeom>
          <a:noFill/>
        </p:spPr>
        <p:txBody>
          <a:bodyPr wrap="square">
            <a:spAutoFit/>
          </a:bodyPr>
          <a:lstStyle/>
          <a:p>
            <a:pPr algn="l">
              <a:defRPr sz="1400" b="1">
                <a:solidFill>
                  <a:srgbClr val="1E3A5F"/>
                </a:solidFill>
                <a:latin typeface="Segoe UI"/>
              </a:defRPr>
            </a:pPr>
            <a:r>
              <a:t>Teamwork</a:t>
            </a:r>
          </a:p>
        </p:txBody>
      </p:sp>
      <p:sp>
        <p:nvSpPr>
          <p:cNvPr id="22" name="TextBox 21"/>
          <p:cNvSpPr txBox="1"/>
          <p:nvPr/>
        </p:nvSpPr>
        <p:spPr>
          <a:xfrm>
            <a:off x="8869680" y="3794760"/>
            <a:ext cx="2468880" cy="365760"/>
          </a:xfrm>
          <a:prstGeom prst="rect">
            <a:avLst/>
          </a:prstGeom>
          <a:noFill/>
        </p:spPr>
        <p:txBody>
          <a:bodyPr wrap="square">
            <a:spAutoFit/>
          </a:bodyPr>
          <a:lstStyle/>
          <a:p>
            <a:pPr algn="l">
              <a:defRPr sz="1200" b="0">
                <a:solidFill>
                  <a:srgbClr val="424242"/>
                </a:solidFill>
                <a:latin typeface="Segoe UI"/>
              </a:defRPr>
            </a:pPr>
            <a:r>
              <a:t>Did everyone contribute?</a:t>
            </a:r>
          </a:p>
        </p:txBody>
      </p:sp>
      <p:sp>
        <p:nvSpPr>
          <p:cNvPr id="23" name="TextBox 22"/>
          <p:cNvSpPr txBox="1"/>
          <p:nvPr/>
        </p:nvSpPr>
        <p:spPr>
          <a:xfrm>
            <a:off x="6675120" y="4297680"/>
            <a:ext cx="2286000" cy="365760"/>
          </a:xfrm>
          <a:prstGeom prst="rect">
            <a:avLst/>
          </a:prstGeom>
          <a:noFill/>
        </p:spPr>
        <p:txBody>
          <a:bodyPr wrap="square">
            <a:spAutoFit/>
          </a:bodyPr>
          <a:lstStyle/>
          <a:p>
            <a:pPr algn="l">
              <a:defRPr sz="1400" b="1">
                <a:solidFill>
                  <a:srgbClr val="1E3A5F"/>
                </a:solidFill>
                <a:latin typeface="Segoe UI"/>
              </a:defRPr>
            </a:pPr>
            <a:r>
              <a:t>Creativity</a:t>
            </a:r>
          </a:p>
        </p:txBody>
      </p:sp>
      <p:sp>
        <p:nvSpPr>
          <p:cNvPr id="24" name="TextBox 23"/>
          <p:cNvSpPr txBox="1"/>
          <p:nvPr/>
        </p:nvSpPr>
        <p:spPr>
          <a:xfrm>
            <a:off x="8869680" y="4297680"/>
            <a:ext cx="2468880" cy="365760"/>
          </a:xfrm>
          <a:prstGeom prst="rect">
            <a:avLst/>
          </a:prstGeom>
          <a:noFill/>
        </p:spPr>
        <p:txBody>
          <a:bodyPr wrap="square">
            <a:spAutoFit/>
          </a:bodyPr>
          <a:lstStyle/>
          <a:p>
            <a:pPr algn="l">
              <a:defRPr sz="1200" b="0">
                <a:solidFill>
                  <a:srgbClr val="424242"/>
                </a:solidFill>
                <a:latin typeface="Segoe UI"/>
              </a:defRPr>
            </a:pPr>
            <a:r>
              <a:t>Did you go above and beyond?</a:t>
            </a:r>
          </a:p>
        </p:txBody>
      </p:sp>
      <p:sp>
        <p:nvSpPr>
          <p:cNvPr id="25" name="TextBox 24"/>
          <p:cNvSpPr txBox="1"/>
          <p:nvPr/>
        </p:nvSpPr>
        <p:spPr>
          <a:xfrm>
            <a:off x="6675120" y="4800600"/>
            <a:ext cx="2286000" cy="365760"/>
          </a:xfrm>
          <a:prstGeom prst="rect">
            <a:avLst/>
          </a:prstGeom>
          <a:noFill/>
        </p:spPr>
        <p:txBody>
          <a:bodyPr wrap="square">
            <a:spAutoFit/>
          </a:bodyPr>
          <a:lstStyle/>
          <a:p>
            <a:pPr algn="l">
              <a:defRPr sz="1400" b="1">
                <a:solidFill>
                  <a:srgbClr val="1E3A5F"/>
                </a:solidFill>
                <a:latin typeface="Segoe UI"/>
              </a:defRPr>
            </a:pPr>
            <a:r>
              <a:t>Presentation</a:t>
            </a:r>
          </a:p>
        </p:txBody>
      </p:sp>
      <p:sp>
        <p:nvSpPr>
          <p:cNvPr id="26" name="TextBox 25"/>
          <p:cNvSpPr txBox="1"/>
          <p:nvPr/>
        </p:nvSpPr>
        <p:spPr>
          <a:xfrm>
            <a:off x="8869680" y="4800600"/>
            <a:ext cx="2468880" cy="365760"/>
          </a:xfrm>
          <a:prstGeom prst="rect">
            <a:avLst/>
          </a:prstGeom>
          <a:noFill/>
        </p:spPr>
        <p:txBody>
          <a:bodyPr wrap="square">
            <a:spAutoFit/>
          </a:bodyPr>
          <a:lstStyle/>
          <a:p>
            <a:pPr algn="l">
              <a:defRPr sz="1200" b="0">
                <a:solidFill>
                  <a:srgbClr val="424242"/>
                </a:solidFill>
                <a:latin typeface="Segoe UI"/>
              </a:defRPr>
            </a:pPr>
            <a:r>
              <a:t>Can you explain your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Round 1: AI Study Guide Battle</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11274552" cy="365760"/>
          </a:xfrm>
          <a:prstGeom prst="rect">
            <a:avLst/>
          </a:prstGeom>
          <a:noFill/>
        </p:spPr>
        <p:txBody>
          <a:bodyPr wrap="square">
            <a:spAutoFit/>
          </a:bodyPr>
          <a:lstStyle/>
          <a:p>
            <a:pPr algn="l">
              <a:defRPr sz="1600" b="0">
                <a:solidFill>
                  <a:srgbClr val="ADD8E6"/>
                </a:solidFill>
                <a:latin typeface="Segoe UI"/>
              </a:defRPr>
            </a:pPr>
            <a:r>
              <a:t>40 minutes</a:t>
            </a:r>
          </a:p>
        </p:txBody>
      </p:sp>
      <p:sp>
        <p:nvSpPr>
          <p:cNvPr id="6" name="Rounded Rectangle 5"/>
          <p:cNvSpPr/>
          <p:nvPr/>
        </p:nvSpPr>
        <p:spPr>
          <a:xfrm>
            <a:off x="640080" y="1554480"/>
            <a:ext cx="10908792" cy="1188720"/>
          </a:xfrm>
          <a:prstGeom prst="roundRect">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10360152" cy="365760"/>
          </a:xfrm>
          <a:prstGeom prst="rect">
            <a:avLst/>
          </a:prstGeom>
          <a:noFill/>
        </p:spPr>
        <p:txBody>
          <a:bodyPr wrap="square">
            <a:spAutoFit/>
          </a:bodyPr>
          <a:lstStyle/>
          <a:p>
            <a:pPr algn="ctr">
              <a:defRPr sz="2000" b="1">
                <a:solidFill>
                  <a:srgbClr val="FFFFFF"/>
                </a:solidFill>
                <a:latin typeface="Segoe UI"/>
              </a:defRPr>
            </a:pPr>
            <a:r>
              <a:t>Mission: Create the BEST study guide on a topic your team chooses!</a:t>
            </a:r>
          </a:p>
        </p:txBody>
      </p:sp>
      <p:sp>
        <p:nvSpPr>
          <p:cNvPr id="8" name="TextBox 7"/>
          <p:cNvSpPr txBox="1"/>
          <p:nvPr/>
        </p:nvSpPr>
        <p:spPr>
          <a:xfrm>
            <a:off x="914400" y="2103120"/>
            <a:ext cx="10360152" cy="457200"/>
          </a:xfrm>
          <a:prstGeom prst="rect">
            <a:avLst/>
          </a:prstGeom>
          <a:noFill/>
        </p:spPr>
        <p:txBody>
          <a:bodyPr wrap="square">
            <a:spAutoFit/>
          </a:bodyPr>
          <a:lstStyle/>
          <a:p>
            <a:pPr algn="ctr">
              <a:defRPr sz="1600" b="0">
                <a:solidFill>
                  <a:srgbClr val="F5F5F5"/>
                </a:solidFill>
                <a:latin typeface="Segoe UI"/>
              </a:defRPr>
            </a:pPr>
            <a:r>
              <a:t>Pick any school subject -- math, science, history, English -- anything you're actually studying!</a:t>
            </a:r>
          </a:p>
        </p:txBody>
      </p:sp>
      <p:sp>
        <p:nvSpPr>
          <p:cNvPr id="9" name="Oval 8"/>
          <p:cNvSpPr/>
          <p:nvPr/>
        </p:nvSpPr>
        <p:spPr>
          <a:xfrm>
            <a:off x="914400" y="3017520"/>
            <a:ext cx="411480" cy="411480"/>
          </a:xfrm>
          <a:prstGeom prst="ellipse">
            <a:avLst/>
          </a:prstGeom>
          <a:solidFill>
            <a:srgbClr val="3467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1</a:t>
            </a:r>
          </a:p>
        </p:txBody>
      </p:sp>
      <p:sp>
        <p:nvSpPr>
          <p:cNvPr id="10" name="TextBox 9"/>
          <p:cNvSpPr txBox="1"/>
          <p:nvPr/>
        </p:nvSpPr>
        <p:spPr>
          <a:xfrm>
            <a:off x="1554480" y="3063240"/>
            <a:ext cx="9601200" cy="365760"/>
          </a:xfrm>
          <a:prstGeom prst="rect">
            <a:avLst/>
          </a:prstGeom>
          <a:noFill/>
        </p:spPr>
        <p:txBody>
          <a:bodyPr wrap="square">
            <a:spAutoFit/>
          </a:bodyPr>
          <a:lstStyle/>
          <a:p>
            <a:pPr algn="l">
              <a:defRPr sz="1800" b="1">
                <a:solidFill>
                  <a:srgbClr val="424242"/>
                </a:solidFill>
                <a:latin typeface="Segoe UI"/>
              </a:defRPr>
            </a:pPr>
            <a:r>
              <a:t>Pick a topic and write a basic prompt</a:t>
            </a:r>
          </a:p>
        </p:txBody>
      </p:sp>
      <p:sp>
        <p:nvSpPr>
          <p:cNvPr id="11" name="Oval 10"/>
          <p:cNvSpPr/>
          <p:nvPr/>
        </p:nvSpPr>
        <p:spPr>
          <a:xfrm>
            <a:off x="914400" y="3566160"/>
            <a:ext cx="411480" cy="41148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2</a:t>
            </a:r>
          </a:p>
        </p:txBody>
      </p:sp>
      <p:sp>
        <p:nvSpPr>
          <p:cNvPr id="12" name="TextBox 11"/>
          <p:cNvSpPr txBox="1"/>
          <p:nvPr/>
        </p:nvSpPr>
        <p:spPr>
          <a:xfrm>
            <a:off x="1554480" y="3611880"/>
            <a:ext cx="9601200" cy="365760"/>
          </a:xfrm>
          <a:prstGeom prst="rect">
            <a:avLst/>
          </a:prstGeom>
          <a:noFill/>
        </p:spPr>
        <p:txBody>
          <a:bodyPr wrap="square">
            <a:spAutoFit/>
          </a:bodyPr>
          <a:lstStyle/>
          <a:p>
            <a:pPr algn="l">
              <a:defRPr sz="1800" b="1">
                <a:solidFill>
                  <a:srgbClr val="424242"/>
                </a:solidFill>
                <a:latin typeface="Segoe UI"/>
              </a:defRPr>
            </a:pPr>
            <a:r>
              <a:t>Use meta prompting to improve your prompt</a:t>
            </a:r>
          </a:p>
        </p:txBody>
      </p:sp>
      <p:sp>
        <p:nvSpPr>
          <p:cNvPr id="13" name="Oval 12"/>
          <p:cNvSpPr/>
          <p:nvPr/>
        </p:nvSpPr>
        <p:spPr>
          <a:xfrm>
            <a:off x="914400" y="4114800"/>
            <a:ext cx="411480" cy="411480"/>
          </a:xfrm>
          <a:prstGeom prst="ellipse">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3</a:t>
            </a:r>
          </a:p>
        </p:txBody>
      </p:sp>
      <p:sp>
        <p:nvSpPr>
          <p:cNvPr id="14" name="TextBox 13"/>
          <p:cNvSpPr txBox="1"/>
          <p:nvPr/>
        </p:nvSpPr>
        <p:spPr>
          <a:xfrm>
            <a:off x="1554480" y="4160520"/>
            <a:ext cx="9601200" cy="365760"/>
          </a:xfrm>
          <a:prstGeom prst="rect">
            <a:avLst/>
          </a:prstGeom>
          <a:noFill/>
        </p:spPr>
        <p:txBody>
          <a:bodyPr wrap="square">
            <a:spAutoFit/>
          </a:bodyPr>
          <a:lstStyle/>
          <a:p>
            <a:pPr algn="l">
              <a:defRPr sz="1800" b="1">
                <a:solidFill>
                  <a:srgbClr val="424242"/>
                </a:solidFill>
                <a:latin typeface="Segoe UI"/>
              </a:defRPr>
            </a:pPr>
            <a:r>
              <a:t>Run the improved prompt and review the result</a:t>
            </a:r>
          </a:p>
        </p:txBody>
      </p:sp>
      <p:sp>
        <p:nvSpPr>
          <p:cNvPr id="15" name="Oval 14"/>
          <p:cNvSpPr/>
          <p:nvPr/>
        </p:nvSpPr>
        <p:spPr>
          <a:xfrm>
            <a:off x="914400" y="4663440"/>
            <a:ext cx="411480" cy="411480"/>
          </a:xfrm>
          <a:prstGeom prst="ellipse">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4</a:t>
            </a:r>
          </a:p>
        </p:txBody>
      </p:sp>
      <p:sp>
        <p:nvSpPr>
          <p:cNvPr id="16" name="TextBox 15"/>
          <p:cNvSpPr txBox="1"/>
          <p:nvPr/>
        </p:nvSpPr>
        <p:spPr>
          <a:xfrm>
            <a:off x="1554480" y="4709160"/>
            <a:ext cx="9601200" cy="365760"/>
          </a:xfrm>
          <a:prstGeom prst="rect">
            <a:avLst/>
          </a:prstGeom>
          <a:noFill/>
        </p:spPr>
        <p:txBody>
          <a:bodyPr wrap="square">
            <a:spAutoFit/>
          </a:bodyPr>
          <a:lstStyle/>
          <a:p>
            <a:pPr algn="l">
              <a:defRPr sz="1800" b="1">
                <a:solidFill>
                  <a:srgbClr val="424242"/>
                </a:solidFill>
                <a:latin typeface="Segoe UI"/>
              </a:defRPr>
            </a:pPr>
            <a:r>
              <a:t>Fact-check 2+ claims from the AI response</a:t>
            </a:r>
          </a:p>
        </p:txBody>
      </p:sp>
      <p:sp>
        <p:nvSpPr>
          <p:cNvPr id="17" name="Oval 16"/>
          <p:cNvSpPr/>
          <p:nvPr/>
        </p:nvSpPr>
        <p:spPr>
          <a:xfrm>
            <a:off x="914400" y="5212079"/>
            <a:ext cx="411480" cy="41148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5</a:t>
            </a:r>
          </a:p>
        </p:txBody>
      </p:sp>
      <p:sp>
        <p:nvSpPr>
          <p:cNvPr id="18" name="TextBox 17"/>
          <p:cNvSpPr txBox="1"/>
          <p:nvPr/>
        </p:nvSpPr>
        <p:spPr>
          <a:xfrm>
            <a:off x="1554480" y="5257799"/>
            <a:ext cx="9601200" cy="365760"/>
          </a:xfrm>
          <a:prstGeom prst="rect">
            <a:avLst/>
          </a:prstGeom>
          <a:noFill/>
        </p:spPr>
        <p:txBody>
          <a:bodyPr wrap="square">
            <a:spAutoFit/>
          </a:bodyPr>
          <a:lstStyle/>
          <a:p>
            <a:pPr algn="l">
              <a:defRPr sz="1800" b="1">
                <a:solidFill>
                  <a:srgbClr val="424242"/>
                </a:solidFill>
                <a:latin typeface="Segoe UI"/>
              </a:defRPr>
            </a:pPr>
            <a:r>
              <a:t>Iterate at least 3 times to get the best result</a:t>
            </a:r>
          </a:p>
        </p:txBody>
      </p:sp>
      <p:sp>
        <p:nvSpPr>
          <p:cNvPr id="19" name="Rounded Rectangle 18"/>
          <p:cNvSpPr/>
          <p:nvPr/>
        </p:nvSpPr>
        <p:spPr>
          <a:xfrm>
            <a:off x="914400" y="5760720"/>
            <a:ext cx="10360152" cy="640080"/>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Document everything in your classwork sheet! You'll present your process later.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Activity 1: AI Showdown</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11274552" cy="365760"/>
          </a:xfrm>
          <a:prstGeom prst="rect">
            <a:avLst/>
          </a:prstGeom>
          <a:noFill/>
        </p:spPr>
        <p:txBody>
          <a:bodyPr wrap="square">
            <a:spAutoFit/>
          </a:bodyPr>
          <a:lstStyle/>
          <a:p>
            <a:pPr algn="l">
              <a:defRPr sz="1600" b="0">
                <a:solidFill>
                  <a:srgbClr val="ADD8E6"/>
                </a:solidFill>
                <a:latin typeface="Segoe UI"/>
              </a:defRPr>
            </a:pPr>
            <a:r>
              <a:t>20 minutes</a:t>
            </a:r>
          </a:p>
        </p:txBody>
      </p:sp>
      <p:sp>
        <p:nvSpPr>
          <p:cNvPr id="6" name="Rounded Rectangle 5"/>
          <p:cNvSpPr/>
          <p:nvPr/>
        </p:nvSpPr>
        <p:spPr>
          <a:xfrm>
            <a:off x="640080" y="1554480"/>
            <a:ext cx="10908792" cy="1097280"/>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10360152" cy="365760"/>
          </a:xfrm>
          <a:prstGeom prst="rect">
            <a:avLst/>
          </a:prstGeom>
          <a:noFill/>
        </p:spPr>
        <p:txBody>
          <a:bodyPr wrap="square">
            <a:spAutoFit/>
          </a:bodyPr>
          <a:lstStyle/>
          <a:p>
            <a:pPr algn="ctr">
              <a:defRPr sz="2000" b="1">
                <a:solidFill>
                  <a:srgbClr val="FFFFFF"/>
                </a:solidFill>
                <a:latin typeface="Segoe UI"/>
              </a:defRPr>
            </a:pPr>
            <a:r>
              <a:t>Mission: Run the SAME prompt on different AI tools and compare the results!</a:t>
            </a:r>
          </a:p>
        </p:txBody>
      </p:sp>
      <p:sp>
        <p:nvSpPr>
          <p:cNvPr id="8" name="TextBox 7"/>
          <p:cNvSpPr txBox="1"/>
          <p:nvPr/>
        </p:nvSpPr>
        <p:spPr>
          <a:xfrm>
            <a:off x="914400" y="2103120"/>
            <a:ext cx="10360152" cy="365760"/>
          </a:xfrm>
          <a:prstGeom prst="rect">
            <a:avLst/>
          </a:prstGeom>
          <a:noFill/>
        </p:spPr>
        <p:txBody>
          <a:bodyPr wrap="square">
            <a:spAutoFit/>
          </a:bodyPr>
          <a:lstStyle/>
          <a:p>
            <a:pPr algn="ctr">
              <a:defRPr sz="1600" b="0">
                <a:solidFill>
                  <a:srgbClr val="F5F5F5"/>
                </a:solidFill>
                <a:latin typeface="Segoe UI"/>
              </a:defRPr>
            </a:pPr>
            <a:r>
              <a:t>Each person in your group picks a different tool. Then compare side-by-side!</a:t>
            </a:r>
          </a:p>
        </p:txBody>
      </p:sp>
      <p:sp>
        <p:nvSpPr>
          <p:cNvPr id="9" name="Oval 8"/>
          <p:cNvSpPr/>
          <p:nvPr/>
        </p:nvSpPr>
        <p:spPr>
          <a:xfrm>
            <a:off x="914400" y="2926080"/>
            <a:ext cx="411480" cy="411480"/>
          </a:xfrm>
          <a:prstGeom prst="ellipse">
            <a:avLst/>
          </a:prstGeom>
          <a:solidFill>
            <a:srgbClr val="3467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1</a:t>
            </a:r>
          </a:p>
        </p:txBody>
      </p:sp>
      <p:sp>
        <p:nvSpPr>
          <p:cNvPr id="10" name="TextBox 9"/>
          <p:cNvSpPr txBox="1"/>
          <p:nvPr/>
        </p:nvSpPr>
        <p:spPr>
          <a:xfrm>
            <a:off x="1554480" y="2971800"/>
            <a:ext cx="9601200" cy="365760"/>
          </a:xfrm>
          <a:prstGeom prst="rect">
            <a:avLst/>
          </a:prstGeom>
          <a:noFill/>
        </p:spPr>
        <p:txBody>
          <a:bodyPr wrap="square">
            <a:spAutoFit/>
          </a:bodyPr>
          <a:lstStyle/>
          <a:p>
            <a:pPr algn="l">
              <a:defRPr sz="1800" b="1">
                <a:solidFill>
                  <a:srgbClr val="424242"/>
                </a:solidFill>
                <a:latin typeface="Segoe UI"/>
              </a:defRPr>
            </a:pPr>
            <a:r>
              <a:t>Everyone gets the SAME prompt from the teacher</a:t>
            </a:r>
          </a:p>
        </p:txBody>
      </p:sp>
      <p:sp>
        <p:nvSpPr>
          <p:cNvPr id="11" name="Oval 10"/>
          <p:cNvSpPr/>
          <p:nvPr/>
        </p:nvSpPr>
        <p:spPr>
          <a:xfrm>
            <a:off x="914400" y="3474720"/>
            <a:ext cx="411480" cy="411480"/>
          </a:xfrm>
          <a:prstGeom prst="ellipse">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2</a:t>
            </a:r>
          </a:p>
        </p:txBody>
      </p:sp>
      <p:sp>
        <p:nvSpPr>
          <p:cNvPr id="12" name="TextBox 11"/>
          <p:cNvSpPr txBox="1"/>
          <p:nvPr/>
        </p:nvSpPr>
        <p:spPr>
          <a:xfrm>
            <a:off x="1554480" y="3520440"/>
            <a:ext cx="9601200" cy="365760"/>
          </a:xfrm>
          <a:prstGeom prst="rect">
            <a:avLst/>
          </a:prstGeom>
          <a:noFill/>
        </p:spPr>
        <p:txBody>
          <a:bodyPr wrap="square">
            <a:spAutoFit/>
          </a:bodyPr>
          <a:lstStyle/>
          <a:p>
            <a:pPr algn="l">
              <a:defRPr sz="1800" b="1">
                <a:solidFill>
                  <a:srgbClr val="424242"/>
                </a:solidFill>
                <a:latin typeface="Segoe UI"/>
              </a:defRPr>
            </a:pPr>
            <a:r>
              <a:t>Each person runs it on a DIFFERENT tool</a:t>
            </a:r>
          </a:p>
        </p:txBody>
      </p:sp>
      <p:sp>
        <p:nvSpPr>
          <p:cNvPr id="13" name="Oval 12"/>
          <p:cNvSpPr/>
          <p:nvPr/>
        </p:nvSpPr>
        <p:spPr>
          <a:xfrm>
            <a:off x="914400" y="4023360"/>
            <a:ext cx="411480" cy="41148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3</a:t>
            </a:r>
          </a:p>
        </p:txBody>
      </p:sp>
      <p:sp>
        <p:nvSpPr>
          <p:cNvPr id="14" name="TextBox 13"/>
          <p:cNvSpPr txBox="1"/>
          <p:nvPr/>
        </p:nvSpPr>
        <p:spPr>
          <a:xfrm>
            <a:off x="1554480" y="4069080"/>
            <a:ext cx="9601200" cy="365760"/>
          </a:xfrm>
          <a:prstGeom prst="rect">
            <a:avLst/>
          </a:prstGeom>
          <a:noFill/>
        </p:spPr>
        <p:txBody>
          <a:bodyPr wrap="square">
            <a:spAutoFit/>
          </a:bodyPr>
          <a:lstStyle/>
          <a:p>
            <a:pPr algn="l">
              <a:defRPr sz="1800" b="1">
                <a:solidFill>
                  <a:srgbClr val="424242"/>
                </a:solidFill>
                <a:latin typeface="Segoe UI"/>
              </a:defRPr>
            </a:pPr>
            <a:r>
              <a:t>Compare responses: accuracy, detail, and style</a:t>
            </a:r>
          </a:p>
        </p:txBody>
      </p:sp>
      <p:sp>
        <p:nvSpPr>
          <p:cNvPr id="15" name="Oval 14"/>
          <p:cNvSpPr/>
          <p:nvPr/>
        </p:nvSpPr>
        <p:spPr>
          <a:xfrm>
            <a:off x="914400" y="4572000"/>
            <a:ext cx="411480" cy="411480"/>
          </a:xfrm>
          <a:prstGeom prst="ellipse">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4</a:t>
            </a:r>
          </a:p>
        </p:txBody>
      </p:sp>
      <p:sp>
        <p:nvSpPr>
          <p:cNvPr id="16" name="TextBox 15"/>
          <p:cNvSpPr txBox="1"/>
          <p:nvPr/>
        </p:nvSpPr>
        <p:spPr>
          <a:xfrm>
            <a:off x="1554480" y="4617720"/>
            <a:ext cx="9601200" cy="365760"/>
          </a:xfrm>
          <a:prstGeom prst="rect">
            <a:avLst/>
          </a:prstGeom>
          <a:noFill/>
        </p:spPr>
        <p:txBody>
          <a:bodyPr wrap="square">
            <a:spAutoFit/>
          </a:bodyPr>
          <a:lstStyle/>
          <a:p>
            <a:pPr algn="l">
              <a:defRPr sz="1800" b="1">
                <a:solidFill>
                  <a:srgbClr val="424242"/>
                </a:solidFill>
                <a:latin typeface="Segoe UI"/>
              </a:defRPr>
            </a:pPr>
            <a:r>
              <a:t>Rate each tool from 1-5 on your worksheet</a:t>
            </a:r>
          </a:p>
        </p:txBody>
      </p:sp>
      <p:sp>
        <p:nvSpPr>
          <p:cNvPr id="17" name="Oval 16"/>
          <p:cNvSpPr/>
          <p:nvPr/>
        </p:nvSpPr>
        <p:spPr>
          <a:xfrm>
            <a:off x="914400" y="5120640"/>
            <a:ext cx="411480" cy="41148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5</a:t>
            </a:r>
          </a:p>
        </p:txBody>
      </p:sp>
      <p:sp>
        <p:nvSpPr>
          <p:cNvPr id="18" name="TextBox 17"/>
          <p:cNvSpPr txBox="1"/>
          <p:nvPr/>
        </p:nvSpPr>
        <p:spPr>
          <a:xfrm>
            <a:off x="1554480" y="5166360"/>
            <a:ext cx="9601200" cy="365760"/>
          </a:xfrm>
          <a:prstGeom prst="rect">
            <a:avLst/>
          </a:prstGeom>
          <a:noFill/>
        </p:spPr>
        <p:txBody>
          <a:bodyPr wrap="square">
            <a:spAutoFit/>
          </a:bodyPr>
          <a:lstStyle/>
          <a:p>
            <a:pPr algn="l">
              <a:defRPr sz="1800" b="1">
                <a:solidFill>
                  <a:srgbClr val="424242"/>
                </a:solidFill>
                <a:latin typeface="Segoe UI"/>
              </a:defRPr>
            </a:pPr>
            <a:r>
              <a:t>Decide as a team: which AI did the best job?</a:t>
            </a:r>
          </a:p>
        </p:txBody>
      </p:sp>
      <p:sp>
        <p:nvSpPr>
          <p:cNvPr id="19" name="Rounded Rectangle 18"/>
          <p:cNvSpPr/>
          <p:nvPr/>
        </p:nvSpPr>
        <p:spPr>
          <a:xfrm>
            <a:off x="914400" y="5760720"/>
            <a:ext cx="10360152" cy="640080"/>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Use the AI Showdown worksheet to document your results!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Activity 2: Creative Challenge</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11274552" cy="365760"/>
          </a:xfrm>
          <a:prstGeom prst="rect">
            <a:avLst/>
          </a:prstGeom>
          <a:noFill/>
        </p:spPr>
        <p:txBody>
          <a:bodyPr wrap="square">
            <a:spAutoFit/>
          </a:bodyPr>
          <a:lstStyle/>
          <a:p>
            <a:pPr algn="l">
              <a:defRPr sz="1600" b="0">
                <a:solidFill>
                  <a:srgbClr val="ADD8E6"/>
                </a:solidFill>
                <a:latin typeface="Segoe UI"/>
              </a:defRPr>
            </a:pPr>
            <a:r>
              <a:t>35 minutes</a:t>
            </a:r>
          </a:p>
        </p:txBody>
      </p:sp>
      <p:sp>
        <p:nvSpPr>
          <p:cNvPr id="6" name="Rounded Rectangle 5"/>
          <p:cNvSpPr/>
          <p:nvPr/>
        </p:nvSpPr>
        <p:spPr>
          <a:xfrm>
            <a:off x="640080" y="1554480"/>
            <a:ext cx="10908792" cy="10972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10360152" cy="365760"/>
          </a:xfrm>
          <a:prstGeom prst="rect">
            <a:avLst/>
          </a:prstGeom>
          <a:noFill/>
        </p:spPr>
        <p:txBody>
          <a:bodyPr wrap="square">
            <a:spAutoFit/>
          </a:bodyPr>
          <a:lstStyle/>
          <a:p>
            <a:pPr algn="ctr">
              <a:defRPr sz="2000" b="1">
                <a:solidFill>
                  <a:srgbClr val="1E3A5F"/>
                </a:solidFill>
                <a:latin typeface="Segoe UI"/>
              </a:defRPr>
            </a:pPr>
            <a:r>
              <a:t>Mission: Use meta prompting to create something amazing with AI!</a:t>
            </a:r>
          </a:p>
        </p:txBody>
      </p:sp>
      <p:sp>
        <p:nvSpPr>
          <p:cNvPr id="8" name="TextBox 7"/>
          <p:cNvSpPr txBox="1"/>
          <p:nvPr/>
        </p:nvSpPr>
        <p:spPr>
          <a:xfrm>
            <a:off x="914400" y="2103120"/>
            <a:ext cx="10360152" cy="365760"/>
          </a:xfrm>
          <a:prstGeom prst="rect">
            <a:avLst/>
          </a:prstGeom>
          <a:noFill/>
        </p:spPr>
        <p:txBody>
          <a:bodyPr wrap="square">
            <a:spAutoFit/>
          </a:bodyPr>
          <a:lstStyle/>
          <a:p>
            <a:pPr algn="ctr">
              <a:defRPr sz="1600" b="0">
                <a:solidFill>
                  <a:srgbClr val="424242"/>
                </a:solidFill>
                <a:latin typeface="Segoe UI"/>
              </a:defRPr>
            </a:pPr>
            <a:r>
              <a:t>Pick ONE project, iterate your prompts, and make it the best it can be!</a:t>
            </a:r>
          </a:p>
        </p:txBody>
      </p:sp>
      <p:sp>
        <p:nvSpPr>
          <p:cNvPr id="9" name="Rounded Rectangle 8"/>
          <p:cNvSpPr/>
          <p:nvPr/>
        </p:nvSpPr>
        <p:spPr>
          <a:xfrm>
            <a:off x="640080" y="2926080"/>
            <a:ext cx="5120640" cy="914400"/>
          </a:xfrm>
          <a:prstGeom prst="roundRect">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017520"/>
            <a:ext cx="4754880" cy="365760"/>
          </a:xfrm>
          <a:prstGeom prst="rect">
            <a:avLst/>
          </a:prstGeom>
          <a:noFill/>
        </p:spPr>
        <p:txBody>
          <a:bodyPr wrap="square">
            <a:spAutoFit/>
          </a:bodyPr>
          <a:lstStyle/>
          <a:p>
            <a:pPr algn="ctr">
              <a:defRPr sz="1800" b="1">
                <a:solidFill>
                  <a:srgbClr val="FFFFFF"/>
                </a:solidFill>
                <a:latin typeface="Segoe UI"/>
              </a:defRPr>
            </a:pPr>
            <a:r>
              <a:t>Write a Short Story or Poem</a:t>
            </a:r>
          </a:p>
        </p:txBody>
      </p:sp>
      <p:sp>
        <p:nvSpPr>
          <p:cNvPr id="11" name="TextBox 10"/>
          <p:cNvSpPr txBox="1"/>
          <p:nvPr/>
        </p:nvSpPr>
        <p:spPr>
          <a:xfrm>
            <a:off x="822960" y="3383280"/>
            <a:ext cx="4754880" cy="365760"/>
          </a:xfrm>
          <a:prstGeom prst="rect">
            <a:avLst/>
          </a:prstGeom>
          <a:noFill/>
        </p:spPr>
        <p:txBody>
          <a:bodyPr wrap="square">
            <a:spAutoFit/>
          </a:bodyPr>
          <a:lstStyle/>
          <a:p>
            <a:pPr algn="ctr">
              <a:defRPr sz="1400" b="0">
                <a:solidFill>
                  <a:srgbClr val="F5F5F5"/>
                </a:solidFill>
                <a:latin typeface="Segoe UI"/>
              </a:defRPr>
            </a:pPr>
            <a:r>
              <a:t>Use AI to co-write something creative!</a:t>
            </a:r>
          </a:p>
        </p:txBody>
      </p:sp>
      <p:sp>
        <p:nvSpPr>
          <p:cNvPr id="12" name="Rounded Rectangle 11"/>
          <p:cNvSpPr/>
          <p:nvPr/>
        </p:nvSpPr>
        <p:spPr>
          <a:xfrm>
            <a:off x="6336792" y="2926080"/>
            <a:ext cx="5120640" cy="914400"/>
          </a:xfrm>
          <a:prstGeom prst="round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3017520"/>
            <a:ext cx="4754880" cy="365760"/>
          </a:xfrm>
          <a:prstGeom prst="rect">
            <a:avLst/>
          </a:prstGeom>
          <a:noFill/>
        </p:spPr>
        <p:txBody>
          <a:bodyPr wrap="square">
            <a:spAutoFit/>
          </a:bodyPr>
          <a:lstStyle/>
          <a:p>
            <a:pPr algn="ctr">
              <a:defRPr sz="1800" b="1">
                <a:solidFill>
                  <a:srgbClr val="FFFFFF"/>
                </a:solidFill>
                <a:latin typeface="Segoe UI"/>
              </a:defRPr>
            </a:pPr>
            <a:r>
              <a:t>Create a Quiz for Younger Kids</a:t>
            </a:r>
          </a:p>
        </p:txBody>
      </p:sp>
      <p:sp>
        <p:nvSpPr>
          <p:cNvPr id="14" name="TextBox 13"/>
          <p:cNvSpPr txBox="1"/>
          <p:nvPr/>
        </p:nvSpPr>
        <p:spPr>
          <a:xfrm>
            <a:off x="6519672" y="3383280"/>
            <a:ext cx="4754880" cy="365760"/>
          </a:xfrm>
          <a:prstGeom prst="rect">
            <a:avLst/>
          </a:prstGeom>
          <a:noFill/>
        </p:spPr>
        <p:txBody>
          <a:bodyPr wrap="square">
            <a:spAutoFit/>
          </a:bodyPr>
          <a:lstStyle/>
          <a:p>
            <a:pPr algn="ctr">
              <a:defRPr sz="1400" b="0">
                <a:solidFill>
                  <a:srgbClr val="F5F5F5"/>
                </a:solidFill>
                <a:latin typeface="Segoe UI"/>
              </a:defRPr>
            </a:pPr>
            <a:r>
              <a:t>Make a fun quiz on any school topic!</a:t>
            </a:r>
          </a:p>
        </p:txBody>
      </p:sp>
      <p:sp>
        <p:nvSpPr>
          <p:cNvPr id="15" name="Rounded Rectangle 14"/>
          <p:cNvSpPr/>
          <p:nvPr/>
        </p:nvSpPr>
        <p:spPr>
          <a:xfrm>
            <a:off x="640080" y="4023360"/>
            <a:ext cx="5120640" cy="91440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14800"/>
            <a:ext cx="4754880" cy="365760"/>
          </a:xfrm>
          <a:prstGeom prst="rect">
            <a:avLst/>
          </a:prstGeom>
          <a:noFill/>
        </p:spPr>
        <p:txBody>
          <a:bodyPr wrap="square">
            <a:spAutoFit/>
          </a:bodyPr>
          <a:lstStyle/>
          <a:p>
            <a:pPr algn="ctr">
              <a:defRPr sz="1800" b="1">
                <a:solidFill>
                  <a:srgbClr val="FFFFFF"/>
                </a:solidFill>
                <a:latin typeface="Segoe UI"/>
              </a:defRPr>
            </a:pPr>
            <a:r>
              <a:t>Design a Lesson Plan</a:t>
            </a:r>
          </a:p>
        </p:txBody>
      </p:sp>
      <p:sp>
        <p:nvSpPr>
          <p:cNvPr id="17" name="TextBox 16"/>
          <p:cNvSpPr txBox="1"/>
          <p:nvPr/>
        </p:nvSpPr>
        <p:spPr>
          <a:xfrm>
            <a:off x="822960" y="4480560"/>
            <a:ext cx="4754880" cy="365760"/>
          </a:xfrm>
          <a:prstGeom prst="rect">
            <a:avLst/>
          </a:prstGeom>
          <a:noFill/>
        </p:spPr>
        <p:txBody>
          <a:bodyPr wrap="square">
            <a:spAutoFit/>
          </a:bodyPr>
          <a:lstStyle/>
          <a:p>
            <a:pPr algn="ctr">
              <a:defRPr sz="1400" b="0">
                <a:solidFill>
                  <a:srgbClr val="F5F5F5"/>
                </a:solidFill>
                <a:latin typeface="Segoe UI"/>
              </a:defRPr>
            </a:pPr>
            <a:r>
              <a:t>Teach AI to teach! Pick any topic.</a:t>
            </a:r>
          </a:p>
        </p:txBody>
      </p:sp>
      <p:sp>
        <p:nvSpPr>
          <p:cNvPr id="18" name="Rounded Rectangle 17"/>
          <p:cNvSpPr/>
          <p:nvPr/>
        </p:nvSpPr>
        <p:spPr>
          <a:xfrm>
            <a:off x="6336792" y="4023360"/>
            <a:ext cx="5120640" cy="914400"/>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4114800"/>
            <a:ext cx="4754880" cy="365760"/>
          </a:xfrm>
          <a:prstGeom prst="rect">
            <a:avLst/>
          </a:prstGeom>
          <a:noFill/>
        </p:spPr>
        <p:txBody>
          <a:bodyPr wrap="square">
            <a:spAutoFit/>
          </a:bodyPr>
          <a:lstStyle/>
          <a:p>
            <a:pPr algn="ctr">
              <a:defRPr sz="1800" b="1">
                <a:solidFill>
                  <a:srgbClr val="FFFFFF"/>
                </a:solidFill>
                <a:latin typeface="Segoe UI"/>
              </a:defRPr>
            </a:pPr>
            <a:r>
              <a:t>Build a How-To Guide</a:t>
            </a:r>
          </a:p>
        </p:txBody>
      </p:sp>
      <p:sp>
        <p:nvSpPr>
          <p:cNvPr id="20" name="TextBox 19"/>
          <p:cNvSpPr txBox="1"/>
          <p:nvPr/>
        </p:nvSpPr>
        <p:spPr>
          <a:xfrm>
            <a:off x="6519672" y="4480560"/>
            <a:ext cx="4754880" cy="365760"/>
          </a:xfrm>
          <a:prstGeom prst="rect">
            <a:avLst/>
          </a:prstGeom>
          <a:noFill/>
        </p:spPr>
        <p:txBody>
          <a:bodyPr wrap="square">
            <a:spAutoFit/>
          </a:bodyPr>
          <a:lstStyle/>
          <a:p>
            <a:pPr algn="ctr">
              <a:defRPr sz="1400" b="0">
                <a:solidFill>
                  <a:srgbClr val="F5F5F5"/>
                </a:solidFill>
                <a:latin typeface="Segoe UI"/>
              </a:defRPr>
            </a:pPr>
            <a:r>
              <a:t>Step-by-step guide for a hobby or skill!</a:t>
            </a:r>
          </a:p>
        </p:txBody>
      </p:sp>
      <p:sp>
        <p:nvSpPr>
          <p:cNvPr id="21" name="Rounded Rectangle 20"/>
          <p:cNvSpPr/>
          <p:nvPr/>
        </p:nvSpPr>
        <p:spPr>
          <a:xfrm>
            <a:off x="914400" y="5760720"/>
            <a:ext cx="10360152" cy="640080"/>
          </a:xfrm>
          <a:prstGeom prst="round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You'll present your best project to the class! Make it awesome!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Presentation &amp; Voting Time!</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908792" cy="457200"/>
          </a:xfrm>
          <a:prstGeom prst="rect">
            <a:avLst/>
          </a:prstGeom>
          <a:noFill/>
        </p:spPr>
        <p:txBody>
          <a:bodyPr wrap="square">
            <a:spAutoFit/>
          </a:bodyPr>
          <a:lstStyle/>
          <a:p>
            <a:pPr algn="ctr">
              <a:defRPr sz="2200" b="1">
                <a:solidFill>
                  <a:srgbClr val="424242"/>
                </a:solidFill>
                <a:latin typeface="Segoe UI"/>
              </a:defRPr>
            </a:pPr>
            <a:r>
              <a:t>Each team gets 2-3 minutes to share their best work!</a:t>
            </a:r>
          </a:p>
        </p:txBody>
      </p:sp>
      <p:sp>
        <p:nvSpPr>
          <p:cNvPr id="6" name="Rounded Rectangle 5"/>
          <p:cNvSpPr/>
          <p:nvPr/>
        </p:nvSpPr>
        <p:spPr>
          <a:xfrm>
            <a:off x="640080" y="2103120"/>
            <a:ext cx="5120640" cy="256032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40280"/>
            <a:ext cx="4754880" cy="365760"/>
          </a:xfrm>
          <a:prstGeom prst="rect">
            <a:avLst/>
          </a:prstGeom>
          <a:noFill/>
        </p:spPr>
        <p:txBody>
          <a:bodyPr wrap="square">
            <a:spAutoFit/>
          </a:bodyPr>
          <a:lstStyle/>
          <a:p>
            <a:pPr algn="ctr">
              <a:defRPr sz="2200" b="1">
                <a:solidFill>
                  <a:srgbClr val="FFB300"/>
                </a:solidFill>
                <a:latin typeface="Segoe UI"/>
              </a:defRPr>
            </a:pPr>
            <a:r>
              <a:t>What to Share:</a:t>
            </a:r>
          </a:p>
        </p:txBody>
      </p:sp>
      <p:sp>
        <p:nvSpPr>
          <p:cNvPr id="8" name="TextBox 7"/>
          <p:cNvSpPr txBox="1"/>
          <p:nvPr/>
        </p:nvSpPr>
        <p:spPr>
          <a:xfrm>
            <a:off x="1005840" y="2743200"/>
            <a:ext cx="4389120" cy="320040"/>
          </a:xfrm>
          <a:prstGeom prst="rect">
            <a:avLst/>
          </a:prstGeom>
          <a:noFill/>
        </p:spPr>
        <p:txBody>
          <a:bodyPr wrap="square">
            <a:spAutoFit/>
          </a:bodyPr>
          <a:lstStyle/>
          <a:p>
            <a:pPr algn="l">
              <a:defRPr sz="1400" b="0">
                <a:solidFill>
                  <a:srgbClr val="FFFFFF"/>
                </a:solidFill>
                <a:latin typeface="Segoe UI"/>
              </a:defRPr>
            </a:pPr>
            <a:r>
              <a:t>- Your best study guide or creative project</a:t>
            </a:r>
          </a:p>
        </p:txBody>
      </p:sp>
      <p:sp>
        <p:nvSpPr>
          <p:cNvPr id="9" name="TextBox 8"/>
          <p:cNvSpPr txBox="1"/>
          <p:nvPr/>
        </p:nvSpPr>
        <p:spPr>
          <a:xfrm>
            <a:off x="1005840" y="3108960"/>
            <a:ext cx="4389120" cy="320040"/>
          </a:xfrm>
          <a:prstGeom prst="rect">
            <a:avLst/>
          </a:prstGeom>
          <a:noFill/>
        </p:spPr>
        <p:txBody>
          <a:bodyPr wrap="square">
            <a:spAutoFit/>
          </a:bodyPr>
          <a:lstStyle/>
          <a:p>
            <a:pPr algn="l">
              <a:defRPr sz="1400" b="0">
                <a:solidFill>
                  <a:srgbClr val="FFFFFF"/>
                </a:solidFill>
                <a:latin typeface="Segoe UI"/>
              </a:defRPr>
            </a:pPr>
            <a:r>
              <a:t>- Your original prompt vs. final prompt</a:t>
            </a:r>
          </a:p>
        </p:txBody>
      </p:sp>
      <p:sp>
        <p:nvSpPr>
          <p:cNvPr id="10" name="TextBox 9"/>
          <p:cNvSpPr txBox="1"/>
          <p:nvPr/>
        </p:nvSpPr>
        <p:spPr>
          <a:xfrm>
            <a:off x="1005840" y="3474720"/>
            <a:ext cx="4389120" cy="320040"/>
          </a:xfrm>
          <a:prstGeom prst="rect">
            <a:avLst/>
          </a:prstGeom>
          <a:noFill/>
        </p:spPr>
        <p:txBody>
          <a:bodyPr wrap="square">
            <a:spAutoFit/>
          </a:bodyPr>
          <a:lstStyle/>
          <a:p>
            <a:pPr algn="l">
              <a:defRPr sz="1400" b="0">
                <a:solidFill>
                  <a:srgbClr val="FFFFFF"/>
                </a:solidFill>
                <a:latin typeface="Segoe UI"/>
              </a:defRPr>
            </a:pPr>
            <a:r>
              <a:t>- What meta prompting techniques you used</a:t>
            </a:r>
          </a:p>
        </p:txBody>
      </p:sp>
      <p:sp>
        <p:nvSpPr>
          <p:cNvPr id="11" name="TextBox 10"/>
          <p:cNvSpPr txBox="1"/>
          <p:nvPr/>
        </p:nvSpPr>
        <p:spPr>
          <a:xfrm>
            <a:off x="1005840" y="3840480"/>
            <a:ext cx="4389120" cy="320040"/>
          </a:xfrm>
          <a:prstGeom prst="rect">
            <a:avLst/>
          </a:prstGeom>
          <a:noFill/>
        </p:spPr>
        <p:txBody>
          <a:bodyPr wrap="square">
            <a:spAutoFit/>
          </a:bodyPr>
          <a:lstStyle/>
          <a:p>
            <a:pPr algn="l">
              <a:defRPr sz="1400" b="0">
                <a:solidFill>
                  <a:srgbClr val="FFFFFF"/>
                </a:solidFill>
                <a:latin typeface="Segoe UI"/>
              </a:defRPr>
            </a:pPr>
            <a:r>
              <a:t>- What you fact-checked and what you found</a:t>
            </a:r>
          </a:p>
        </p:txBody>
      </p:sp>
      <p:sp>
        <p:nvSpPr>
          <p:cNvPr id="12" name="TextBox 11"/>
          <p:cNvSpPr txBox="1"/>
          <p:nvPr/>
        </p:nvSpPr>
        <p:spPr>
          <a:xfrm>
            <a:off x="1005840" y="4206240"/>
            <a:ext cx="4389120" cy="320040"/>
          </a:xfrm>
          <a:prstGeom prst="rect">
            <a:avLst/>
          </a:prstGeom>
          <a:noFill/>
        </p:spPr>
        <p:txBody>
          <a:bodyPr wrap="square">
            <a:spAutoFit/>
          </a:bodyPr>
          <a:lstStyle/>
          <a:p>
            <a:pPr algn="l">
              <a:defRPr sz="1400" b="0">
                <a:solidFill>
                  <a:srgbClr val="FFFFFF"/>
                </a:solidFill>
                <a:latin typeface="Segoe UI"/>
              </a:defRPr>
            </a:pPr>
            <a:r>
              <a:t>- What surprised you about AI's responses</a:t>
            </a:r>
          </a:p>
        </p:txBody>
      </p:sp>
      <p:sp>
        <p:nvSpPr>
          <p:cNvPr id="13" name="Rounded Rectangle 12"/>
          <p:cNvSpPr/>
          <p:nvPr/>
        </p:nvSpPr>
        <p:spPr>
          <a:xfrm>
            <a:off x="6336792" y="2103120"/>
            <a:ext cx="5212080" cy="256032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2240280"/>
            <a:ext cx="4846320" cy="365760"/>
          </a:xfrm>
          <a:prstGeom prst="rect">
            <a:avLst/>
          </a:prstGeom>
          <a:noFill/>
        </p:spPr>
        <p:txBody>
          <a:bodyPr wrap="square">
            <a:spAutoFit/>
          </a:bodyPr>
          <a:lstStyle/>
          <a:p>
            <a:pPr algn="ctr">
              <a:defRPr sz="2200" b="1">
                <a:solidFill>
                  <a:srgbClr val="1E3A5F"/>
                </a:solidFill>
                <a:latin typeface="Segoe UI"/>
              </a:defRPr>
            </a:pPr>
            <a:r>
              <a:t>Awards:</a:t>
            </a:r>
          </a:p>
        </p:txBody>
      </p:sp>
      <p:sp>
        <p:nvSpPr>
          <p:cNvPr id="15" name="Oval 14"/>
          <p:cNvSpPr/>
          <p:nvPr/>
        </p:nvSpPr>
        <p:spPr>
          <a:xfrm>
            <a:off x="6858000" y="2834640"/>
            <a:ext cx="320040" cy="320040"/>
          </a:xfrm>
          <a:prstGeom prst="ellipse">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1</a:t>
            </a:r>
          </a:p>
        </p:txBody>
      </p:sp>
      <p:sp>
        <p:nvSpPr>
          <p:cNvPr id="16" name="TextBox 15"/>
          <p:cNvSpPr txBox="1"/>
          <p:nvPr/>
        </p:nvSpPr>
        <p:spPr>
          <a:xfrm>
            <a:off x="7406640" y="2862072"/>
            <a:ext cx="3931920" cy="320040"/>
          </a:xfrm>
          <a:prstGeom prst="rect">
            <a:avLst/>
          </a:prstGeom>
          <a:noFill/>
        </p:spPr>
        <p:txBody>
          <a:bodyPr wrap="square">
            <a:spAutoFit/>
          </a:bodyPr>
          <a:lstStyle/>
          <a:p>
            <a:pPr algn="l">
              <a:defRPr sz="1800" b="1">
                <a:solidFill>
                  <a:srgbClr val="1E3A5F"/>
                </a:solidFill>
                <a:latin typeface="Segoe UI"/>
              </a:defRPr>
            </a:pPr>
            <a:r>
              <a:t>Best Study Guide</a:t>
            </a:r>
          </a:p>
        </p:txBody>
      </p:sp>
      <p:sp>
        <p:nvSpPr>
          <p:cNvPr id="17" name="Oval 16"/>
          <p:cNvSpPr/>
          <p:nvPr/>
        </p:nvSpPr>
        <p:spPr>
          <a:xfrm>
            <a:off x="6858000" y="3291840"/>
            <a:ext cx="320040" cy="320040"/>
          </a:xfrm>
          <a:prstGeom prst="ellipse">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2</a:t>
            </a:r>
          </a:p>
        </p:txBody>
      </p:sp>
      <p:sp>
        <p:nvSpPr>
          <p:cNvPr id="18" name="TextBox 17"/>
          <p:cNvSpPr txBox="1"/>
          <p:nvPr/>
        </p:nvSpPr>
        <p:spPr>
          <a:xfrm>
            <a:off x="7406640" y="3319272"/>
            <a:ext cx="3931920" cy="320040"/>
          </a:xfrm>
          <a:prstGeom prst="rect">
            <a:avLst/>
          </a:prstGeom>
          <a:noFill/>
        </p:spPr>
        <p:txBody>
          <a:bodyPr wrap="square">
            <a:spAutoFit/>
          </a:bodyPr>
          <a:lstStyle/>
          <a:p>
            <a:pPr algn="l">
              <a:defRPr sz="1800" b="1">
                <a:solidFill>
                  <a:srgbClr val="1E3A5F"/>
                </a:solidFill>
                <a:latin typeface="Segoe UI"/>
              </a:defRPr>
            </a:pPr>
            <a:r>
              <a:t>Best Creative Project</a:t>
            </a:r>
          </a:p>
        </p:txBody>
      </p:sp>
      <p:sp>
        <p:nvSpPr>
          <p:cNvPr id="19" name="Oval 18"/>
          <p:cNvSpPr/>
          <p:nvPr/>
        </p:nvSpPr>
        <p:spPr>
          <a:xfrm>
            <a:off x="6858000" y="3749039"/>
            <a:ext cx="320040" cy="32004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3</a:t>
            </a:r>
          </a:p>
        </p:txBody>
      </p:sp>
      <p:sp>
        <p:nvSpPr>
          <p:cNvPr id="20" name="TextBox 19"/>
          <p:cNvSpPr txBox="1"/>
          <p:nvPr/>
        </p:nvSpPr>
        <p:spPr>
          <a:xfrm>
            <a:off x="7406640" y="3776471"/>
            <a:ext cx="3931920" cy="320040"/>
          </a:xfrm>
          <a:prstGeom prst="rect">
            <a:avLst/>
          </a:prstGeom>
          <a:noFill/>
        </p:spPr>
        <p:txBody>
          <a:bodyPr wrap="square">
            <a:spAutoFit/>
          </a:bodyPr>
          <a:lstStyle/>
          <a:p>
            <a:pPr algn="l">
              <a:defRPr sz="1800" b="1">
                <a:solidFill>
                  <a:srgbClr val="1E3A5F"/>
                </a:solidFill>
                <a:latin typeface="Segoe UI"/>
              </a:defRPr>
            </a:pPr>
            <a:r>
              <a:t>Best Prompt Strategy</a:t>
            </a:r>
          </a:p>
        </p:txBody>
      </p:sp>
      <p:sp>
        <p:nvSpPr>
          <p:cNvPr id="21" name="Oval 20"/>
          <p:cNvSpPr/>
          <p:nvPr/>
        </p:nvSpPr>
        <p:spPr>
          <a:xfrm>
            <a:off x="6858000" y="4206240"/>
            <a:ext cx="320040" cy="320040"/>
          </a:xfrm>
          <a:prstGeom prst="ellipse">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4</a:t>
            </a:r>
          </a:p>
        </p:txBody>
      </p:sp>
      <p:sp>
        <p:nvSpPr>
          <p:cNvPr id="22" name="TextBox 21"/>
          <p:cNvSpPr txBox="1"/>
          <p:nvPr/>
        </p:nvSpPr>
        <p:spPr>
          <a:xfrm>
            <a:off x="7406640" y="4233672"/>
            <a:ext cx="3931920" cy="320040"/>
          </a:xfrm>
          <a:prstGeom prst="rect">
            <a:avLst/>
          </a:prstGeom>
          <a:noFill/>
        </p:spPr>
        <p:txBody>
          <a:bodyPr wrap="square">
            <a:spAutoFit/>
          </a:bodyPr>
          <a:lstStyle/>
          <a:p>
            <a:pPr algn="l">
              <a:defRPr sz="1800" b="1">
                <a:solidFill>
                  <a:srgbClr val="1E3A5F"/>
                </a:solidFill>
                <a:latin typeface="Segoe UI"/>
              </a:defRPr>
            </a:pPr>
            <a:r>
              <a:t>Best Teamwork</a:t>
            </a:r>
          </a:p>
        </p:txBody>
      </p:sp>
      <p:sp>
        <p:nvSpPr>
          <p:cNvPr id="23" name="Rounded Rectangle 22"/>
          <p:cNvSpPr/>
          <p:nvPr/>
        </p:nvSpPr>
        <p:spPr>
          <a:xfrm>
            <a:off x="914400" y="5760720"/>
            <a:ext cx="10360152" cy="640080"/>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latin typeface="Segoe UI"/>
              </a:defRPr>
            </a:pPr>
            <a:r>
              <a:t>Class votes on the winners! May the best team win!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4552" cy="640080"/>
          </a:xfrm>
          <a:prstGeom prst="rect">
            <a:avLst/>
          </a:prstGeom>
          <a:noFill/>
        </p:spPr>
        <p:txBody>
          <a:bodyPr wrap="square">
            <a:spAutoFit/>
          </a:bodyPr>
          <a:lstStyle/>
          <a:p>
            <a:pPr algn="l">
              <a:defRPr sz="3600" b="1">
                <a:solidFill>
                  <a:srgbClr val="FFFFFF"/>
                </a:solidFill>
                <a:latin typeface="Segoe UI Semibold"/>
              </a:defRPr>
            </a:pPr>
            <a:r>
              <a:t>Today's Key Takeaways</a:t>
            </a:r>
          </a:p>
        </p:txBody>
      </p:sp>
      <p:sp>
        <p:nvSpPr>
          <p:cNvPr id="4" name="Rectangle 3"/>
          <p:cNvSpPr/>
          <p:nvPr/>
        </p:nvSpPr>
        <p:spPr>
          <a:xfrm>
            <a:off x="0" y="1188720"/>
            <a:ext cx="12188952" cy="73152"/>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554480"/>
            <a:ext cx="502920" cy="50292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1</a:t>
            </a:r>
          </a:p>
        </p:txBody>
      </p:sp>
      <p:sp>
        <p:nvSpPr>
          <p:cNvPr id="6" name="TextBox 5"/>
          <p:cNvSpPr txBox="1"/>
          <p:nvPr/>
        </p:nvSpPr>
        <p:spPr>
          <a:xfrm>
            <a:off x="1645920" y="1600200"/>
            <a:ext cx="9601200" cy="457200"/>
          </a:xfrm>
          <a:prstGeom prst="rect">
            <a:avLst/>
          </a:prstGeom>
          <a:noFill/>
        </p:spPr>
        <p:txBody>
          <a:bodyPr wrap="square">
            <a:spAutoFit/>
          </a:bodyPr>
          <a:lstStyle/>
          <a:p>
            <a:pPr algn="l">
              <a:defRPr sz="2200" b="1">
                <a:solidFill>
                  <a:srgbClr val="424242"/>
                </a:solidFill>
                <a:latin typeface="Segoe UI"/>
              </a:defRPr>
            </a:pPr>
            <a:r>
              <a:t>Meta prompting = using AI to help write better prompts</a:t>
            </a:r>
          </a:p>
        </p:txBody>
      </p:sp>
      <p:sp>
        <p:nvSpPr>
          <p:cNvPr id="7" name="Oval 6"/>
          <p:cNvSpPr/>
          <p:nvPr/>
        </p:nvSpPr>
        <p:spPr>
          <a:xfrm>
            <a:off x="914400" y="2240280"/>
            <a:ext cx="502920" cy="502920"/>
          </a:xfrm>
          <a:prstGeom prst="ellipse">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2</a:t>
            </a:r>
          </a:p>
        </p:txBody>
      </p:sp>
      <p:sp>
        <p:nvSpPr>
          <p:cNvPr id="8" name="TextBox 7"/>
          <p:cNvSpPr txBox="1"/>
          <p:nvPr/>
        </p:nvSpPr>
        <p:spPr>
          <a:xfrm>
            <a:off x="1645920" y="2286000"/>
            <a:ext cx="9601200" cy="457200"/>
          </a:xfrm>
          <a:prstGeom prst="rect">
            <a:avLst/>
          </a:prstGeom>
          <a:noFill/>
        </p:spPr>
        <p:txBody>
          <a:bodyPr wrap="square">
            <a:spAutoFit/>
          </a:bodyPr>
          <a:lstStyle/>
          <a:p>
            <a:pPr algn="l">
              <a:defRPr sz="2200" b="1">
                <a:solidFill>
                  <a:srgbClr val="424242"/>
                </a:solidFill>
                <a:latin typeface="Segoe UI"/>
              </a:defRPr>
            </a:pPr>
            <a:r>
              <a:t>Ask AI to write, improve, or suggest prompts for you</a:t>
            </a:r>
          </a:p>
        </p:txBody>
      </p:sp>
      <p:sp>
        <p:nvSpPr>
          <p:cNvPr id="9" name="Oval 8"/>
          <p:cNvSpPr/>
          <p:nvPr/>
        </p:nvSpPr>
        <p:spPr>
          <a:xfrm>
            <a:off x="914400" y="2926080"/>
            <a:ext cx="502920" cy="502920"/>
          </a:xfrm>
          <a:prstGeom prst="ellipse">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3</a:t>
            </a:r>
          </a:p>
        </p:txBody>
      </p:sp>
      <p:sp>
        <p:nvSpPr>
          <p:cNvPr id="10" name="TextBox 9"/>
          <p:cNvSpPr txBox="1"/>
          <p:nvPr/>
        </p:nvSpPr>
        <p:spPr>
          <a:xfrm>
            <a:off x="1645920" y="2971800"/>
            <a:ext cx="9601200" cy="457200"/>
          </a:xfrm>
          <a:prstGeom prst="rect">
            <a:avLst/>
          </a:prstGeom>
          <a:noFill/>
        </p:spPr>
        <p:txBody>
          <a:bodyPr wrap="square">
            <a:spAutoFit/>
          </a:bodyPr>
          <a:lstStyle/>
          <a:p>
            <a:pPr algn="l">
              <a:defRPr sz="2200" b="1">
                <a:solidFill>
                  <a:srgbClr val="424242"/>
                </a:solidFill>
                <a:latin typeface="Segoe UI"/>
              </a:defRPr>
            </a:pPr>
            <a:r>
              <a:t>Iteration is key -- your 3rd prompt is always better than your 1st</a:t>
            </a:r>
          </a:p>
        </p:txBody>
      </p:sp>
      <p:sp>
        <p:nvSpPr>
          <p:cNvPr id="11" name="Oval 10"/>
          <p:cNvSpPr/>
          <p:nvPr/>
        </p:nvSpPr>
        <p:spPr>
          <a:xfrm>
            <a:off x="914400" y="3611880"/>
            <a:ext cx="502920" cy="502920"/>
          </a:xfrm>
          <a:prstGeom prst="ellipse">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4</a:t>
            </a:r>
          </a:p>
        </p:txBody>
      </p:sp>
      <p:sp>
        <p:nvSpPr>
          <p:cNvPr id="12" name="TextBox 11"/>
          <p:cNvSpPr txBox="1"/>
          <p:nvPr/>
        </p:nvSpPr>
        <p:spPr>
          <a:xfrm>
            <a:off x="1645920" y="3657600"/>
            <a:ext cx="9601200" cy="457200"/>
          </a:xfrm>
          <a:prstGeom prst="rect">
            <a:avLst/>
          </a:prstGeom>
          <a:noFill/>
        </p:spPr>
        <p:txBody>
          <a:bodyPr wrap="square">
            <a:spAutoFit/>
          </a:bodyPr>
          <a:lstStyle/>
          <a:p>
            <a:pPr algn="l">
              <a:defRPr sz="2200" b="1">
                <a:solidFill>
                  <a:srgbClr val="424242"/>
                </a:solidFill>
                <a:latin typeface="Segoe UI"/>
              </a:defRPr>
            </a:pPr>
            <a:r>
              <a:t>Different AI tools give different results -- compare them!</a:t>
            </a:r>
          </a:p>
        </p:txBody>
      </p:sp>
      <p:sp>
        <p:nvSpPr>
          <p:cNvPr id="13" name="Oval 12"/>
          <p:cNvSpPr/>
          <p:nvPr/>
        </p:nvSpPr>
        <p:spPr>
          <a:xfrm>
            <a:off x="914400" y="4297680"/>
            <a:ext cx="502920" cy="502920"/>
          </a:xfrm>
          <a:prstGeom prst="ellipse">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5</a:t>
            </a:r>
          </a:p>
        </p:txBody>
      </p:sp>
      <p:sp>
        <p:nvSpPr>
          <p:cNvPr id="14" name="TextBox 13"/>
          <p:cNvSpPr txBox="1"/>
          <p:nvPr/>
        </p:nvSpPr>
        <p:spPr>
          <a:xfrm>
            <a:off x="1645920" y="4343400"/>
            <a:ext cx="9601200" cy="457200"/>
          </a:xfrm>
          <a:prstGeom prst="rect">
            <a:avLst/>
          </a:prstGeom>
          <a:noFill/>
        </p:spPr>
        <p:txBody>
          <a:bodyPr wrap="square">
            <a:spAutoFit/>
          </a:bodyPr>
          <a:lstStyle/>
          <a:p>
            <a:pPr algn="l">
              <a:defRPr sz="2200" b="1">
                <a:solidFill>
                  <a:srgbClr val="424242"/>
                </a:solidFill>
                <a:latin typeface="Segoe UI"/>
              </a:defRPr>
            </a:pPr>
            <a:r>
              <a:t>Always fact-check AI responses, even good-looking ones</a:t>
            </a:r>
          </a:p>
        </p:txBody>
      </p:sp>
      <p:sp>
        <p:nvSpPr>
          <p:cNvPr id="15" name="Oval 14"/>
          <p:cNvSpPr/>
          <p:nvPr/>
        </p:nvSpPr>
        <p:spPr>
          <a:xfrm>
            <a:off x="914400" y="4983480"/>
            <a:ext cx="502920" cy="50292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6</a:t>
            </a:r>
          </a:p>
        </p:txBody>
      </p:sp>
      <p:sp>
        <p:nvSpPr>
          <p:cNvPr id="16" name="TextBox 15"/>
          <p:cNvSpPr txBox="1"/>
          <p:nvPr/>
        </p:nvSpPr>
        <p:spPr>
          <a:xfrm>
            <a:off x="1645920" y="5029200"/>
            <a:ext cx="9601200" cy="457200"/>
          </a:xfrm>
          <a:prstGeom prst="rect">
            <a:avLst/>
          </a:prstGeom>
          <a:noFill/>
        </p:spPr>
        <p:txBody>
          <a:bodyPr wrap="square">
            <a:spAutoFit/>
          </a:bodyPr>
          <a:lstStyle/>
          <a:p>
            <a:pPr algn="l">
              <a:defRPr sz="2200" b="1">
                <a:solidFill>
                  <a:srgbClr val="424242"/>
                </a:solidFill>
                <a:latin typeface="Segoe UI"/>
              </a:defRPr>
            </a:pPr>
            <a:r>
              <a:t>AI is a collaboration tool -- teams + AI = amazing results</a:t>
            </a:r>
          </a:p>
        </p:txBody>
      </p:sp>
      <p:sp>
        <p:nvSpPr>
          <p:cNvPr id="17" name="Rounded Rectangle 16"/>
          <p:cNvSpPr/>
          <p:nvPr/>
        </p:nvSpPr>
        <p:spPr>
          <a:xfrm>
            <a:off x="2286000" y="5852160"/>
            <a:ext cx="7616952" cy="640080"/>
          </a:xfrm>
          <a:prstGeom prst="round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2200" b="1">
                <a:solidFill>
                  <a:srgbClr val="FFFFFF"/>
                </a:solidFill>
                <a:latin typeface="Segoe UI"/>
              </a:defRPr>
            </a:pPr>
            <a:r>
              <a:t>Time for Kahoot!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463040"/>
            <a:ext cx="12188952" cy="1828800"/>
          </a:xfrm>
          <a:prstGeom prst="rect">
            <a:avLst/>
          </a:prstGeom>
          <a:noFill/>
        </p:spPr>
        <p:txBody>
          <a:bodyPr wrap="square">
            <a:spAutoFit/>
          </a:bodyPr>
          <a:lstStyle/>
          <a:p>
            <a:pPr algn="ctr">
              <a:defRPr sz="12000" b="0">
                <a:solidFill>
                  <a:srgbClr val="FFFFFF"/>
                </a:solidFill>
                <a:latin typeface="Segoe UI"/>
              </a:defRPr>
            </a:pPr>
            <a:r>
              <a:t>?</a:t>
            </a:r>
          </a:p>
        </p:txBody>
      </p:sp>
      <p:sp>
        <p:nvSpPr>
          <p:cNvPr id="4" name="TextBox 3"/>
          <p:cNvSpPr txBox="1"/>
          <p:nvPr/>
        </p:nvSpPr>
        <p:spPr>
          <a:xfrm>
            <a:off x="0" y="3200400"/>
            <a:ext cx="12188952" cy="914400"/>
          </a:xfrm>
          <a:prstGeom prst="rect">
            <a:avLst/>
          </a:prstGeom>
          <a:noFill/>
        </p:spPr>
        <p:txBody>
          <a:bodyPr wrap="square">
            <a:spAutoFit/>
          </a:bodyPr>
          <a:lstStyle/>
          <a:p>
            <a:pPr algn="ctr">
              <a:defRPr sz="6000" b="1">
                <a:solidFill>
                  <a:srgbClr val="FFFFFF"/>
                </a:solidFill>
                <a:latin typeface="Segoe UI Semibold"/>
              </a:defRPr>
            </a:pPr>
            <a:r>
              <a:t>Questions?</a:t>
            </a:r>
          </a:p>
        </p:txBody>
      </p:sp>
      <p:sp>
        <p:nvSpPr>
          <p:cNvPr id="5" name="TextBox 4"/>
          <p:cNvSpPr txBox="1"/>
          <p:nvPr/>
        </p:nvSpPr>
        <p:spPr>
          <a:xfrm>
            <a:off x="0" y="4663440"/>
            <a:ext cx="12188952" cy="548640"/>
          </a:xfrm>
          <a:prstGeom prst="rect">
            <a:avLst/>
          </a:prstGeom>
          <a:noFill/>
        </p:spPr>
        <p:txBody>
          <a:bodyPr wrap="square">
            <a:spAutoFit/>
          </a:bodyPr>
          <a:lstStyle/>
          <a:p>
            <a:pPr algn="ctr">
              <a:defRPr sz="2400" b="0">
                <a:solidFill>
                  <a:srgbClr val="ADD8E6"/>
                </a:solidFill>
                <a:latin typeface="Segoe UI"/>
              </a:defRPr>
            </a:pPr>
            <a:r>
              <a:t>Great work today, teams!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