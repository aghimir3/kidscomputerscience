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1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42"/>
    <p:restoredTop sz="94610"/>
  </p:normalViewPr>
  <p:slideViewPr>
    <p:cSldViewPr snapToGrid="0" snapToObjects="1">
      <p:cViewPr varScale="1">
        <p:scale>
          <a:sx n="217" d="100"/>
          <a:sy n="217" d="100"/>
        </p:scale>
        <p:origin x="19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of Adopters</c:v>
                </c:pt>
              </c:strCache>
            </c:strRef>
          </c:tx>
          <c:spPr>
            <a:solidFill>
              <a:srgbClr val="0EA5E9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F4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Research &amp;
Summarization</c:v>
                </c:pt>
                <c:pt idx="1">
                  <c:v>Personal
Productivity</c:v>
                </c:pt>
                <c:pt idx="2">
                  <c:v>IT Service
Desk</c:v>
                </c:pt>
                <c:pt idx="3">
                  <c:v>Customer
Service</c:v>
                </c:pt>
                <c:pt idx="4">
                  <c:v>Code
Generation</c:v>
                </c:pt>
                <c:pt idx="5">
                  <c:v>Data
Analysis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58</c:v>
                </c:pt>
                <c:pt idx="1">
                  <c:v>54</c:v>
                </c:pt>
                <c:pt idx="2">
                  <c:v>45</c:v>
                </c:pt>
                <c:pt idx="3">
                  <c:v>42</c:v>
                </c:pt>
                <c:pt idx="4">
                  <c:v>38</c:v>
                </c:pt>
                <c:pt idx="5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18-9041-883F-F688705678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70"/>
          <c:min val="0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Adoption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9754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Comprehensive Lecture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AI Revolution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Neural Networks to Intelligent Agents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200400" y="347472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389120" y="3474720"/>
            <a:ext cx="5486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AI: History, Technology, and Future Applications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Journey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we'll explore in this lecture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71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Foundations of AI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 and neural networks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1945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Transformer Era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 breakthrough and beyond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8640" y="30632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0175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LLMs Work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2186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and inference explained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37160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0" y="141732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137160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Rise of AI Agents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157276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chatbots to autonomous systems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0" y="21945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0" y="224028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219456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Applications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39572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use cases and adoption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0" y="301752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0" y="3063240"/>
            <a:ext cx="320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83480" y="3017520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and Ethics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3218688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AI is headed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Artificial Intelligence?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1887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Definition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417320"/>
            <a:ext cx="3566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the simulation of human intelligence by machines, enabling them to learn, reason, perceive, and make decisions.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Capabilities: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3657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Learning from data and experience
• Recognizing patterns and making predictions
• Understanding and generating language
• Making autonomous decisions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0" y="10972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 of AI: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463040"/>
            <a:ext cx="45720" cy="5486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709160" y="150876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Narrow AI (ANI)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737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for specific tasks. What we have today.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0" y="2194560"/>
            <a:ext cx="45720" cy="5486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9160" y="224028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AI (AGI)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709160" y="24688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Human-level intelligence. Still theoretical.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2926080"/>
            <a:ext cx="45720" cy="54864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709160" y="2971800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AI (ASI)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320040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Surpasses human intelligence. Hypothetical.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Road to Modern AI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1463040"/>
            <a:ext cx="731520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051560" y="12801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 of AI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7724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Turing Test, Dartmouth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2606040" y="1280160"/>
            <a:ext cx="365760" cy="365760"/>
          </a:xfrm>
          <a:prstGeom prst="ellipse">
            <a:avLst/>
          </a:prstGeom>
          <a:solidFill>
            <a:srgbClr val="2D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6888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33172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Systems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Rule-based AI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160520" y="1280160"/>
            <a:ext cx="365760" cy="365760"/>
          </a:xfrm>
          <a:prstGeom prst="ellipse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388620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886200" y="198181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Statistical methods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5715000" y="12801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57784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44068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40680" y="201168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ImageNet, AlphaGo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7269480" y="1280160"/>
            <a:ext cx="365760" cy="36576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7132320" y="13258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20s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995160" y="173736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LLM Era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995160" y="192024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GPT, ChatGPT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548640" y="24688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0080" y="2514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Dartmouth Conference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term 'AI' is coined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2697480" y="24688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2788920" y="2514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1997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78892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Blue vs Kasparov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78892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defeats chess champion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846320" y="24688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37760" y="2514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AlexNet Revolution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3776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takes over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6995160" y="246888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7086600" y="25146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086600" y="26974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Paper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7086600" y="29260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 for modern LLMs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8640" y="347472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5800" y="35661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Insight: AI has gone through multiple 'winters' of reduced funding, but each revival brought stronger capabilities. The 2017 Transformer architecture triggered the current AI boom.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1: Foundations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Neural Networks: The Building Blocks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networks are computing systems inspired by the human brain. They consist of interconnected nodes (neurons) that process information in layers.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They Learn: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331720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868680" y="23317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Input: Data enters through input layer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2697480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269748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8680" y="26974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Process: Hidden layers transform data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228600" cy="22860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48640" y="306324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68680" y="30632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Final layer produces prediction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429000"/>
            <a:ext cx="228600" cy="22860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48640" y="342900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68680" y="34290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Learn: Weights adjust to reduce errors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1188720"/>
            <a:ext cx="38404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212080" y="155448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5212080" y="201168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212080" y="2468880"/>
            <a:ext cx="320040" cy="32004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120640" y="29260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400800" y="1417320"/>
            <a:ext cx="274320" cy="274320"/>
          </a:xfrm>
          <a:prstGeom prst="ellipse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6400800" y="1783080"/>
            <a:ext cx="274320" cy="274320"/>
          </a:xfrm>
          <a:prstGeom prst="ellipse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400800" y="2148840"/>
            <a:ext cx="274320" cy="274320"/>
          </a:xfrm>
          <a:prstGeom prst="ellipse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400800" y="2514600"/>
            <a:ext cx="274320" cy="274320"/>
          </a:xfrm>
          <a:prstGeom prst="ellipse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263640" y="2926080"/>
            <a:ext cx="548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589520" y="17373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7589520" y="2194560"/>
            <a:ext cx="320040" cy="32004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452360" y="2926080"/>
            <a:ext cx="640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8640" y="420624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Learning = Neural networks with many hidden layers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Transformer 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2017: "Attention Is All You Need"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paper that changed everything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1A1F4E"/>
          </a:solidFill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Before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Previous models (RNNs, LSTMs) processed text sequentially - one word at a time. This was slow and struggled with long-range dependencies.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286000"/>
            <a:ext cx="3840480" cy="914400"/>
          </a:xfrm>
          <a:prstGeom prst="roundRect">
            <a:avLst>
              <a:gd name="adj" fmla="val 10000"/>
            </a:avLst>
          </a:prstGeom>
          <a:solidFill>
            <a:srgbClr val="0E3A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Breakthrough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6060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process all words simultaneously using 'self-attention' - allowing the model to see relationships across the entire input at once.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329184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Mattered: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566160"/>
            <a:ext cx="3657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Massively parallel = much faster training</a:t>
            </a:r>
            <a:endParaRPr lang="en-US" sz="1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Better at understanding context</a:t>
            </a:r>
            <a:endParaRPr lang="en-US" sz="10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Enabled scaling to billions of parameters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474720"/>
            <a:ext cx="3840480" cy="548640"/>
          </a:xfrm>
          <a:prstGeom prst="roundRect">
            <a:avLst>
              <a:gd name="adj" fmla="val 1666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92040" y="356616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architecture is the foundation of GPT, BERT, Claude, and every modern LLM.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Transformer 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2018: GPT and BERT Are Born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8580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OpenAI's GPT-1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325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2018 | 117M parameters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Generative Pre-trained Transformer. Designed to generate text by predicting the next word.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423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Decoder-only architecture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Left-to-right text generation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Autoregressive: predicts next token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Excels at text generation, completion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33756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3410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Became: GPT-2 → GPT-3 → ChatGPT → GPT-4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54880" y="10058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89204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Google's BERT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1325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FFD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2018 | 340M parameters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Bidirectional Encoder. Designed to understand text meaning and context.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2194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Characteristics: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754880" y="242316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Encoder-only architecture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Bidirectional context understanding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Masked language modeling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Excels at classification, Q&amp;A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3337560"/>
            <a:ext cx="3840480" cy="365760"/>
          </a:xfrm>
          <a:prstGeom prst="roundRect">
            <a:avLst>
              <a:gd name="adj" fmla="val 125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34107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Powers: Google Search, sentiment analysis, NER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4864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lineage dominates today's LLMs, but BERT-style models power many search and classification tasks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Transformer 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2020: GPT-3 Changes the Game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0E3A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175B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Parameters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560320" y="109728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4A251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5603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117x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60320" y="160020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than GPT-2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057400"/>
            <a:ext cx="3840480" cy="82296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8580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BREAKTHROUGH: Few-Shot Learning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85800" y="237744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could perform new tasks with just a few examples in the prompt - no fine-tuning required.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0175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Capabilities: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324612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Write code from natural language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Answer questions with reasoning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Translate between languages</a:t>
            </a:r>
            <a:endParaRPr lang="en-US" sz="9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Summarize complex topics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754880" y="109728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Impact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417320"/>
            <a:ext cx="36576" cy="50292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92040" y="14630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Access Model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92040" y="16733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offered GPT-3 as a paid API, creating a new business model.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92040" y="21488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Laws Confirmed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892040" y="23591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showed predictable relationship between compute and performance.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2788920"/>
            <a:ext cx="36576" cy="50292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8346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Arms Race Begins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0449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Google, Meta, Anthropic accelerated LLM development.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52044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611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 proved that scale could unlock general-purpose language intelligence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2: The Transformer Era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LLM Evolution: 2017-2025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325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Attention Is All You Need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97480" y="91440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2D35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88920" y="9601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88920" y="1115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GPT-1 + BERT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788920" y="1325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approaches emerge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37760" y="9601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937760" y="1115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937760" y="1325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1.5B params, scaling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95160" y="91440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086600" y="96012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086600" y="111556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086600" y="13258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175B, few-shot learning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16916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17373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40080" y="18928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DALL-E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40080" y="2103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Generation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697480" y="16916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88920" y="17373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2788920" y="18928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788920" y="2103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AI revolution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846320" y="16916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937760" y="17373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4937760" y="18928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GPT-4, Claude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2103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Multimodal, reasoning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995160" y="1691640"/>
            <a:ext cx="2011680" cy="685800"/>
          </a:xfrm>
          <a:prstGeom prst="roundRect">
            <a:avLst>
              <a:gd name="adj" fmla="val 6667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086600" y="1737360"/>
            <a:ext cx="182880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2024-25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7086600" y="1892808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086600" y="210312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systems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8640" y="25603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64008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4008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 series, ChatGPT, DALL-E, o1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2697480" y="25603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78892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ANTHROPIC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278892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series, Constitutional AI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846320" y="25603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93776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93776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PaLM, Gemini, 1M+ context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995160" y="25603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086600" y="26060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7086600" y="27889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LLaMA, Mistral, Mixtral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548640" y="333756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685800" y="34290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Trend: From research curiosity (2017) to world-changing technology (2022) in just 5 years. Now AI agents extend LLMs to autonomous action.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3: How LLMs Work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Training: How LLMs Learn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097280"/>
            <a:ext cx="274320" cy="27432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05840" y="1097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Pre-training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language patterns from massive text data.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182880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31520" y="1874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Trillions of tokens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383280" y="1005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74720" y="1097280"/>
            <a:ext cx="274320" cy="274320"/>
          </a:xfrm>
          <a:prstGeom prst="ellipse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74720" y="11155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840480" y="1097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Fine-tuning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47472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 on curated examples and instructions.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474720" y="182880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566160" y="1874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Millions of examples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217920" y="1005840"/>
            <a:ext cx="26517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1097280"/>
            <a:ext cx="274320" cy="274320"/>
          </a:xfrm>
          <a:prstGeom prst="ellipse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115568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675120" y="1097280"/>
            <a:ext cx="21031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RLHF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41732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 human preferences for helpfulness and safety.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309360" y="1828800"/>
            <a:ext cx="2468880" cy="274320"/>
          </a:xfrm>
          <a:prstGeom prst="roundRect">
            <a:avLst>
              <a:gd name="adj" fmla="val 16667"/>
            </a:avLst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400800" y="1874520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Scale: Thousands of comparisons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8640" y="2377440"/>
            <a:ext cx="8046720" cy="82296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85800" y="246888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Core Idea: Next Token Prediction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286000" y="269748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"The quick brown" → fox   (Predicted)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5800" y="2971800"/>
            <a:ext cx="7772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predicting billions of 'next words,' the model learns grammar, facts, reasoning patterns, and more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38328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429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Cost: GPT-4 estimated at $100M+ to train. Requires thousands of GPUs running for months.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572000" y="3383280"/>
            <a:ext cx="3657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09160" y="34290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RLHF Matters: Pre-training creates a 'next-word predictor.' RLHF transforms it into a helpful assistant.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402336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November 2022: ChatGPT Launches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0E3A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1M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5 days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0320" y="1280160"/>
            <a:ext cx="1828800" cy="777240"/>
          </a:xfrm>
          <a:prstGeom prst="roundRect">
            <a:avLst>
              <a:gd name="adj" fmla="val 11765"/>
            </a:avLst>
          </a:prstGeom>
          <a:solidFill>
            <a:srgbClr val="4A251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560320" y="137160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100M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in 2 months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19456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1A1F4E"/>
          </a:solidFill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286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FASTEST GROWING APP IN HISTORY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TikTok: 9 months to 100M. Instagram: 2.5 years.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297180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Made It Different: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200400"/>
            <a:ext cx="3657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Conversational: Natural dialogue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RLHF: Trained to be helpful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Free access: Anyone could try</a:t>
            </a:r>
            <a:endParaRPr lang="en-US" sz="9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Versatile: Code, write, explain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Impact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36576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645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Google 'Code Red'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92040" y="185623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 emergency, rushed Bard launch.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54880" y="2240280"/>
            <a:ext cx="36576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892040" y="22860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Microsoft's $10B Bet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4963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OpenAI partnership, integrated everywhere.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880360"/>
            <a:ext cx="36576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92040" y="29260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AI Race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92040" y="313639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tech giant accelerated AI plans.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611880"/>
            <a:ext cx="3840480" cy="411480"/>
          </a:xfrm>
          <a:prstGeom prst="roundRect">
            <a:avLst>
              <a:gd name="adj" fmla="val 22222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892040" y="3703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ChatGPT proved AI could be useful for everyone, not just researchers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The Rise of AI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Chatbots to Agents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evolution of AI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1A1F4E"/>
          </a:solidFill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37160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 (2022-2023)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002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Responds to prompts. Human drives all actions. Limited to text.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286000" y="193852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1A1F4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85800" y="21945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ASSISTANT WITH TOOLS (2023-2024)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85800" y="2423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search web, run code, access files. Still needs human oversight.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0" y="2761488"/>
            <a:ext cx="27432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2926080"/>
            <a:ext cx="3840480" cy="640080"/>
          </a:xfrm>
          <a:prstGeom prst="roundRect">
            <a:avLst>
              <a:gd name="adj" fmla="val 14286"/>
            </a:avLst>
          </a:prstGeom>
          <a:solidFill>
            <a:srgbClr val="1A1F4E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85800" y="3017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(2024-2025)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85800" y="32461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Plans and executes multi-step tasks autonomously. Uses tools, handles errors.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754880" y="12801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Shift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16002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1A1F4E"/>
          </a:solidFill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892040" y="169164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CHATBOT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892040" y="1874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Human: "What's the weather?"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"I can't check weather."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Human: *googles it*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720840" y="1691640"/>
            <a:ext cx="1737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720840" y="187452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Human: "What's the weather?"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*searches weather API*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"72°F and sunny"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54880" y="2743200"/>
            <a:ext cx="36576" cy="50292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92040" y="27889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Difference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92040" y="30175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don't just respond - they take action. They can browse, code, email, and execute tasks in the real world.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54880" y="3383280"/>
            <a:ext cx="3840480" cy="457200"/>
          </a:xfrm>
          <a:prstGeom prst="roundRect">
            <a:avLst>
              <a:gd name="adj" fmla="val 20000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92040" y="34747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Now? LLMs got good enough at reasoning to be trusted with multi-step execution.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The Rise of AI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Makes an AI Agent?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Components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234440"/>
            <a:ext cx="45720" cy="4572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LLM Brain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14904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reasoning engine that understands tasks and decides actions.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1828800"/>
            <a:ext cx="45720" cy="4572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187452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Tools / Actions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85800" y="20848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search, code execution, API calls, browser control.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45720" cy="45720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46888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Memory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679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Short-term context and long-term stored knowledge.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17520"/>
            <a:ext cx="45720" cy="45720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85800" y="30632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Planning &amp; Orchestration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85800" y="327355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to break goals into steps and handle errors.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54880" y="96012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Agent Loop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234440"/>
            <a:ext cx="384048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577840" y="141732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577840" y="146304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/ Task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76479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577840" y="192024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5577840" y="1965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Think: Plan next step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92240" y="226771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577840" y="242316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577840" y="246888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Act: Use a tool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92240" y="2770632"/>
            <a:ext cx="3657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577840" y="2926080"/>
            <a:ext cx="2194560" cy="320040"/>
          </a:xfrm>
          <a:prstGeom prst="roundRect">
            <a:avLst>
              <a:gd name="adj" fmla="val 14286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577840" y="297180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Observe: Get result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937760" y="3520440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Done? No → Loop | Yes → Return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4: The Rise of AI Agents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Enterprise Agent Adoption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005840"/>
            <a:ext cx="2560320" cy="82296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1430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155448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scaling or experimenting with AI agents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920240"/>
            <a:ext cx="1188720" cy="640080"/>
          </a:xfrm>
          <a:prstGeom prst="roundRect">
            <a:avLst>
              <a:gd name="adj" fmla="val 7143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2304288"/>
            <a:ext cx="11887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Actively Scaling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874520" y="1920240"/>
            <a:ext cx="1234440" cy="640080"/>
          </a:xfrm>
          <a:prstGeom prst="roundRect">
            <a:avLst>
              <a:gd name="adj" fmla="val 7143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874520" y="2011680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874520" y="2304288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Experimenting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548640" y="2697480"/>
            <a:ext cx="2560320" cy="777240"/>
          </a:xfrm>
          <a:prstGeom prst="roundRect">
            <a:avLst>
              <a:gd name="adj" fmla="val 5882"/>
            </a:avLst>
          </a:prstGeom>
          <a:solidFill>
            <a:srgbClr val="F8FAFC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0080" y="2743200"/>
            <a:ext cx="2377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Projected by 2028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297180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33% of enterprise software will include agents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15% of work decisions made autonomously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" y="3566160"/>
            <a:ext cx="2560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McKinsey, Gartner</a:t>
            </a:r>
            <a:endParaRPr lang="en-US" sz="700" dirty="0"/>
          </a:p>
        </p:txBody>
      </p:sp>
      <p:sp>
        <p:nvSpPr>
          <p:cNvPr id="18" name="Text 16"/>
          <p:cNvSpPr/>
          <p:nvPr/>
        </p:nvSpPr>
        <p:spPr>
          <a:xfrm>
            <a:off x="3383280" y="1005840"/>
            <a:ext cx="5212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AI Agent Use Cases (% of adopters)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1622479301"/>
              </p:ext>
            </p:extLst>
          </p:nvPr>
        </p:nvGraphicFramePr>
        <p:xfrm>
          <a:off x="3383280" y="1234440"/>
          <a:ext cx="5212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Real-World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in the Enterprise Today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1325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regularly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697480" y="9601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69748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97480" y="1325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U.S. use GenAI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846320" y="9601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171%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846320" y="1325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ROI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995160" y="960120"/>
            <a:ext cx="2011680" cy="594360"/>
          </a:xfrm>
          <a:prstGeom prst="roundRect">
            <a:avLst>
              <a:gd name="adj" fmla="val 7692"/>
            </a:avLst>
          </a:prstGeom>
          <a:solidFill>
            <a:srgbClr val="64748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995160" y="1005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95160" y="1325880"/>
            <a:ext cx="20116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GenAI (2x YoY)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169164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4008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&amp; Engineering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4008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Code generation and review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IT help desk automation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Security threat detection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97480" y="169164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8892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Sales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8892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creation at scale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Personalized outreach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Lead scoring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846320" y="169164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3776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Operations &amp; HR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93776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Document processing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Recruitment screening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Process automation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995160" y="1691640"/>
            <a:ext cx="2011680" cy="123444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7086600" y="173736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Service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86600" y="1965960"/>
            <a:ext cx="1828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24/7 chatbot support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Ticket routing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Sentiment analysis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8640" y="306324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85800" y="31546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Challenge: 74% of organizations still struggle to scale AI beyond pilots. Success requires clear use cases, data quality, and change management.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8640" y="3566160"/>
            <a:ext cx="7315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McKinsey State of AI 2025, Bain, Deloitte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5: Real-World Applications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 Applications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960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Healthcare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hospital adoption by 2025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548640" y="150876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40080" y="1600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4008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analyzes medical images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1488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Docs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Auto-generates notes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40080" y="2697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Drug Discovery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designs drug candidates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383280" y="91440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474720" y="960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Finance &amp; Insurance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74720" y="1188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325% YoY insurance growth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383280" y="150876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474720" y="1600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Detection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7472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monitoring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474720" y="21488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Assessment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47472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Underwriting automation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3474720" y="2697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Claims Processing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47472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Auto-extract and verify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17920" y="914400"/>
            <a:ext cx="2651760" cy="502920"/>
          </a:xfrm>
          <a:prstGeom prst="roundRect">
            <a:avLst>
              <a:gd name="adj" fmla="val 9091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309360" y="960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09360" y="118872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GenAI doubled: 14% to 26%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1508760"/>
            <a:ext cx="2651760" cy="18288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16002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Contract Analysis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309360" y="178308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thousands of contracts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6309360" y="21488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Research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309360" y="23317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case law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309360" y="269748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 Drafting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309360" y="28803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first drafts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48640" y="356616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augments professionals rather than replacing them - humans remain in the loop for critical decisions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6: Future and Ethics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02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AI Is Headed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Near-Term (2025-2027)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0E3A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85800" y="1444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Ubiquitous AI Assistants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85800" y="16276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integrated into every app. Personal assistants that know your context.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0E3A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85800" y="2039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" y="22219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Industry-specific AI: legal, medical, financial analysis, scientific discovery.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548640" y="25603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0E3A5E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85800" y="2633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Multimodal by Default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85800" y="28163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AI handles text, images, audio, video. Voice-first interfaces.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754880" y="1051560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Medium-Term (2027-2030+)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754880" y="137160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4A251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92040" y="144475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Agent Teams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92040" y="162763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AI agents collaborating on complex projects.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754880" y="196596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4A251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03911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Breakthroughs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222199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drug discovery, materials science, climate solutions.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2560320"/>
            <a:ext cx="3840480" cy="502920"/>
          </a:xfrm>
          <a:prstGeom prst="roundRect">
            <a:avLst>
              <a:gd name="adj" fmla="val 18182"/>
            </a:avLst>
          </a:prstGeom>
          <a:solidFill>
            <a:srgbClr val="4A2510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892040" y="2633472"/>
            <a:ext cx="3657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AGI Horizon?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816352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Debate continues. Significant uncertainty about timeline remains.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48640" y="3337560"/>
            <a:ext cx="8046720" cy="457200"/>
          </a:xfrm>
          <a:prstGeom prst="roundRect">
            <a:avLst>
              <a:gd name="adj" fmla="val 20000"/>
            </a:avLst>
          </a:prstGeom>
          <a:solidFill>
            <a:srgbClr val="1A1F4E"/>
          </a:solidFill>
          <a:ln w="127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85800" y="34290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0C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Uncertainty: Rate of progress is hard to predict. Could accelerate or plateau. Either way, current AI is already transformative.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6: Future and Ethics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Ethical Considerations and Risks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48640" y="914400"/>
            <a:ext cx="201168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Bias and Fairness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perpetuate biases in training data.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697480" y="914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697480" y="914400"/>
            <a:ext cx="201168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78892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Misinformation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8892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generates convincing fake content at scale.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846320" y="914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846320" y="914400"/>
            <a:ext cx="201168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93776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93776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Concerns about data collection and consent.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6995160" y="914400"/>
            <a:ext cx="2011680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995160" y="914400"/>
            <a:ext cx="201168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086600" y="100584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 Displacement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086600" y="12344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 of knowledge work.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48640" y="1783080"/>
            <a:ext cx="2651760" cy="1097280"/>
          </a:xfrm>
          <a:prstGeom prst="roundRect">
            <a:avLst>
              <a:gd name="adj" fmla="val 4167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Industry Responses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40080" y="2057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Constitutional AI (Anthropic)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Red teaming and safety testing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Content watermarking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1783080"/>
            <a:ext cx="2651760" cy="1097280"/>
          </a:xfrm>
          <a:prstGeom prst="roundRect">
            <a:avLst>
              <a:gd name="adj" fmla="val 4167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474720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Regulatory Landscape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474720" y="2057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EU AI Act (2024)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US Executive Orders</a:t>
            </a:r>
            <a:endParaRPr lang="en-US" sz="8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Global AI safety summits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217920" y="1783080"/>
            <a:ext cx="2651760" cy="1097280"/>
          </a:xfrm>
          <a:prstGeom prst="roundRect">
            <a:avLst>
              <a:gd name="adj" fmla="val 4167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309360" y="182880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Practices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Text 27"/>
          <p:cNvSpPr/>
          <p:nvPr/>
        </p:nvSpPr>
        <p:spPr>
          <a:xfrm>
            <a:off x="6309360" y="205740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Human-in-the-loop</a:t>
            </a:r>
            <a:endParaRPr lang="en-US" sz="800" dirty="0">
              <a:solidFill>
                <a:schemeClr val="bg1"/>
              </a:solidFill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Transparency about AI use</a:t>
            </a:r>
            <a:endParaRPr lang="en-US" sz="800" dirty="0">
              <a:solidFill>
                <a:schemeClr val="bg1"/>
              </a:solidFill>
            </a:endParaRPr>
          </a:p>
          <a:p>
            <a:pPr marL="0" indent="0">
              <a:lnSpc>
                <a:spcPts val="1400"/>
              </a:lnSpc>
              <a:buNone/>
            </a:pPr>
            <a:r>
              <a:rPr lang="en-US" sz="8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Regular bias audits</a:t>
            </a:r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3017520"/>
            <a:ext cx="8046720" cy="411480"/>
          </a:xfrm>
          <a:prstGeom prst="roundRect">
            <a:avLst>
              <a:gd name="adj" fmla="val 11111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85800" y="31089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Balance: AI offers enormous benefits but requires thoughtful deployment. Success comes from embracing the technology while actively managing risks.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F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96012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0515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0698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1463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Transformers Changed Everything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2017 architecture enabled scale by processing text in parallel.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383280" y="96012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474720" y="1051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474720" y="10698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 Unlocks Capabilities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47472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models gain new abilities. GPT-3's few-shot learning was emergent.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17920" y="960120"/>
            <a:ext cx="2651760" cy="1051560"/>
          </a:xfrm>
          <a:prstGeom prst="roundRect">
            <a:avLst>
              <a:gd name="adj" fmla="val 4348"/>
            </a:avLst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309360" y="1051560"/>
            <a:ext cx="365760" cy="36576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309360" y="1069848"/>
            <a:ext cx="365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09360" y="1463040"/>
            <a:ext cx="24688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the Next Frontier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309360" y="1691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E0E0E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evolving from answering to taking actions with tools.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214884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48640" y="2148840"/>
            <a:ext cx="45720" cy="77724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4008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Enterprise Adoption Is Here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88% of enterprises use AI. It's operational, not experimental.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383280" y="214884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383280" y="2148840"/>
            <a:ext cx="45720" cy="777240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47472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AI Augments, Not Replaces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47472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Humans handle judgment; AI handles routine work.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217920" y="2148840"/>
            <a:ext cx="265176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17920" y="2148840"/>
            <a:ext cx="45720" cy="777240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09360" y="219456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F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Responsible Development Matters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46888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Powerful AI requires thoughtful governance.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548640" y="3063240"/>
            <a:ext cx="8046720" cy="457200"/>
          </a:xfrm>
          <a:prstGeom prst="roundRect">
            <a:avLst>
              <a:gd name="adj" fmla="val 10000"/>
            </a:avLst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85800" y="315468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Line: We're in the early days of a major technological shift. Understanding AI is now essential for every professional.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1F4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274320"/>
            <a:ext cx="1371600" cy="1371600"/>
          </a:xfrm>
          <a:prstGeom prst="ellipse">
            <a:avLst/>
          </a:prstGeom>
          <a:noFill/>
          <a:ln w="25400">
            <a:solidFill>
              <a:srgbClr val="3A3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315200" y="731520"/>
            <a:ext cx="640080" cy="640080"/>
          </a:xfrm>
          <a:prstGeom prst="ellipse">
            <a:avLst/>
          </a:prstGeom>
          <a:solidFill>
            <a:srgbClr val="4A251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645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3200400" y="2926080"/>
            <a:ext cx="1097280" cy="36576"/>
          </a:xfrm>
          <a:prstGeom prst="rect">
            <a:avLst/>
          </a:prstGeom>
          <a:solidFill>
            <a:srgbClr val="0EA5E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389120" y="2926080"/>
            <a:ext cx="548640" cy="36576"/>
          </a:xfrm>
          <a:prstGeom prst="rect">
            <a:avLst/>
          </a:prstGeom>
          <a:solidFill>
            <a:srgbClr val="F9731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029200" y="2926080"/>
            <a:ext cx="274320" cy="36576"/>
          </a:xfrm>
          <a:prstGeom prst="rect">
            <a:avLst/>
          </a:prstGeom>
          <a:solidFill>
            <a:srgbClr val="5050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37160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discuss what you've learned and explore how AI might apply to your work and interests.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7200" y="42062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06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for attending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5DCEA636F3D7E49AD3CB7BA3623E499" ma:contentTypeVersion="13" ma:contentTypeDescription="Create a new document." ma:contentTypeScope="" ma:versionID="2a56460826b29a2344e1388a3ade8db5">
  <xsd:schema xmlns:xsd="http://www.w3.org/2001/XMLSchema" xmlns:xs="http://www.w3.org/2001/XMLSchema" xmlns:p="http://schemas.microsoft.com/office/2006/metadata/properties" xmlns:ns2="e9b3909a-ece7-4624-98c3-858feed7b431" xmlns:ns3="e509c658-ef78-4f3b-a15c-5c57f14fce97" targetNamespace="http://schemas.microsoft.com/office/2006/metadata/properties" ma:root="true" ma:fieldsID="25f0c691446c3b43a88c32f09ad732f4" ns2:_="" ns3:_="">
    <xsd:import namespace="e9b3909a-ece7-4624-98c3-858feed7b431"/>
    <xsd:import namespace="e509c658-ef78-4f3b-a15c-5c57f14fce9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AvaKhadk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b3909a-ece7-4624-98c3-858feed7b4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b78d1e77-3948-40fa-b09c-2ceedfd4b76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AvaKhadka" ma:index="20" nillable="true" ma:displayName="Ava Khadka" ma:format="Dropdown" ma:internalName="AvaKhadka">
      <xsd:simpleType>
        <xsd:restriction base="dms:Text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09c658-ef78-4f3b-a15c-5c57f14fce97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32fc7607-e804-4841-98ba-8c4d026122e0}" ma:internalName="TaxCatchAll" ma:showField="CatchAllData" ma:web="e509c658-ef78-4f3b-a15c-5c57f14fce9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9b3909a-ece7-4624-98c3-858feed7b431">
      <Terms xmlns="http://schemas.microsoft.com/office/infopath/2007/PartnerControls"/>
    </lcf76f155ced4ddcb4097134ff3c332f>
    <AvaKhadka xmlns="e9b3909a-ece7-4624-98c3-858feed7b431" xsi:nil="true"/>
    <TaxCatchAll xmlns="e509c658-ef78-4f3b-a15c-5c57f14fce97" xsi:nil="true"/>
  </documentManagement>
</p:properties>
</file>

<file path=customXml/itemProps1.xml><?xml version="1.0" encoding="utf-8"?>
<ds:datastoreItem xmlns:ds="http://schemas.openxmlformats.org/officeDocument/2006/customXml" ds:itemID="{47507414-6310-42CF-8BD3-C7296FFB6D4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9b3909a-ece7-4624-98c3-858feed7b431"/>
    <ds:schemaRef ds:uri="e509c658-ef78-4f3b-a15c-5c57f14fce9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7825E4D-7014-4815-8C0B-6393799A3D5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C28FB5-1974-4AF3-916A-02AE9623F55B}">
  <ds:schemaRefs>
    <ds:schemaRef ds:uri="http://schemas.microsoft.com/office/2006/documentManagement/types"/>
    <ds:schemaRef ds:uri="http://www.w3.org/XML/1998/namespace"/>
    <ds:schemaRef ds:uri="e98a1c73-542a-44ad-a959-5024c20652be"/>
    <ds:schemaRef ds:uri="http://purl.org/dc/dcmitype/"/>
    <ds:schemaRef ds:uri="http://schemas.microsoft.com/office/infopath/2007/PartnerControl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7afbaf46-765d-4674-b098-e40618a8a699"/>
    <ds:schemaRef ds:uri="http://purl.org/dc/terms/"/>
    <ds:schemaRef ds:uri="e9b3909a-ece7-4624-98c3-858feed7b431"/>
    <ds:schemaRef ds:uri="e509c658-ef78-4f3b-a15c-5c57f14fce9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2041</Words>
  <Application>Microsoft Office PowerPoint</Application>
  <PresentationFormat>On-screen Show (16:9)</PresentationFormat>
  <Paragraphs>406</Paragraphs>
  <Slides>20</Slides>
  <Notes>20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AI Revolution: From Neural Networks to Intelligent Agents</dc:title>
  <dc:subject>Comprehensive AI Lecture</dc:subject>
  <dc:creator>AI Lecture</dc:creator>
  <cp:lastModifiedBy>Thapa, Sanskar</cp:lastModifiedBy>
  <cp:revision>13</cp:revision>
  <dcterms:created xsi:type="dcterms:W3CDTF">2026-01-18T14:43:55Z</dcterms:created>
  <dcterms:modified xsi:type="dcterms:W3CDTF">2026-04-09T01:57:53Z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0x010100A5DCEA636F3D7E49AD3CB7BA3623E499</vt:lpwstr>
  </property>
  <property fmtid="{D5CDD505-2E9C-101B-9397-08002B2CF9AE}" pid="3" name="MediaServiceImageTags">
    <vt:lpwstr/>
  </property>
</Properties>
</file>