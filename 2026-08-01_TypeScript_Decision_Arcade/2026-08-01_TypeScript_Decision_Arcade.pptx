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8ebd1a584f4d36" /><Relationship Type="http://schemas.openxmlformats.org/officeDocument/2006/relationships/extended-properties" Target="/docProps/app.xml" Id="R72384e17857f43ad" /><Relationship Type="http://schemas.openxmlformats.org/officeDocument/2006/relationships/officeDocument" Target="/ppt/presentation.xml" Id="Rc9ffd6175dfa45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32ddd23f6a6471b"/>
  </p:sldMasterIdLst>
  <p:notesMasterIdLst>
    <p:notesMasterId xmlns:r="http://schemas.openxmlformats.org/officeDocument/2006/relationships" r:id="R3ab80d68efc047fa"/>
  </p:notesMasterIdLst>
  <p:sldIdLst>
    <p:sldId xmlns:r="http://schemas.openxmlformats.org/officeDocument/2006/relationships" id="256" r:id="Rd68cc74609f9492f"/>
    <p:sldId xmlns:r="http://schemas.openxmlformats.org/officeDocument/2006/relationships" id="257" r:id="R550d916ae3c74795"/>
    <p:sldId xmlns:r="http://schemas.openxmlformats.org/officeDocument/2006/relationships" id="258" r:id="R6dabecd381fe44df"/>
    <p:sldId xmlns:r="http://schemas.openxmlformats.org/officeDocument/2006/relationships" id="259" r:id="Rb1cf4cf13d2240b5"/>
    <p:sldId xmlns:r="http://schemas.openxmlformats.org/officeDocument/2006/relationships" id="260" r:id="R3193614e41e34dfd"/>
    <p:sldId xmlns:r="http://schemas.openxmlformats.org/officeDocument/2006/relationships" id="261" r:id="R3f44be5092ec4f9f"/>
    <p:sldId xmlns:r="http://schemas.openxmlformats.org/officeDocument/2006/relationships" id="262" r:id="Rb2e3f745084a4070"/>
    <p:sldId xmlns:r="http://schemas.openxmlformats.org/officeDocument/2006/relationships" id="263" r:id="R489dce7491e84a55"/>
  </p:sldIdLst>
  <p:sldSz cx="12188952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e41a52f00c4f90" /><Relationship Type="http://schemas.openxmlformats.org/officeDocument/2006/relationships/slideMaster" Target="/ppt/slideMasters/slideMaster1.xml" Id="R232ddd23f6a6471b" /><Relationship Type="http://schemas.openxmlformats.org/officeDocument/2006/relationships/notesMaster" Target="/ppt/notesMasters/notesMaster1.xml" Id="R3ab80d68efc047fa" /><Relationship Type="http://schemas.openxmlformats.org/officeDocument/2006/relationships/presProps" Target="/ppt/presProps.xml" Id="Raccf5820160c4a50" /><Relationship Type="http://schemas.openxmlformats.org/officeDocument/2006/relationships/viewProps" Target="/ppt/viewProps.xml" Id="R0667dd48eef841a2" /><Relationship Type="http://schemas.openxmlformats.org/officeDocument/2006/relationships/tableStyles" Target="/ppt/tableStyles.xml" Id="R89dc4d8a3aa04fff" /><Relationship Type="http://schemas.openxmlformats.org/officeDocument/2006/relationships/slide" Target="/ppt/slides/slide1.xml" Id="Rd68cc74609f9492f" /><Relationship Type="http://schemas.openxmlformats.org/officeDocument/2006/relationships/slide" Target="/ppt/slides/slide2.xml" Id="R550d916ae3c74795" /><Relationship Type="http://schemas.openxmlformats.org/officeDocument/2006/relationships/slide" Target="/ppt/slides/slide3.xml" Id="R6dabecd381fe44df" /><Relationship Type="http://schemas.openxmlformats.org/officeDocument/2006/relationships/slide" Target="/ppt/slides/slide4.xml" Id="Rb1cf4cf13d2240b5" /><Relationship Type="http://schemas.openxmlformats.org/officeDocument/2006/relationships/slide" Target="/ppt/slides/slide5.xml" Id="R3193614e41e34dfd" /><Relationship Type="http://schemas.openxmlformats.org/officeDocument/2006/relationships/slide" Target="/ppt/slides/slide6.xml" Id="R3f44be5092ec4f9f" /><Relationship Type="http://schemas.openxmlformats.org/officeDocument/2006/relationships/slide" Target="/ppt/slides/slide7.xml" Id="Rb2e3f745084a4070" /><Relationship Type="http://schemas.openxmlformats.org/officeDocument/2006/relationships/slide" Target="/ppt/slides/slide8.xml" Id="R489dce7491e84a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b10444705541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de8dbec0f740d9" /><Relationship Type="http://schemas.openxmlformats.org/officeDocument/2006/relationships/notesMaster" Target="/ppt/notesMasters/notesMaster1.xml" Id="R2fdbe99992bc4c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3d66e98d2d4c9f" /><Relationship Type="http://schemas.openxmlformats.org/officeDocument/2006/relationships/notesMaster" Target="/ppt/notesMasters/notesMaster1.xml" Id="Rf9d070f2475248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3353da8d814b19" /><Relationship Type="http://schemas.openxmlformats.org/officeDocument/2006/relationships/notesMaster" Target="/ppt/notesMasters/notesMaster1.xml" Id="Rdde82c2ba6d74a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d1ee2bc2434b8e" /><Relationship Type="http://schemas.openxmlformats.org/officeDocument/2006/relationships/notesMaster" Target="/ppt/notesMasters/notesMaster1.xml" Id="R2bbb15e4fbe347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1b9c255e4f4dbb" /><Relationship Type="http://schemas.openxmlformats.org/officeDocument/2006/relationships/notesMaster" Target="/ppt/notesMasters/notesMaster1.xml" Id="R5380a2e9d0884d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bc7acb8be6407d" /><Relationship Type="http://schemas.openxmlformats.org/officeDocument/2006/relationships/notesMaster" Target="/ppt/notesMasters/notesMaster1.xml" Id="R8c9c2d1b2f0d42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6b4282a2914ecf" /><Relationship Type="http://schemas.openxmlformats.org/officeDocument/2006/relationships/notesMaster" Target="/ppt/notesMasters/notesMaster1.xml" Id="Rc22f2ee94fb242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b55bd9b34c44a9" /><Relationship Type="http://schemas.openxmlformats.org/officeDocument/2006/relationships/notesMaster" Target="/ppt/notesMasters/notesMaster1.xml" Id="R0331c63d81074d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topic only. Tell students that the slide deck explains the decision ladder, and all typing and testing will happen afterward through the class activity.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the mental model before showing syntax. A connected decision ladder begins at the top, moves only after false, and selects one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https://www.typescriptlang.org/docs/handbook/2/narrowing.html#control-flow-analysis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this to the familiar if/else pair. Else if does not start a separate decision; it adds another question inside the same ladder.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https://www.typescriptlang.org/docs/handbook/2/narrowing.html#control-flow-analysis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out the repeated structure: condition in parentheses, braces around each branch, and one final else without a condition. Do not live-code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https://www.typescriptlang.org/docs/handbook/2/narrowing.html#control-flow-analysis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 the example once as an explanation. Emphasize that the computer stops after the first true branch, even if a lower condition would also be true.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https://www.typescriptlang.org/docs/handbook/2/narrowing.html#control-flow-analysis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AI connection: code can have valid syntax and still contain incorrect logic. Humans must compare the condition order with the written rules and test the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https://www.typescriptlang.org/docs/handbook/2/narrowing.html#control-flow-analysis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boundary testing as a concept. Exact edges and the values immediately below them are especially useful because they show whether &gt;= and the threshold order match the intended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https://www.typescriptlang.org/docs/handbook/2/narrowing.html#control-flow-analysis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the slide portion here. Open the TypeScript Playground and use the class activity for every recap, guided exercise, test, and discussion.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https://www.typescriptlang.org/play/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9fbda433f2439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55d14444294af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8828acb80348e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2d6287550443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ffb1230fa0432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79996e88e4ab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2141722afa414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62af23ce93468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e9256ec7d04fe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2ffdd9f26c497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e32a68cd264dc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0871DD-00CF-4B09-AF0F-6408793CD4E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0229958-28C4-4984-9A74-098C977DDBD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C32F6F-1256-498B-884B-9BEC6192ED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6FF955-9B55-40C6-B788-DB9DA3EAB4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E0A26AE-8D14-4C67-8D99-0477DBE8E6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568D9-3436-4964-99B0-BD9070A3CE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8530C19-9078-4D55-AF1D-C061EE0DCCC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DC91A4-FDFD-40BD-B12A-92A57FE3E5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9FCCE35-4586-4CC4-856A-77131DA04E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C4D621-5B18-4593-870C-FD74FD5BA6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95BDE4-4E07-4824-A18F-F7246F7F0C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5F1C66-5FC6-4270-8360-EF4F524505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F05F6EB-156D-4302-9A24-94DBEEB85A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61E7FA3-8978-42B3-A3FE-33CEAA26A6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C9CA77C-3B5C-4E03-A8FB-386F2B68452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87E412-B6D2-4747-A360-3DB7904FA4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1B465DA-610F-4673-B208-AD579FE857D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67ADCFA-608A-4896-8554-A0D74C3C211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BF50F9C-B6D0-4992-AD73-BDA066B76E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693EF0-84AE-4D2F-9B55-0C187AC6E0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51E3548-BD55-4FFE-8F4A-747549712A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86CE08-2675-43C6-A1AC-B0DD966CD0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813FCF8-0CD2-4672-9459-F31434B34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ED0168-D50E-48BC-9F56-B5EABBDF976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13264C9-B199-49CD-BC11-A23EA81891B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F0D63A8-DBBC-4927-9AA7-2EE532DA648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79D4C67-3574-4908-BF09-EE4DB165B6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05385C1-FBD3-4EF4-8D55-95A9032925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F47E280-5275-40CB-B26D-6ED9FD571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6970BC-1682-4242-9B6F-44BF40829D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702CDDF-62A0-4EC7-B07F-5EB784B8A2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7F31B2E-48FC-4BB4-BDE4-96B84AE5E3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838F332-9C60-4D19-A758-0B1C12CDDB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D8FE4E8-0B93-466D-8CDE-941397BF36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C3806D4-E0F7-4C8F-9EA6-91E9DF591B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80312D-16A0-447B-BCF1-F376742A42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4773DA-8D94-496F-AF10-9FB5166FA0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2685637-0F98-40AB-8A5C-04FB3E7F680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1D11548-D74E-4AFA-9702-348D645C59E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A536A5B-BB6E-4F54-982B-461FDEFE7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4282929-54D7-4EBB-B555-6639FCB1B2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A3523C7-66DD-40F7-9B1A-44100B3412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637A8C-FEEE-43B4-A547-DDC2CB354F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274AE1B-6FC5-44CD-A3B2-3C305EA41AD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1B6F646-DF2A-4428-9AFF-C617508EA5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37F1C2-6D8F-47A7-ABC5-FCEFFE0CB3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0D737AD-D2E0-422D-970B-31975B13DC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76CDFF-318B-4E8C-B75F-F3776B6262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23D2EB-2345-49BF-8196-F272EB73B4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C7C55CC-0D93-4571-A9E6-D655F78612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0F53AE-334F-4452-A51D-467E0A2B31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F3C43-BE5F-4E6E-9CA7-41FD714D39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FE82FF-D1D2-4ED4-9B80-9FC4E8B702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D0318CA-D9F8-4E2F-A325-F38C06EC1E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6EF0B10-D0DD-4276-8EAD-A1AA2549E6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C625E1A-9CBB-4A14-94F8-7D690C98AF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F40295-9F17-404E-8224-95D96BD9D8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6007BD-B0FA-4FC7-9E3C-EC96721BB5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b7148f17b54c7c" /><Relationship Type="http://schemas.openxmlformats.org/officeDocument/2006/relationships/slideLayout" Target="/ppt/slideLayouts/slideLayout1.xml" Id="R67a7169ba2c146d4" /><Relationship Type="http://schemas.openxmlformats.org/officeDocument/2006/relationships/slideLayout" Target="/ppt/slideLayouts/slideLayout2.xml" Id="R8d6c6e671f9c4fff" /><Relationship Type="http://schemas.openxmlformats.org/officeDocument/2006/relationships/slideLayout" Target="/ppt/slideLayouts/slideLayout3.xml" Id="R28abb57d9b6341c5" /><Relationship Type="http://schemas.openxmlformats.org/officeDocument/2006/relationships/slideLayout" Target="/ppt/slideLayouts/slideLayout4.xml" Id="R9b26478a98e24d06" /><Relationship Type="http://schemas.openxmlformats.org/officeDocument/2006/relationships/slideLayout" Target="/ppt/slideLayouts/slideLayout5.xml" Id="Ra498b39e7555461a" /><Relationship Type="http://schemas.openxmlformats.org/officeDocument/2006/relationships/slideLayout" Target="/ppt/slideLayouts/slideLayout6.xml" Id="Re6e1de27c9be400e" /><Relationship Type="http://schemas.openxmlformats.org/officeDocument/2006/relationships/slideLayout" Target="/ppt/slideLayouts/slideLayout7.xml" Id="R9cb997f675bb4b0a" /><Relationship Type="http://schemas.openxmlformats.org/officeDocument/2006/relationships/slideLayout" Target="/ppt/slideLayouts/slideLayout8.xml" Id="Rc3e7406b445c4262" /><Relationship Type="http://schemas.openxmlformats.org/officeDocument/2006/relationships/slideLayout" Target="/ppt/slideLayouts/slideLayout9.xml" Id="Rf7f835643a5b4104" /><Relationship Type="http://schemas.openxmlformats.org/officeDocument/2006/relationships/slideLayout" Target="/ppt/slideLayouts/slideLayout10.xml" Id="R1e4dad9289f84847" /><Relationship Type="http://schemas.openxmlformats.org/officeDocument/2006/relationships/slideLayout" Target="/ppt/slideLayouts/slideLayout11.xml" Id="Ra22d153d7c584e4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62CC95-0BBF-4632-B193-3EC0A26FD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B7E7C25-1F67-4627-9FA9-41841C51B2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1D032A-1E85-4B8A-A554-8AB517895DF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6E7D579-3775-4F53-8B6B-3FD8B8D71B1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A522654-11E7-45DD-9BA8-76F93DF87B6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a7169ba2c146d4"/>
    <p:sldLayoutId xmlns:r="http://schemas.openxmlformats.org/officeDocument/2006/relationships" id="2147483650" r:id="R8d6c6e671f9c4fff"/>
    <p:sldLayoutId xmlns:r="http://schemas.openxmlformats.org/officeDocument/2006/relationships" id="2147483651" r:id="R28abb57d9b6341c5"/>
    <p:sldLayoutId xmlns:r="http://schemas.openxmlformats.org/officeDocument/2006/relationships" id="2147483652" r:id="R9b26478a98e24d06"/>
    <p:sldLayoutId xmlns:r="http://schemas.openxmlformats.org/officeDocument/2006/relationships" id="2147483653" r:id="Ra498b39e7555461a"/>
    <p:sldLayoutId xmlns:r="http://schemas.openxmlformats.org/officeDocument/2006/relationships" id="2147483654" r:id="Re6e1de27c9be400e"/>
    <p:sldLayoutId xmlns:r="http://schemas.openxmlformats.org/officeDocument/2006/relationships" id="2147483655" r:id="R9cb997f675bb4b0a"/>
    <p:sldLayoutId xmlns:r="http://schemas.openxmlformats.org/officeDocument/2006/relationships" id="2147483656" r:id="Rc3e7406b445c4262"/>
    <p:sldLayoutId xmlns:r="http://schemas.openxmlformats.org/officeDocument/2006/relationships" id="2147483657" r:id="Rf7f835643a5b4104"/>
    <p:sldLayoutId xmlns:r="http://schemas.openxmlformats.org/officeDocument/2006/relationships" id="2147483658" r:id="R1e4dad9289f84847"/>
    <p:sldLayoutId xmlns:r="http://schemas.openxmlformats.org/officeDocument/2006/relationships" id="2147483659" r:id="Ra22d153d7c584e4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a93a5cbd02447b" /><Relationship Type="http://schemas.openxmlformats.org/officeDocument/2006/relationships/notesSlide" Target="/ppt/notesSlides/notesSlide1.xml" Id="R2c0025bb73df4e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6b70e261ebc46ac" /><Relationship Type="http://schemas.openxmlformats.org/officeDocument/2006/relationships/notesSlide" Target="/ppt/notesSlides/notesSlide2.xml" Id="R938c7899271749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dae8e88e7f4d89" /><Relationship Type="http://schemas.openxmlformats.org/officeDocument/2006/relationships/notesSlide" Target="/ppt/notesSlides/notesSlide3.xml" Id="R0bfcb6ccb77648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506b60464c46af" /><Relationship Type="http://schemas.openxmlformats.org/officeDocument/2006/relationships/notesSlide" Target="/ppt/notesSlides/notesSlide4.xml" Id="Ra31749d64ac940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6f95ce6aa14f63" /><Relationship Type="http://schemas.openxmlformats.org/officeDocument/2006/relationships/notesSlide" Target="/ppt/notesSlides/notesSlide5.xml" Id="R2072505e296546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6fae7acd864fdc" /><Relationship Type="http://schemas.openxmlformats.org/officeDocument/2006/relationships/notesSlide" Target="/ppt/notesSlides/notesSlide6.xml" Id="Rf742729ed56948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69566ddf284741" /><Relationship Type="http://schemas.openxmlformats.org/officeDocument/2006/relationships/notesSlide" Target="/ppt/notesSlides/notesSlide7.xml" Id="R96b4cca2578e4d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6b47b27a2c42dc" /><Relationship Type="http://schemas.openxmlformats.org/officeDocument/2006/relationships/notesSlide" Target="/ppt/notesSlides/notesSlide8.xml" Id="Re445fbd4bf1c480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C87973-8537-4447-AA06-CE6A005C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685800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50000">
                <a:srgbClr val="0A1228"/>
              </a:gs>
              <a:gs pos="100000">
                <a:srgbClr val="050A19"/>
              </a:gs>
            </a:gsLst>
            <a:lin ang="1620000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Hexagon 2">
            <a:extLst xmlns:a="http://schemas.openxmlformats.org/drawingml/2006/main">
              <a:ext uri="{FF2B5EF4-FFF2-40B4-BE49-F238E27FC236}">
                <a16:creationId xmlns:a16="http://schemas.microsoft.com/office/drawing/2014/main" id="{E42525D5-41C0-491E-B3B1-3AC12784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74320" y="-274320"/>
            <a:ext cx="1828800" cy="18288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F0FF">
              <a:alpha val="4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Hexagon 3">
            <a:extLst xmlns:a="http://schemas.openxmlformats.org/drawingml/2006/main">
              <a:ext uri="{FF2B5EF4-FFF2-40B4-BE49-F238E27FC236}">
                <a16:creationId xmlns:a16="http://schemas.microsoft.com/office/drawing/2014/main" id="{76FFFE5F-9660-4E05-9378-E180FDB6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303520"/>
            <a:ext cx="2286000" cy="2286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A050FF">
              <a:alpha val="3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Hexagon 4">
            <a:extLst xmlns:a="http://schemas.openxmlformats.org/drawingml/2006/main">
              <a:ext uri="{FF2B5EF4-FFF2-40B4-BE49-F238E27FC236}">
                <a16:creationId xmlns:a16="http://schemas.microsoft.com/office/drawing/2014/main" id="{74CC10C9-3BE4-47EA-908B-2249F39B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-457200"/>
            <a:ext cx="1645920" cy="164592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3C8CFF">
              <a:alpha val="3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Hexagon 5">
            <a:extLst xmlns:a="http://schemas.openxmlformats.org/drawingml/2006/main">
              <a:ext uri="{FF2B5EF4-FFF2-40B4-BE49-F238E27FC236}">
                <a16:creationId xmlns:a16="http://schemas.microsoft.com/office/drawing/2014/main" id="{51FE833D-AA9F-4775-B42F-9AD515C0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943600"/>
            <a:ext cx="914400" cy="9144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FF8C">
              <a:alpha val="25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8FAE6B-F941-499F-BE7F-627AEDE8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74320"/>
            <a:ext cx="731520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76ADA2-B5B1-4AC8-A92B-047ADF2B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74320"/>
            <a:ext cx="27432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849244A-516F-4521-A421-C8E6BC46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3111" y="274320"/>
            <a:ext cx="731520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EB67730-D975-438E-9B57-58701427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274320"/>
            <a:ext cx="27432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5D0C9EF-6C4E-41F7-BE6A-E2F5B92A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556248"/>
            <a:ext cx="731520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47C661-6733-468A-B395-15D26B2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5852160"/>
            <a:ext cx="27432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D9D6573-8709-4959-89AB-52AF3612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3111" y="6556248"/>
            <a:ext cx="731520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E5208E8-4862-467D-993B-F260BDAA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5852160"/>
            <a:ext cx="27432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E72C00D2-9F07-40CA-BDD0-A3B02529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011680"/>
            <a:ext cx="8897112" cy="2377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F0FF">
              <a:alpha val="6000"/>
            </a:srgbClr>
          </a:solidFill>
          <a:ln xmlns:a="http://schemas.openxmlformats.org/drawingml/2006/main" w="19050">
            <a:solidFill>
              <a:srgbClr val="00F0FF"/>
            </a:solidFill>
          </a:ln>
          <a:effectLst xmlns:a="http://schemas.openxmlformats.org/drawingml/2006/main">
            <a:glow rad="76200">
              <a:srgbClr val="00F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76E690A-33AE-48FD-B588-9BB582DB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286000"/>
            <a:ext cx="8897112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TypeScript Decisions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E0863B-B266-439C-A0C5-35A04CAE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291840"/>
            <a:ext cx="88971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if, else if, and else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19784D0B-6519-4F4D-B248-C665EB23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54880"/>
            <a:ext cx="12188952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76200">
              <a:srgbClr val="00F0FF">
                <a:alpha val="3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413BB50-77BD-4A46-9598-4F179B66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120640"/>
            <a:ext cx="88971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788296"/>
                </a:solidFill>
                <a:latin typeface="Segoe UI"/>
                <a:ea typeface="Segoe UI"/>
                <a:cs typeface="Segoe UI"/>
              </a:defRPr>
            </a:pPr>
            <a:r>
              <a:t>August 1, 2026  |  Kids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9415536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B4FB54-2AC3-4C6F-AD95-EEBDA66B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685800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C1224"/>
              </a:gs>
            </a:gsLst>
            <a:lin ang="1620000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8F2113C-C63F-41B0-ABA6-28F7C6E7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118872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F1932"/>
              </a:gs>
            </a:gsLst>
            <a:lin ang="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BB1A7A-5ED5-4ED6-8FCB-A600908F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8720"/>
            <a:ext cx="12188952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76200">
              <a:srgbClr val="00F0FF">
                <a:alpha val="3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8813B59-7084-4B21-BE64-0A97B7D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032"/>
            <a:ext cx="1109167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One ladder can choose one path</a:t>
            </a: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A9F2841E-136A-442F-B62D-23B9E281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72768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F0FF">
              <a:alpha val="20000"/>
            </a:srgbClr>
          </a:solidFill>
          <a:ln xmlns:a="http://schemas.openxmlformats.org/drawingml/2006/main" w="19050">
            <a:solidFill>
              <a:srgbClr val="00F0FF"/>
            </a:solidFill>
          </a:ln>
          <a:effectLst xmlns:a="http://schemas.openxmlformats.org/drawingml/2006/main">
            <a:glow rad="63500">
              <a:srgbClr val="00F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00F0FF"/>
                </a:solidFill>
              </a:defRPr>
            </a:pPr>
            <a:r>
              <a:t>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AC911AD-30BB-4595-8502-663806DD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60020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Start with a value</a:t>
            </a:r>
          </a:p>
        </p:txBody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A0B64122-068C-4AAF-B2B1-B17739BD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050FF">
              <a:alpha val="20000"/>
            </a:srgbClr>
          </a:solidFill>
          <a:ln xmlns:a="http://schemas.openxmlformats.org/drawingml/2006/main" w="19050">
            <a:solidFill>
              <a:srgbClr val="A050FF"/>
            </a:solidFill>
          </a:ln>
          <a:effectLst xmlns:a="http://schemas.openxmlformats.org/drawingml/2006/main">
            <a:glow rad="63500">
              <a:srgbClr val="A05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A050FF"/>
                </a:solidFill>
              </a:defRPr>
            </a:pPr>
            <a:r>
              <a:t>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4F5DCB3-03FE-4469-9F26-5D60982C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13432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Ask the first condition</a:t>
            </a: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71A1B4D0-B8A6-49F9-9F9D-06FD9B4D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99232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FF8C">
              <a:alpha val="20000"/>
            </a:srgbClr>
          </a:solidFill>
          <a:ln xmlns:a="http://schemas.openxmlformats.org/drawingml/2006/main" w="19050">
            <a:solidFill>
              <a:srgbClr val="00FF8C"/>
            </a:solidFill>
          </a:ln>
          <a:effectLst xmlns:a="http://schemas.openxmlformats.org/drawingml/2006/main">
            <a:glow rad="63500">
              <a:srgbClr val="00FF8C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00FF8C"/>
                </a:solidFill>
              </a:defRPr>
            </a:pPr>
            <a:r>
              <a:t>3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7F74192-81D2-4569-8CE7-EA6FA98A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026664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Get true or false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9141AF2B-2704-460E-9C39-9B4753B9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12464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A014">
              <a:alpha val="20000"/>
            </a:srgbClr>
          </a:solidFill>
          <a:ln xmlns:a="http://schemas.openxmlformats.org/drawingml/2006/main" w="19050">
            <a:solidFill>
              <a:srgbClr val="FFA014"/>
            </a:solidFill>
          </a:ln>
          <a:effectLst xmlns:a="http://schemas.openxmlformats.org/drawingml/2006/main">
            <a:glow rad="63500">
              <a:srgbClr val="FFA014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FFA014"/>
                </a:solidFill>
              </a:defRPr>
            </a:pPr>
            <a: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739E5D7-380C-4F85-9288-A286EBFE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39896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Move down after false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B3F27987-DBF7-420E-B1E2-1BDC2350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25696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32B4">
              <a:alpha val="20000"/>
            </a:srgbClr>
          </a:solidFill>
          <a:ln xmlns:a="http://schemas.openxmlformats.org/drawingml/2006/main" w="19050">
            <a:solidFill>
              <a:srgbClr val="FF32B4"/>
            </a:solidFill>
          </a:ln>
          <a:effectLst xmlns:a="http://schemas.openxmlformats.org/drawingml/2006/main">
            <a:glow rad="63500">
              <a:srgbClr val="FF32B4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FF32B4"/>
                </a:solidFill>
              </a:defRPr>
            </a:pPr>
            <a:r>
              <a:t>5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F4FF5A5-E6EB-462B-A8A2-A2703C6D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453128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Run the first true branch</a:t>
            </a: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DD3047D6-0C8D-41C8-A963-29587615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138928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8CFF">
              <a:alpha val="20000"/>
            </a:srgbClr>
          </a:solidFill>
          <a:ln xmlns:a="http://schemas.openxmlformats.org/drawingml/2006/main" w="19050">
            <a:solidFill>
              <a:srgbClr val="3C8CFF"/>
            </a:solidFill>
          </a:ln>
          <a:effectLst xmlns:a="http://schemas.openxmlformats.org/drawingml/2006/main">
            <a:glow rad="63500">
              <a:srgbClr val="3C8C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3C8CFF"/>
                </a:solidFill>
              </a:defRPr>
            </a:pPr>
            <a:r>
              <a:t>6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037F228-4454-47B7-BAEA-549E054D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16636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Use else as the fallback</a:t>
            </a:r>
          </a:p>
        </p:txBody>
      </p:sp>
    </p:spTree>
    <p:extLst>
      <p:ext uri="{BB962C8B-B14F-4D97-AF65-F5344CB8AC3E}">
        <p14:creationId xmlns:p14="http://schemas.microsoft.com/office/powerpoint/2010/main" val="10132201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5A3730-9128-4156-AD55-2E742CA1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685800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C1224"/>
              </a:gs>
            </a:gsLst>
            <a:lin ang="1620000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8297AF-BC8D-41FC-8584-766AA467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118872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F1932"/>
              </a:gs>
            </a:gsLst>
            <a:lin ang="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05E291-2F7A-4319-A1C7-F25E5D14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8720"/>
            <a:ext cx="12188952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76200">
              <a:srgbClr val="00F0FF">
                <a:alpha val="3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5439A8-2883-41F0-9FD0-CF5E3D68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032"/>
            <a:ext cx="1109167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else if adds another question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BBA9E3-C937-4F4D-8380-F333503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04672"/>
            <a:ext cx="110916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Use it when a program needs more than two outcomes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118AEC6-B5B6-4336-8C65-DB6E3AA6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0876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EC162AB-2051-4A04-9117-66CD75AC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52704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E576467-E6E6-4423-881E-BC79F724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7335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IF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76E4C09-6D88-4C3F-B943-1EC7560B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Ask first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A13D38-78B0-46D4-BF7E-862ADB7C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1343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score &gt;= 90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9013996-892C-4DE8-A47F-E3FFE5C3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946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True? Run this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F0362A3A-4667-4029-AD23-E698126B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50876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640A243-0FC5-427E-96F8-103C41B2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52704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C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F8C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97D1B14-FD98-4146-ABB8-46010C32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7335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8C"/>
                </a:solidFill>
                <a:latin typeface="Segoe UI"/>
                <a:ea typeface="Segoe UI"/>
                <a:cs typeface="Segoe UI"/>
              </a:defRPr>
            </a:pPr>
            <a:r>
              <a:t>ELSE IF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E975D0D-A7B5-4E91-8139-9B926E50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Ask next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009920E-FBBA-43A3-902A-C425D22C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31343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score &gt;= 70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8389EC-0F46-460B-879E-122152B5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6946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Only after false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5560DDE-8F7B-4F22-8A87-73AA12DC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3192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877E3A6-9811-4104-A391-543DD5CF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5020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5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A05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C248041-DD86-4689-88BF-BCEF5545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9651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A050FF"/>
                </a:solidFill>
                <a:latin typeface="Segoe UI"/>
                <a:ea typeface="Segoe UI"/>
                <a:cs typeface="Segoe UI"/>
              </a:defRPr>
            </a:pPr>
            <a:r>
              <a:t>ELSE IF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647EE28-3DE4-4A93-897A-125BE982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8056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Ask again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DEDD8EC-768A-4592-BE7B-ACF88D9A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3659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score &gt;= 50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93435DC-D5CC-4AD1-A05C-147E057A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9262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Only after false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31094A69-2CFA-443E-B15C-C0995C6B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3192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2ED9EE2-7962-4EAF-8C99-089888C9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95020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A014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FFA014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44E529A-F76C-4995-8262-C905B537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09651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FFA014"/>
                </a:solidFill>
                <a:latin typeface="Segoe UI"/>
                <a:ea typeface="Segoe UI"/>
                <a:cs typeface="Segoe UI"/>
              </a:defRPr>
            </a:pPr>
            <a:r>
              <a:t>ELSE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AB364A47-6DEA-41AA-BCF0-EC3B0D53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8056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Final fallback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90356052-1EB4-47DC-AEF8-49AEE88B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73659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No condition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106E53AB-A24A-459C-BF73-24F9E580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99262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Catches the rest</a:t>
            </a:r>
          </a:p>
        </p:txBody>
      </p:sp>
    </p:spTree>
    <p:extLst>
      <p:ext uri="{BB962C8B-B14F-4D97-AF65-F5344CB8AC3E}">
        <p14:creationId xmlns:p14="http://schemas.microsoft.com/office/powerpoint/2010/main" val="161138887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5A3730-9128-4156-AD55-2E742CA1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685800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C1224"/>
              </a:gs>
            </a:gsLst>
            <a:lin ang="1620000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8297AF-BC8D-41FC-8584-766AA467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118872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F1932"/>
              </a:gs>
            </a:gsLst>
            <a:lin ang="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05E291-2F7A-4319-A1C7-F25E5D14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8720"/>
            <a:ext cx="12188952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76200">
              <a:srgbClr val="00F0FF">
                <a:alpha val="3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5439A8-2883-41F0-9FD0-CF5E3D68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032"/>
            <a:ext cx="1109167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One connected decision ladder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BBA9E3-C937-4F4D-8380-F333503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04672"/>
            <a:ext cx="110916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The branches belong together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118AEC6-B5B6-4336-8C65-DB6E3AA6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0876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EC162AB-2051-4A04-9117-66CD75AC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52704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E576467-E6E6-4423-881E-BC79F724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7335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VALUE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76E4C09-6D88-4C3F-B943-1EC7560B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const score: number = 82;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A13D38-78B0-46D4-BF7E-862ADB7C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1343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One value enters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9013996-892C-4DE8-A47F-E3FFE5C3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946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Start at the top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F0362A3A-4667-4029-AD23-E698126B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50876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640A243-0FC5-427E-96F8-103C41B2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52704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C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F8C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97D1B14-FD98-4146-ABB8-46010C32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7335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8C"/>
                </a:solidFill>
                <a:latin typeface="Segoe UI"/>
                <a:ea typeface="Segoe UI"/>
                <a:cs typeface="Segoe UI"/>
              </a:defRPr>
            </a:pPr>
            <a:r>
              <a:t>FIRST CHECK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E975D0D-A7B5-4E91-8139-9B926E50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if (score &gt;= 90) {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009920E-FBBA-43A3-902A-C425D22C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31343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  console.log("Legendary");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8389EC-0F46-460B-879E-122152B5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6946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} else if (score &gt;= 70) {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5560DDE-8F7B-4F22-8A87-73AA12DC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3192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877E3A6-9811-4104-A391-543DD5CF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5020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5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A05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C248041-DD86-4689-88BF-BCEF5545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9651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A050FF"/>
                </a:solidFill>
                <a:latin typeface="Segoe UI"/>
                <a:ea typeface="Segoe UI"/>
                <a:cs typeface="Segoe UI"/>
              </a:defRPr>
            </a:pPr>
            <a:r>
              <a:t>NEXT CHECKS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647EE28-3DE4-4A93-897A-125BE982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8056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  console.log("Hero");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DEDD8EC-768A-4592-BE7B-ACF88D9A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3659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} else if (score &gt;= 50) {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93435DC-D5CC-4AD1-A05C-147E057A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9262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  console.log("Explorer");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31094A69-2CFA-443E-B15C-C0995C6B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3192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2ED9EE2-7962-4EAF-8C99-089888C9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95020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A014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FFA014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44E529A-F76C-4995-8262-C905B537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09651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FFA014"/>
                </a:solidFill>
                <a:latin typeface="Segoe UI"/>
                <a:ea typeface="Segoe UI"/>
                <a:cs typeface="Segoe UI"/>
              </a:defRPr>
            </a:pPr>
            <a:r>
              <a:t>FALLBACK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AB364A47-6DEA-41AA-BCF0-EC3B0D53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8056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} else {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90356052-1EB4-47DC-AEF8-49AEE88B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73659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  console.log("Rookie");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106E53AB-A24A-459C-BF73-24F9E580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99262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1138887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5A3730-9128-4156-AD55-2E742CA1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685800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C1224"/>
              </a:gs>
            </a:gsLst>
            <a:lin ang="1620000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8297AF-BC8D-41FC-8584-766AA467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118872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F1932"/>
              </a:gs>
            </a:gsLst>
            <a:lin ang="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05E291-2F7A-4319-A1C7-F25E5D14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8720"/>
            <a:ext cx="12188952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76200">
              <a:srgbClr val="00F0FF">
                <a:alpha val="3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5439A8-2883-41F0-9FD0-CF5E3D68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032"/>
            <a:ext cx="1109167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The computer checks top to bottom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BBA9E3-C937-4F4D-8380-F333503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04672"/>
            <a:ext cx="110916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Example: score = 82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118AEC6-B5B6-4336-8C65-DB6E3AA6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0876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EC162AB-2051-4A04-9117-66CD75AC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52704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E576467-E6E6-4423-881E-BC79F724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7335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1. START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76E4C09-6D88-4C3F-B943-1EC7560B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score = 82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A13D38-78B0-46D4-BF7E-862ADB7C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1343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Begin at the top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9013996-892C-4DE8-A47F-E3FFE5C3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946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One ladder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F0362A3A-4667-4029-AD23-E698126B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50876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640A243-0FC5-427E-96F8-103C41B2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52704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C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F8C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97D1B14-FD98-4146-ABB8-46010C32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7335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00FF8C"/>
                </a:solidFill>
                <a:latin typeface="Segoe UI"/>
                <a:ea typeface="Segoe UI"/>
                <a:cs typeface="Segoe UI"/>
              </a:defRPr>
            </a:pPr>
            <a:r>
              <a:t>2. CHECK 90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E975D0D-A7B5-4E91-8139-9B926E50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82 &gt;= 90 is false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009920E-FBBA-43A3-902A-C425D22C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31343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Move down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8389EC-0F46-460B-879E-122152B5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6946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Nothing runs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5560DDE-8F7B-4F22-8A87-73AA12DC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3192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877E3A6-9811-4104-A391-543DD5CF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5020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5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A05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C248041-DD86-4689-88BF-BCEF5545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9651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A050FF"/>
                </a:solidFill>
                <a:latin typeface="Segoe UI"/>
                <a:ea typeface="Segoe UI"/>
                <a:cs typeface="Segoe UI"/>
              </a:defRPr>
            </a:pPr>
            <a:r>
              <a:t>3. CHECK 70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647EE28-3DE4-4A93-897A-125BE982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8056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82 &gt;= 70 is true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DEDD8EC-768A-4592-BE7B-ACF88D9A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3659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Run Hero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93435DC-D5CC-4AD1-A05C-147E057A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9262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First true branch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31094A69-2CFA-443E-B15C-C0995C6B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31920"/>
            <a:ext cx="557784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1A32">
              <a:alpha val="70000"/>
            </a:srgbClr>
          </a:solidFill>
          <a:ln xmlns:a="http://schemas.openxmlformats.org/drawingml/2006/main" w="12700">
            <a:noFill/>
          </a:ln>
          <a:effectLst xmlns:a="http://schemas.openxmlformats.org/drawingml/2006/main">
            <a:outerShdw blurRad="127000" dist="50800" dir="8100000" rotWithShape="0">
              <a:srgbClr val="000000">
                <a:alpha val="4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2ED9EE2-7962-4EAF-8C99-089888C9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950208"/>
            <a:ext cx="5541264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A014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FFA014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44E529A-F76C-4995-8262-C905B537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096512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FFA014"/>
                </a:solidFill>
                <a:latin typeface="Segoe UI"/>
                <a:ea typeface="Segoe UI"/>
                <a:cs typeface="Segoe UI"/>
              </a:defRPr>
            </a:pPr>
            <a:r>
              <a:t>4. STOP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AB364A47-6DEA-41AA-BCF0-EC3B0D53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8056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Skip lower branches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90356052-1EB4-47DC-AEF8-49AEE88B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736592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One result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106E53AB-A24A-459C-BF73-24F9E580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992624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Hero wins</a:t>
            </a:r>
          </a:p>
        </p:txBody>
      </p:sp>
    </p:spTree>
    <p:extLst>
      <p:ext uri="{BB962C8B-B14F-4D97-AF65-F5344CB8AC3E}">
        <p14:creationId xmlns:p14="http://schemas.microsoft.com/office/powerpoint/2010/main" val="161138887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D50E669-B974-42D4-B6CF-68A56058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685800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C1224"/>
              </a:gs>
            </a:gsLst>
            <a:lin ang="1620000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98C4AB-39E2-4E9B-A6FB-308DE6A5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118872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F1932"/>
              </a:gs>
            </a:gsLst>
            <a:lin ang="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E829628-706C-4FB6-A678-F4371A0A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8720"/>
            <a:ext cx="12188952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76200">
              <a:srgbClr val="00F0FF">
                <a:alpha val="3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51F2DF9-BCF7-4A70-92F1-CA5A71F8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032"/>
            <a:ext cx="1109167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Order changes the result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7FC181-C267-44C5-A78B-FDC6F248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04672"/>
            <a:ext cx="110916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AI-generated code still needs human testing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B63007D-8CF5-40AF-B2E8-7E9F0D03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54480"/>
            <a:ext cx="2560320" cy="14630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F0FF">
              <a:alpha val="10000"/>
            </a:srgbClr>
          </a:solidFill>
          <a:ln xmlns:a="http://schemas.openxmlformats.org/drawingml/2006/main" w="19050">
            <a:solidFill>
              <a:srgbClr val="00F0FF"/>
            </a:solidFill>
          </a:ln>
          <a:effectLst xmlns:a="http://schemas.openxmlformats.org/drawingml/2006/main">
            <a:glow rad="101600">
              <a:srgbClr val="00F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5F8B175-45CF-4C9C-9CD7-A31DC4A3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664208"/>
            <a:ext cx="2560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00F0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95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892CB1-A93D-457A-9B9B-ED87CC58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37744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B4BED2"/>
                </a:solidFill>
                <a:latin typeface="Segoe UI"/>
                <a:ea typeface="Segoe UI"/>
                <a:cs typeface="Segoe UI"/>
              </a:defRPr>
            </a:pPr>
            <a:r>
              <a:t>score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A8CC7D6-18C8-454A-9C03-6CE1884C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554480"/>
            <a:ext cx="2560320" cy="14630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A050FF">
              <a:alpha val="10000"/>
            </a:srgbClr>
          </a:solidFill>
          <a:ln xmlns:a="http://schemas.openxmlformats.org/drawingml/2006/main" w="19050">
            <a:solidFill>
              <a:srgbClr val="A050FF"/>
            </a:solidFill>
          </a:ln>
          <a:effectLst xmlns:a="http://schemas.openxmlformats.org/drawingml/2006/main">
            <a:glow rad="101600">
              <a:srgbClr val="A05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7B33A71-D65C-4F82-A8CD-04CDC109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664208"/>
            <a:ext cx="2560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A050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1st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5297219-AFFF-410F-BE02-60ECB21E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37744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B4BED2"/>
                </a:solidFill>
                <a:latin typeface="Segoe UI"/>
                <a:ea typeface="Segoe UI"/>
                <a:cs typeface="Segoe UI"/>
              </a:defRPr>
            </a:pPr>
            <a:r>
              <a:t>true branch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EF8D3C1-007E-4145-A70D-44417CFC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554480"/>
            <a:ext cx="2560320" cy="14630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FF8C">
              <a:alpha val="10000"/>
            </a:srgbClr>
          </a:solidFill>
          <a:ln xmlns:a="http://schemas.openxmlformats.org/drawingml/2006/main" w="19050">
            <a:solidFill>
              <a:srgbClr val="00FF8C"/>
            </a:solidFill>
          </a:ln>
          <a:effectLst xmlns:a="http://schemas.openxmlformats.org/drawingml/2006/main">
            <a:glow rad="101600">
              <a:srgbClr val="00FF8C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8DA04DE-AAA3-47FD-829C-A35CFE78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64208"/>
            <a:ext cx="2560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00FF8C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&gt;= 50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E05CB16-FE04-4425-A536-9375B603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B4BED2"/>
                </a:solidFill>
                <a:latin typeface="Segoe UI"/>
                <a:ea typeface="Segoe UI"/>
                <a:cs typeface="Segoe UI"/>
              </a:defRPr>
            </a:pPr>
            <a:r>
              <a:t>catches 95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E795CAF-2819-4E02-A6A3-AB2EA328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54480"/>
            <a:ext cx="2560320" cy="14630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A014">
              <a:alpha val="10000"/>
            </a:srgbClr>
          </a:solidFill>
          <a:ln xmlns:a="http://schemas.openxmlformats.org/drawingml/2006/main" w="19050">
            <a:solidFill>
              <a:srgbClr val="FFA014"/>
            </a:solidFill>
          </a:ln>
          <a:effectLst xmlns:a="http://schemas.openxmlformats.org/drawingml/2006/main">
            <a:glow rad="101600">
              <a:srgbClr val="FFA014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06B8B80-0ADE-42D3-879A-CBF760ED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64208"/>
            <a:ext cx="2560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FFA01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Explorer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3C89B66-3984-4E37-BC28-8D407E7E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7744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B4BED2"/>
                </a:solidFill>
                <a:latin typeface="Segoe UI"/>
                <a:ea typeface="Segoe UI"/>
                <a:cs typeface="Segoe UI"/>
              </a:defRPr>
            </a:pPr>
            <a:r>
              <a:t>wrong result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99C820B9-DAFF-40C8-923C-672DC8EA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74720"/>
            <a:ext cx="5577840" cy="2926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FF8C">
              <a:alpha val="5000"/>
            </a:srgbClr>
          </a:solidFill>
          <a:ln xmlns:a="http://schemas.openxmlformats.org/drawingml/2006/main" w="19050">
            <a:solidFill>
              <a:srgbClr val="00FF8C"/>
            </a:solidFill>
          </a:ln>
          <a:effectLst xmlns:a="http://schemas.openxmlformats.org/drawingml/2006/main">
            <a:glow rad="76200">
              <a:srgbClr val="00FF8C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83355D3-12BB-479F-B0F1-602CCB52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11880"/>
            <a:ext cx="5212080" cy="426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>
                <a:solidFill>
                  <a:srgbClr val="00FF8C"/>
                </a:solidFill>
                <a:latin typeface="Segoe UI"/>
                <a:ea typeface="Segoe UI"/>
                <a:cs typeface="Segoe UI"/>
              </a:defRPr>
            </a:pPr>
            <a:r>
              <a:t>WRONG ORDER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F661DD5-7120-45D9-9F22-EC7BF6FB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6052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if (score &gt;= 50)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79810CD-6EA4-47B9-AA07-ADAFB6CE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else if (score &gt;= 70)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526A837-1650-44D8-9628-7D358ED8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834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else if (score &gt;= 90)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18F7799-0444-4288-B021-C7F5E31D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9496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95 stops too early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1914882A-4B2F-4EB3-BE06-B11F56B2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3474720"/>
            <a:ext cx="5577840" cy="2926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3C50">
              <a:alpha val="5000"/>
            </a:srgbClr>
          </a:solidFill>
          <a:ln xmlns:a="http://schemas.openxmlformats.org/drawingml/2006/main" w="19050">
            <a:solidFill>
              <a:srgbClr val="FF3C50"/>
            </a:solidFill>
          </a:ln>
          <a:effectLst xmlns:a="http://schemas.openxmlformats.org/drawingml/2006/main">
            <a:glow rad="76200">
              <a:srgbClr val="FF3C50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F5AB2E4-F59F-4F26-AFD2-51B04681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3611880"/>
            <a:ext cx="5212080" cy="426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>
                <a:solidFill>
                  <a:srgbClr val="FF3C50"/>
                </a:solidFill>
                <a:latin typeface="Segoe UI"/>
                <a:ea typeface="Segoe UI"/>
                <a:cs typeface="Segoe UI"/>
              </a:defRPr>
            </a:pPr>
            <a:r>
              <a:t>CORRECT ORDER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D4198B5-5AED-467E-B4B4-2C8D35D7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416052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if (score &gt;= 90)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6862DCA9-EB44-48AE-BC19-ECA5BB55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457200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else if (score &gt;= 70)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60EAF6-8335-438A-AADC-9EAE17F4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49834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else if (score &gt;= 50)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A91DD5DF-C4C3-468A-A15D-08C5C0F2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539496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E6EBF5"/>
                </a:solidFill>
                <a:latin typeface="Segoe UI"/>
                <a:ea typeface="Segoe UI"/>
                <a:cs typeface="Segoe UI"/>
              </a:defRPr>
            </a:pPr>
            <a:r>
              <a:t>95 reaches Legendary</a:t>
            </a:r>
          </a:p>
        </p:txBody>
      </p:sp>
    </p:spTree>
    <p:extLst>
      <p:ext uri="{BB962C8B-B14F-4D97-AF65-F5344CB8AC3E}">
        <p14:creationId xmlns:p14="http://schemas.microsoft.com/office/powerpoint/2010/main" val="170237628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7B19780-A215-4913-88C8-779B5B3D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685800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C1224"/>
              </a:gs>
            </a:gsLst>
            <a:lin ang="1620000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4949485-5765-4443-ADFF-D23D6E8D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118872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100000">
                <a:srgbClr val="0F1932"/>
              </a:gs>
            </a:gsLst>
            <a:lin ang="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3D2F4-5309-4E44-86BB-3ED0261B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8720"/>
            <a:ext cx="12188952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76200">
              <a:srgbClr val="00F0FF">
                <a:alpha val="3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ABE0C3B-F127-414C-8122-B71F530D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6032"/>
            <a:ext cx="11091672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Boundary values reveal mistakes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489D69F-E930-4AEC-8D57-3E2730A1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04672"/>
            <a:ext cx="110916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Check the edge and the number just below it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424B392-569A-47C3-9D84-521ACE30E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3474720" cy="1645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F0FF">
              <a:alpha val="8000"/>
            </a:srgbClr>
          </a:solidFill>
          <a:ln xmlns:a="http://schemas.openxmlformats.org/drawingml/2006/main" w="19050">
            <a:solidFill>
              <a:srgbClr val="00F0FF"/>
            </a:solidFill>
          </a:ln>
          <a:effectLst xmlns:a="http://schemas.openxmlformats.org/drawingml/2006/main">
            <a:glow rad="76200">
              <a:srgbClr val="00F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spcBef>
                <a:spcPts val="800"/>
              </a:spcBef>
              <a:buNone/>
              <a:defRPr sz="22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90 → Legendary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51EB11B-7933-4E7B-8175-70E038EB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554480"/>
            <a:ext cx="3474720" cy="1645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A050FF">
              <a:alpha val="8000"/>
            </a:srgbClr>
          </a:solidFill>
          <a:ln xmlns:a="http://schemas.openxmlformats.org/drawingml/2006/main" w="19050">
            <a:solidFill>
              <a:srgbClr val="A050FF"/>
            </a:solidFill>
          </a:ln>
          <a:effectLst xmlns:a="http://schemas.openxmlformats.org/drawingml/2006/main">
            <a:glow rad="76200">
              <a:srgbClr val="A05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spcBef>
                <a:spcPts val="800"/>
              </a:spcBef>
              <a:buNone/>
              <a:defRPr sz="22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89 → Hero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97F4477-5A66-4F6F-9F75-207C2E38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554480"/>
            <a:ext cx="3474720" cy="1645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FF8C">
              <a:alpha val="8000"/>
            </a:srgbClr>
          </a:solidFill>
          <a:ln xmlns:a="http://schemas.openxmlformats.org/drawingml/2006/main" w="19050">
            <a:solidFill>
              <a:srgbClr val="00FF8C"/>
            </a:solidFill>
          </a:ln>
          <a:effectLst xmlns:a="http://schemas.openxmlformats.org/drawingml/2006/main">
            <a:glow rad="76200">
              <a:srgbClr val="00FF8C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spcBef>
                <a:spcPts val="800"/>
              </a:spcBef>
              <a:buNone/>
              <a:defRPr sz="22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70 → Hero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7493865-F97F-496F-AA1D-75D51989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66160"/>
            <a:ext cx="3474720" cy="1645920"/>
          </a:xfrm>
          <a:prstGeom xmlns:a="http://schemas.openxmlformats.org/drawingml/2006/main" prst="roundRect">
            <a:avLst/>
          </a:prstGeom>
          <a:gradFill xmlns:a="http://schemas.openxmlformats.org/drawingml/2006/main" rotWithShape="1">
            <a:gsLst>
              <a:gs pos="0">
                <a:srgbClr val="1EA0B4"/>
              </a:gs>
              <a:gs pos="100000">
                <a:srgbClr val="643CAA"/>
              </a:gs>
            </a:gsLst>
            <a:lin ang="16200000" scaled="1"/>
          </a:gradFill>
          <a:ln xmlns:a="http://schemas.openxmlformats.org/drawingml/2006/main">
            <a:noFill/>
          </a:ln>
          <a:effectLst xmlns:a="http://schemas.openxmlformats.org/drawingml/2006/main">
            <a:glow rad="101600">
              <a:srgbClr val="00F0FF">
                <a:alpha val="40000"/>
              </a:srgbClr>
            </a:glow>
            <a:outerShdw blurRad="76200" dist="0" dir="0" rotWithShape="0">
              <a:srgbClr val="000000">
                <a:alpha val="3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spcBef>
                <a:spcPts val="800"/>
              </a:spcBef>
              <a:buNone/>
              <a:defRPr sz="20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69 → Explorer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F182807-9500-4C29-9F38-5C31D163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566160"/>
            <a:ext cx="3474720" cy="1645920"/>
          </a:xfrm>
          <a:prstGeom xmlns:a="http://schemas.openxmlformats.org/drawingml/2006/main" prst="roundRect">
            <a:avLst/>
          </a:prstGeom>
          <a:gradFill xmlns:a="http://schemas.openxmlformats.org/drawingml/2006/main" rotWithShape="1">
            <a:gsLst>
              <a:gs pos="0">
                <a:srgbClr val="1EA064"/>
              </a:gs>
              <a:gs pos="100000">
                <a:srgbClr val="1EA0B4"/>
              </a:gs>
            </a:gsLst>
            <a:lin ang="16200000" scaled="1"/>
          </a:gradFill>
          <a:ln xmlns:a="http://schemas.openxmlformats.org/drawingml/2006/main">
            <a:noFill/>
          </a:ln>
          <a:effectLst xmlns:a="http://schemas.openxmlformats.org/drawingml/2006/main">
            <a:glow rad="101600">
              <a:srgbClr val="00FF8C">
                <a:alpha val="40000"/>
              </a:srgbClr>
            </a:glow>
            <a:outerShdw blurRad="76200" dist="0" dir="0" rotWithShape="0">
              <a:srgbClr val="000000">
                <a:alpha val="3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spcBef>
                <a:spcPts val="800"/>
              </a:spcBef>
              <a:buNone/>
              <a:defRPr sz="20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50 → Explorer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2F4F3D6-68CF-4451-A470-10385F65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566160"/>
            <a:ext cx="3474720" cy="1645920"/>
          </a:xfrm>
          <a:prstGeom xmlns:a="http://schemas.openxmlformats.org/drawingml/2006/main" prst="roundRect">
            <a:avLst/>
          </a:prstGeom>
          <a:gradFill xmlns:a="http://schemas.openxmlformats.org/drawingml/2006/main" rotWithShape="1">
            <a:gsLst>
              <a:gs pos="0">
                <a:srgbClr val="C87814"/>
              </a:gs>
              <a:gs pos="100000">
                <a:srgbClr val="AA3282"/>
              </a:gs>
            </a:gsLst>
            <a:lin ang="16200000" scaled="1"/>
          </a:gradFill>
          <a:ln xmlns:a="http://schemas.openxmlformats.org/drawingml/2006/main">
            <a:noFill/>
          </a:ln>
          <a:effectLst xmlns:a="http://schemas.openxmlformats.org/drawingml/2006/main">
            <a:glow rad="101600">
              <a:srgbClr val="FFA014">
                <a:alpha val="40000"/>
              </a:srgbClr>
            </a:glow>
            <a:outerShdw blurRad="76200" dist="0" dir="0" rotWithShape="0">
              <a:srgbClr val="000000">
                <a:alpha val="30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spcBef>
                <a:spcPts val="800"/>
              </a:spcBef>
              <a:buNone/>
              <a:defRPr sz="20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49 → Rookie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F1DE482-8A82-4220-AB9E-7E375F4A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74552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F0FF">
              <a:alpha val="10000"/>
            </a:srgbClr>
          </a:solidFill>
          <a:ln xmlns:a="http://schemas.openxmlformats.org/drawingml/2006/main" w="19050">
            <a:solidFill>
              <a:srgbClr val="00F0FF"/>
            </a:solidFill>
          </a:ln>
          <a:effectLst xmlns:a="http://schemas.openxmlformats.org/drawingml/2006/main">
            <a:glow rad="76200">
              <a:srgbClr val="00F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spcBef>
                <a:spcPts val="800"/>
              </a:spcBef>
              <a:buNone/>
              <a:defRPr sz="1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Testing proves that the code matches the written rules</a:t>
            </a:r>
          </a:p>
        </p:txBody>
      </p:sp>
    </p:spTree>
    <p:extLst>
      <p:ext uri="{BB962C8B-B14F-4D97-AF65-F5344CB8AC3E}">
        <p14:creationId xmlns:p14="http://schemas.microsoft.com/office/powerpoint/2010/main" val="7316034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339C0B7-464B-491B-90EA-E5043415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88952" cy="6858000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0">
                <a:srgbClr val="080C18"/>
              </a:gs>
              <a:gs pos="50000">
                <a:srgbClr val="080F23"/>
              </a:gs>
              <a:gs pos="100000">
                <a:srgbClr val="050814"/>
              </a:gs>
            </a:gsLst>
            <a:lin ang="16200000" scaled="1"/>
          </a:gra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Hexagon 2">
            <a:extLst xmlns:a="http://schemas.openxmlformats.org/drawingml/2006/main">
              <a:ext uri="{FF2B5EF4-FFF2-40B4-BE49-F238E27FC236}">
                <a16:creationId xmlns:a16="http://schemas.microsoft.com/office/drawing/2014/main" id="{FA68835C-D02F-4542-8117-FE541D98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74320" y="-274320"/>
            <a:ext cx="1828800" cy="18288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F0FF">
              <a:alpha val="4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Hexagon 3">
            <a:extLst xmlns:a="http://schemas.openxmlformats.org/drawingml/2006/main">
              <a:ext uri="{FF2B5EF4-FFF2-40B4-BE49-F238E27FC236}">
                <a16:creationId xmlns:a16="http://schemas.microsoft.com/office/drawing/2014/main" id="{AC3821DC-E653-4287-8819-BD794307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303520"/>
            <a:ext cx="2286000" cy="22860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A050FF">
              <a:alpha val="3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Hexagon 4">
            <a:extLst xmlns:a="http://schemas.openxmlformats.org/drawingml/2006/main">
              <a:ext uri="{FF2B5EF4-FFF2-40B4-BE49-F238E27FC236}">
                <a16:creationId xmlns:a16="http://schemas.microsoft.com/office/drawing/2014/main" id="{F888CBFE-A246-4D64-84A1-C5C23C9F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-457200"/>
            <a:ext cx="1645920" cy="164592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3C8CFF">
              <a:alpha val="30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Hexagon 5">
            <a:extLst xmlns:a="http://schemas.openxmlformats.org/drawingml/2006/main">
              <a:ext uri="{FF2B5EF4-FFF2-40B4-BE49-F238E27FC236}">
                <a16:creationId xmlns:a16="http://schemas.microsoft.com/office/drawing/2014/main" id="{9D38771D-37FA-4B58-AD26-9538F271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943600"/>
            <a:ext cx="914400" cy="9144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0FF8C">
              <a:alpha val="2500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8B515AC-24ED-43DF-BCCB-D9BAA363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74320"/>
            <a:ext cx="731520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115DF9F-0EE8-4DF4-B2EB-8F41B82A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74320"/>
            <a:ext cx="27432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81727C8-A58A-4706-83D1-E189847F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3111" y="274320"/>
            <a:ext cx="731520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462E902-A320-4079-AB4D-32695299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274320"/>
            <a:ext cx="27432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499A0F4-48A4-4C9C-B8CB-ACEBB6C2A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556248"/>
            <a:ext cx="731520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B833069-8DFB-46DE-92E3-F8793557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5852160"/>
            <a:ext cx="27432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3852BB8-F6E6-4CBC-9A29-D584A52E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3111" y="6556248"/>
            <a:ext cx="731520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F710F94-EC2E-42C7-B52D-8457FBD7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5852160"/>
            <a:ext cx="27432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50800">
              <a:srgbClr val="00F0FF">
                <a:alpha val="4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C344BE4-456F-44B8-8AE8-D29D361B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31520"/>
            <a:ext cx="12188952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0" b="0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&lt;/&gt;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77895F-9850-4F83-A2B3-3CE195D5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"/>
            <a:ext cx="12188952" cy="975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5800" b="1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t>Concepts ready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C0AA637-4B02-4F08-BAED-FB80C312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31920"/>
            <a:ext cx="121889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0FF"/>
          </a:solidFill>
          <a:ln xmlns:a="http://schemas.openxmlformats.org/drawingml/2006/main">
            <a:noFill/>
          </a:ln>
          <a:effectLst xmlns:a="http://schemas.openxmlformats.org/drawingml/2006/main">
            <a:glow rad="76200">
              <a:srgbClr val="00F0FF">
                <a:alpha val="30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CF9BED0-81E0-47D7-A436-02F2B7A0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97680"/>
            <a:ext cx="1218895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0">
                <a:solidFill>
                  <a:srgbClr val="00F0FF"/>
                </a:solidFill>
                <a:latin typeface="Segoe UI"/>
                <a:ea typeface="Segoe UI"/>
                <a:cs typeface="Segoe UI"/>
              </a:defRPr>
            </a:pPr>
            <a:r>
              <a:t>Now we open the Playground and code together.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97D0F93-F0A3-41BE-9354-B18C3F37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03520"/>
            <a:ext cx="5788152" cy="7315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A050FF">
              <a:alpha val="6000"/>
            </a:srgbClr>
          </a:solidFill>
          <a:ln xmlns:a="http://schemas.openxmlformats.org/drawingml/2006/main" w="19050">
            <a:solidFill>
              <a:srgbClr val="A050FF"/>
            </a:solidFill>
          </a:ln>
          <a:effectLst xmlns:a="http://schemas.openxmlformats.org/drawingml/2006/main">
            <a:glow rad="76200">
              <a:srgbClr val="A050FF">
                <a:alpha val="35000"/>
              </a:srgbClr>
            </a:glo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spcBef>
                <a:spcPts val="800"/>
              </a:spcBef>
              <a:buNone/>
              <a:defRPr sz="20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t>Follow the Class Activity</a:t>
            </a:r>
          </a:p>
        </p:txBody>
      </p:sp>
    </p:spTree>
    <p:extLst>
      <p:ext uri="{BB962C8B-B14F-4D97-AF65-F5344CB8AC3E}">
        <p14:creationId xmlns:p14="http://schemas.microsoft.com/office/powerpoint/2010/main" val="200256107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2026-08-01T12:15:41.0850000Z</dcterms:created>
  <dcterms:modified xsi:type="dcterms:W3CDTF">2026-08-01T12:15:41.0850000Z</dcterms:modified>
</coreProperties>
</file>